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slides/slide28.xml" ContentType="application/vnd.openxmlformats-officedocument.presentationml.slide+xml"/>
  <Override PartName="/ppt/slides/slide29.xml" ContentType="application/vnd.openxmlformats-officedocument.presentationml.slide+xml"/>
  <Override PartName="/ppt/notesSlides/notesSlide28.xml" ContentType="application/vnd.openxmlformats-officedocument.presentationml.notesSlide+xml"/>
  <Override PartName="/ppt/notesSlides/notesSlide29.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58" r:id="rId4"/>
    <p:sldId id="275" r:id="rId5"/>
    <p:sldId id="259" r:id="rId6"/>
    <p:sldId id="278" r:id="rId7"/>
    <p:sldId id="279" r:id="rId8"/>
    <p:sldId id="260" r:id="rId9"/>
    <p:sldId id="261" r:id="rId10"/>
    <p:sldId id="271" r:id="rId11"/>
    <p:sldId id="272" r:id="rId12"/>
    <p:sldId id="273" r:id="rId13"/>
    <p:sldId id="274" r:id="rId14"/>
    <p:sldId id="262" r:id="rId15"/>
    <p:sldId id="276" r:id="rId16"/>
    <p:sldId id="277" r:id="rId17"/>
    <p:sldId id="280" r:id="rId31"/>
    <p:sldId id="283" r:id="rId34"/>
    <p:sldId id="284" r:id="rId35"/>
    <p:sldId id="281" r:id="rId32"/>
    <p:sldId id="282" r:id="rId33"/>
    <p:sldId id="263" r:id="rId18"/>
    <p:sldId id="264" r:id="rId19"/>
    <p:sldId id="265" r:id="rId20"/>
    <p:sldId id="266" r:id="rId21"/>
    <p:sldId id="270" r:id="rId22"/>
    <p:sldId id="267" r:id="rId23"/>
    <p:sldId id="268" r:id="rId24"/>
    <p:sldId id="269" r:id="rId2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310"/>
    <p:restoredTop sz="68356"/>
  </p:normalViewPr>
  <p:slideViewPr>
    <p:cSldViewPr snapToGrid="0" snapToObjects="1">
      <p:cViewPr varScale="1">
        <p:scale>
          <a:sx n="85" d="100"/>
          <a:sy n="85" d="100"/>
        </p:scale>
        <p:origin x="1896" y="1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  <Relationship Id="rId31" Type="http://schemas.openxmlformats.org/officeDocument/2006/relationships/slide" Target="slides/slide25.xml"/>
  <Relationship Id="rId32" Type="http://schemas.openxmlformats.org/officeDocument/2006/relationships/slide" Target="slides/slide26.xml"/>
  <Relationship Id="rId33" Type="http://schemas.openxmlformats.org/officeDocument/2006/relationships/slide" Target="slides/slide27.xml"/>
  <Relationship Id="rId34" Type="http://schemas.openxmlformats.org/officeDocument/2006/relationships/slide" Target="slides/slide28.xml"/>
  <Relationship Id="rId35" Type="http://schemas.openxmlformats.org/officeDocument/2006/relationships/slide" Target="slides/slide29.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01710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Welcome / housekeeping — this is hands-on: most time is spent in the taskboard repo, not on slides.</a:t>
            </a:r>
            <a:endParaRPr lang="en-US" dirty="0"/>
          </a:p>
          <a:p>
            <a:r>
              <a:t>• "Orchestration" here = planning, sequencing, and running multiple Claude Code agent sessions on one feature — not a product name.</a:t>
            </a:r>
          </a:p>
          <a:p>
            <a:r>
              <a:t>• Confirm up front that everyone has Claude Code installed/authenticated (re-checked on the Environment Check slide).</a:t>
            </a:r>
          </a:p>
          <a:p>
            <a:r>
              <a:t>• Q: Is this Claude-Code-specific or agentic coding generally? A: exercises use Claude Code, but decomposition / model-selection / worktree concepts generalize to other agentic coding tools.</a:t>
            </a:r>
          </a:p>
          <a:p>
            <a:r>
              <a:t>• Q: Do I need a paid plan? A: yes — Claude Code needs an Anthropic API key or a Pro/Max/Team/Enterprise seat; this should've been arranged before class.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Walk the agenda on screen; call out the two breaks explicitly so people plan around them.</a:t>
            </a:r>
            <a:endParaRPr lang="en-US" dirty="0"/>
          </a:p>
          <a:p>
            <a:r>
              <a:t>• Timing is tight — lecture segments should run under time; labs are the point, not the slides.</a:t>
            </a:r>
          </a:p>
          <a:p>
            <a:r>
              <a:t>• Each module = lecture + lab, and labs build on each other: Lab 1's decomposition feeds Lab 2 (model assignment) and Lab 3 (parallel worktrees).</a:t>
            </a:r>
          </a:p>
          <a:p>
            <a:r>
              <a:t>• Q: What if we run long on Module 1? A: a facilitator fallback/reference decomposition exists to hand out so Module 3 ("the payoff module") isn't starved of lab time.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Three objectives map 1:1 to the three modules — frame as skills to perform, not facts to recall.</a:t>
            </a:r>
            <a:endParaRPr lang="en-US" dirty="0"/>
          </a:p>
          <a:p>
            <a:r>
              <a:t>• Reassure: this is evaluated by doing, not a quiz — Lab 1-3 outputs are the proof of learning.</a:t>
            </a:r>
          </a:p>
          <a:p>
            <a:r>
              <a:t>• Q: Will we ship real working code today? A: yes, against the small real taskboard repo (Flask + sqlite) using an actual feature request, not toy examples.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These match the published course prerequisites and the pre-work email. Nobody should be learning Git or the terminal today.
• If someone is missing a setup item, pair them with a neighbor for the labs rather than troubleshooting during Module 1.
• The next slide is the live self-check: claude --version, python3 --version, git --version.
• Network: some corporate proxies block Anthropic’s API. If Claude Code authenticates but hangs, suspect the proxy.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Run all three version checks live, right now — don't let this slip into Module 1's time.</a:t>
            </a:r>
            <a:endParaRPr lang="en-US" dirty="0"/>
          </a:p>
          <a:p>
            <a:r>
              <a:t>• `claude --version` confirms the Claude Code CLI is installed.</a:t>
            </a:r>
          </a:p>
          <a:p>
            <a:r>
              <a:t>• `python3 --version` — the taskboard app is Python/Flask; labs assume a working Python env.</a:t>
            </a:r>
          </a:p>
          <a:p>
            <a:r>
              <a:t>• `git --version` — required later for Module 3's worktree exercises.</a:t>
            </a:r>
          </a:p>
          <a:p>
            <a:r>
              <a:t>• Also confirm: `claude` starts without prompting a login (i.e. already authenticated), and everyone can see/clone the taskboard repo.</a:t>
            </a:r>
          </a:p>
          <a:p>
            <a:r>
              <a:t>• Q: What versions are actually required? A: nothing exotic — any reasonably recent Python 3.x / git 2.x; point to taskboard/README.md if pressed on specifics.</a:t>
            </a:r>
          </a:p>
          <a:p>
            <a:r>
              <a:t>• Q: `claude --version` fails / not found — have your own install method (npm install -g, or the install script) ready as a fallback to walk someone through live.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Most people here have used one assistant in one session. Today is about running several on the same feature.
• Left: a single session does everything in order. Its context fills with every file and decision, so late steps get less attention, and you review one big diff at the end.
• Right: the foundation lands first, then independent units run in parallel, each in its own session with only the files it needs, and each on a model that fits its risk.
• The model names are illustrative. Module 2 covers how to choose.
• The right side only works if the work splits cleanly. That is what Module 1 is about.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Be honest about the costs. Multi-agent work is not free, and it is not always faster once you count planning and merging.
• The biggest hidden cost is multiplied mistakes: one vague spec handed to three agents gives you three confident, wrong diffs.
• Rule of thumb: if the task fits comfortably in one session, or every piece touches the same files, use one session.
• The bottom row is the map for the day. Module 1 makes specs clear and keeps units off each other’s files (multiplied mistakes, conflicts). Module 2 controls spend. Module 3 handles coordination, conflicts, and review with worktrees and merging one unit at a time.
• Transition: “So the first skill is splitting the work well. That is Module 1.”</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Transition slide — restate timing: 20 min lecture, 40 min lab.</a:t>
            </a:r>
            <a:endParaRPr lang="en-US" dirty="0"/>
          </a:p>
          <a:p>
            <a:r>
              <a:t>• Set expectation: this module's payoff is Lab 1 — a written decomposition participants will reuse directly in Labs 2 and 3, so it must leave the room in a reusable state (a saved file, not just verbal reasoning).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This is the core framework for the whole day — every unit of work produced today gets judged against these four criteria.</a:t>
            </a:r>
            <a:endParaRPr lang="en-US" dirty="0"/>
          </a:p>
          <a:p>
            <a:r>
              <a:t>• Bounded scope: touches a small, identifiable set of files and does ONE coherent thing — not "build the backend."</a:t>
            </a:r>
          </a:p>
          <a:p>
            <a:r>
              <a:t>• Acceptance criteria: checkable without reading the full diff — mechanical check or quick read, not "make it work well."</a:t>
            </a:r>
          </a:p>
          <a:p>
            <a:r>
              <a:t>• Named dependencies: what must exist before this starts, and what it blocks — this is what makes a dependency graph possible (used again in Module 3 for worktree planning).</a:t>
            </a:r>
          </a:p>
          <a:p>
            <a:r>
              <a:t>• A verification step: concrete — a test to run, an endpoint to curl, a page to look at. Not "it should work."</a:t>
            </a:r>
          </a:p>
          <a:p>
            <a:r>
              <a:t>• Q: Isn't this just normal ticket-writing? A: yes, the discipline is familiar — the difference is an agent won't naturally ask clarifying questions the way a human teammate would unless you design for it. Underspecified units become "a pile of plausible-looking decisions you now have to review as one giant diff."</a:t>
            </a:r>
          </a:p>
          <a:p>
            <a:r>
              <a:t>• Q: What if a unit fails one of the four? A: not disqualifying, but higher risk — expect to review more carefully, or split it further.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Bounded scope is about file boundaries as much as size: if you cannot name the files up front, the unit is not bounded yet.
• The “and” test: “add search AND a results page” is two units.
• Saying what NOT to touch matters as much as what to touch — agents happily “improve” neighboring code.
• Examples are deliberately from other apps (store, auth, billing) so the lab decomposition stays the participants’ own work.</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 test for a criterion: could two people disagree about whether it passed? If yes, rewrite it.
• Criteria let the agent self-check before handing work back, which cuts review rounds.
• “Existing tests pass unmodified” guards against the agent editing tests to make them green.
• Note the empty-query and reset-counter cases: good criteria name the edge case, not just the happy path.</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Dependencies are what turn a list of units into a schedule: Unit 1 goes first, alone; Units 2–4 can then run in parallel worktrees (Module 3).
• Naming the contract (get_average_rating → float) lets Unit 3 start against a known function even before seeing Unit 1’s code.
• Watch for hidden dependencies: two units that both edit the same file are coupled even if neither “depends” on the other.</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Verification is written by the human at decomposition time, before any code exists.
• Each example pairs a check with its expected result. Without the expected result, “I ran the test” proves nothing.
• Choose the cheapest effective check: a unit test for logic, a curl for an API contract, a page visit for UI, a log line for side effects.
• Q: Can the agent write the test? A: yes, but you still decide what it must prove and you run it yourself.</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 This is the actual </a:t>
            </a:r>
            <a:r>
              <a:rPr dirty="0" err="1"/>
              <a:t>FEATURE_REQUEST.md</a:t>
            </a:r>
            <a:r>
              <a:rPr dirty="0"/>
              <a:t> (workspaces) example used in the hands-on lab — read </a:t>
            </a:r>
            <a:r>
              <a:rPr dirty="0" err="1"/>
              <a:t>taskboard</a:t>
            </a:r>
            <a:r>
              <a:rPr dirty="0"/>
              <a:t>/</a:t>
            </a:r>
            <a:r>
              <a:rPr dirty="0" err="1"/>
              <a:t>FEATURE_REQUEST.md</a:t>
            </a:r>
            <a:r>
              <a:rPr dirty="0"/>
              <a:t> and app/</a:t>
            </a:r>
            <a:r>
              <a:rPr dirty="0" err="1"/>
              <a:t>db.py</a:t>
            </a:r>
            <a:r>
              <a:rPr dirty="0"/>
              <a:t> beforehand so you can field follow-ups.</a:t>
            </a:r>
            <a:endParaRPr lang="en-US" dirty="0"/>
          </a:p>
          <a:p>
            <a:r>
              <a:rPr dirty="0"/>
              <a:t>• BAD ("Add workspaces to the app") fails all four slide-6 criteria at once: unbounded scope, no acceptance criteria, no dependencies, no way to verify partial progress.</a:t>
            </a:r>
          </a:p>
          <a:p>
            <a:r>
              <a:rPr dirty="0"/>
              <a:t>• GOOD (the schema unit) names exact tables/columns and accessor function signatures, states existing tests must still pass unmodified, and lists what it blocks.</a:t>
            </a:r>
          </a:p>
          <a:p>
            <a:r>
              <a:rPr dirty="0"/>
              <a:t>• Key point to land: an agent working from the GOOD version can self-check against acceptance criteria before handing back — a reviewer can verify it in under two minutes by running one test file, not reading a diff line by line.</a:t>
            </a:r>
          </a:p>
          <a:p>
            <a:r>
              <a:rPr dirty="0"/>
              <a:t>• Q: Who writes the acceptance criteria — me or the agent? A: the human, upfront, as part of decomposition — that is literally the Lab 1 exercise.</a:t>
            </a:r>
          </a:p>
          <a:p>
            <a:r>
              <a:rPr dirty="0"/>
              <a:t>• Q: Does more detail always mean better? A: no — bounded and checkable, not exhaustive. Over-specifying the "how" removes useful agent judgment and makes the spec brittle.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This is the GOOD example from the previous slide, expanded into the full spec. It is the same spec participants get in the Lab 1 handout, so nothing here gives away the exercise: Units 2–4 are still theirs to write.
• Scope: note the “doesn’t touch” line. Naming what is out of bounds stops the agent from wandering into routes or templates.
• Why workspace_id is nullable: existing tasks have no workspace yet. Making it required would break every existing row and the existing tests.
• Why the names are fixed: seed_demo.py expects exactly these table and column names, and Lab 3’s demo depends on that data.
• Criteria: every line is pass/fail. Ask the room which ones could be checked without opening the diff (answer: all five).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Dependencies: Unit 1 is the only strictly sequential piece. Everything else waits for it, which is why it goes on main, alone (Module 3).
• The contract is what lets other units be specified now, before Unit 1 is written: they can name list_workspaces_for_user() with confidence.
• Verification: the first command proves nothing existing broke and the new accessors work. The second proves the names match what seed_demo.py expects. Deleting taskboard.db first matters: the schema uses CREATE TABLE IF NOT EXISTS, so an old database would hide a mistake.
• Transition: “Now you write Units 2–4 the same way.” That is Lab 1.</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Transition slide — 15 min lecture, 35 min lab (the shortest module).</a:t>
            </a:r>
            <a:endParaRPr lang="en-US" dirty="0"/>
          </a:p>
          <a:p>
            <a:r>
              <a:t>• Set up the throughline: now that units of work exist (Module 1), the next question is which model handles each one.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Four models shown correspond to the current Claude model family: Haiku 4.5, Sonnet 5, Opus 5, Fable 5.1.</a:t>
            </a:r>
            <a:endParaRPr lang="en-US" dirty="0"/>
          </a:p>
          <a:p>
            <a:r>
              <a:t>• Haiku: fastest/cheapest — good fit for small, well-specified, low-risk units (e.g. a one-file notification stub).</a:t>
            </a:r>
          </a:p>
          <a:p>
            <a:r>
              <a:t>• Sonnet: the default workhorse for day-to-day implementation — balanced cost/capability, use this unless something pushes you off it.</a:t>
            </a:r>
          </a:p>
          <a:p>
            <a:r>
              <a:t>• Opus: reserve for architecture decisions, foundational/shared code (e.g. the schema unit everything else depends on), or higher-risk changes — deeper reasoning, higher cost/latency.</a:t>
            </a:r>
          </a:p>
          <a:p>
            <a:r>
              <a:t>• Fable: the most capable model, but explicitly NOT the default — reserved for long, ambiguous, investigative work (e.g. "figure out why this test is intermittently flaky" with no clear starting point).</a:t>
            </a:r>
          </a:p>
          <a:p>
            <a:r>
              <a:t>• Effort level (low/medium/high/xhigh/max) is a SEPARATE dial from model choice — it controls how much reasoning the model applies, independent of which model is running. E.g. Sonnet-at-high and Opus-at-low are both coherent, differently-priced choices.</a:t>
            </a:r>
          </a:p>
          <a:p>
            <a:r>
              <a:t>• Q: Isn't Opus always better, so why not use it everywhere? A: cost and latency — using it for every small task burns budget/time without matching gains on low-risk work.</a:t>
            </a:r>
          </a:p>
          <a:p>
            <a:r>
              <a:t>• Q: How do I actually choose an effort level? A: tie it to the same risk/ambiguity judgment as model choice — a well-bounded unit (slide 6) often doesn't need max effort even on Opus.</a:t>
            </a:r>
          </a:p>
          <a:p>
            <a:r>
              <a:t>• Q: Is Fable a different vendor's model? A: no — same Claude family, just positioned for long/ambiguous/investigative work rather than as a default.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`/model` with no argument opens an interactive model picker inside a running Claude Code session.</a:t>
            </a:r>
            <a:endParaRPr lang="en-US" dirty="0"/>
          </a:p>
          <a:p>
            <a:r>
              <a:t>• `/model opus` or `/model sonnet` switch directly without the picker, mid-session — conversation context carries over, nothing is lost.</a:t>
            </a:r>
          </a:p>
          <a:p>
            <a:r>
              <a:t>• In the picker, pressing `s` applies the choice to this session only, as opposed to changing a persistent default.</a:t>
            </a:r>
          </a:p>
          <a:p>
            <a:r>
              <a:t>• Use case for escalating: a Sonnet session is stuck/going in circles, or the task turns out riskier or harder than it looked at assignment time.</a:t>
            </a:r>
          </a:p>
          <a:p>
            <a:r>
              <a:t>• Use case for downgrading: a task assigned a heavier model turns out simpler than planned — switch down to save cost on the remainder of the session.</a:t>
            </a:r>
          </a:p>
          <a:p>
            <a:r>
              <a:t>• Q: Does switching models lose conversation history? A: no — only which model answers the next turn changes; prior context is preserved.</a:t>
            </a:r>
          </a:p>
          <a:p>
            <a:r>
              <a:t>• Q: Can I set a persistent default instead of picking every time? A: yes, there's a session-independent default distinct from the `s` (session-only) picker option — if asked for the exact config mechanism, defer to `/help` or docs rather than guessing live.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Transition slide — 20 min lecture, 60 min lab, explicitly called out as "the payoff module."</a:t>
            </a:r>
            <a:endParaRPr lang="en-US" dirty="0"/>
          </a:p>
          <a:p>
            <a:r>
              <a:t>• Everything produced in Modules 1 and 2 (the decomposition and its model assignments) gets used for real here — this is where the day's work pays off.</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dirty="0"/>
              <a:t>• A git </a:t>
            </a:r>
            <a:r>
              <a:rPr dirty="0" err="1"/>
              <a:t>worktree</a:t>
            </a:r>
            <a:r>
              <a:rPr dirty="0"/>
              <a:t> checks out another branch of the SAME repository into its own working directory, while all </a:t>
            </a:r>
            <a:r>
              <a:rPr dirty="0" err="1"/>
              <a:t>worktrees</a:t>
            </a:r>
            <a:r>
              <a:rPr dirty="0"/>
              <a:t> share one .git history/object store underneath — that shared store is the whole trick.</a:t>
            </a:r>
            <a:endParaRPr lang="en-US" dirty="0"/>
          </a:p>
          <a:p>
            <a:r>
              <a:rPr dirty="0"/>
              <a:t>• Contrast with a full second clone: a clone duplicates the entire git history (and you'd reinstall dependencies — .</a:t>
            </a:r>
            <a:r>
              <a:rPr dirty="0" err="1"/>
              <a:t>venv</a:t>
            </a:r>
            <a:r>
              <a:rPr dirty="0"/>
              <a:t>, </a:t>
            </a:r>
            <a:r>
              <a:rPr dirty="0" err="1"/>
              <a:t>node_modules</a:t>
            </a:r>
            <a:r>
              <a:rPr dirty="0"/>
              <a:t> — separately in each one); a </a:t>
            </a:r>
            <a:r>
              <a:rPr dirty="0" err="1"/>
              <a:t>worktree</a:t>
            </a:r>
            <a:r>
              <a:rPr dirty="0"/>
              <a:t> shares history, so creating one is near-instant and small.</a:t>
            </a:r>
          </a:p>
          <a:p>
            <a:r>
              <a:rPr dirty="0"/>
              <a:t>• Contrast with switching branches in a single directory: that's inherently sequential — only one branch is checked out at a time, and checking out a new branch can clobber uncommitted work from the branch you just left.</a:t>
            </a:r>
          </a:p>
          <a:p>
            <a:r>
              <a:rPr dirty="0"/>
              <a:t>• Contrast with multiple agent sessions in the same directory: nothing stops their uncommitted edits from colliding or overwriting each other, because they're all writing into the same working files.</a:t>
            </a:r>
          </a:p>
          <a:p>
            <a:r>
              <a:rPr dirty="0"/>
              <a:t>• Because </a:t>
            </a:r>
            <a:r>
              <a:rPr dirty="0" err="1"/>
              <a:t>worktrees</a:t>
            </a:r>
            <a:r>
              <a:rPr dirty="0"/>
              <a:t> share one .git store, a commit made in one </a:t>
            </a:r>
            <a:r>
              <a:rPr dirty="0" err="1"/>
              <a:t>worktree</a:t>
            </a:r>
            <a:r>
              <a:rPr dirty="0"/>
              <a:t> is immediately visible to every other </a:t>
            </a:r>
            <a:r>
              <a:rPr dirty="0" err="1"/>
              <a:t>worktree</a:t>
            </a:r>
            <a:r>
              <a:rPr dirty="0"/>
              <a:t> on the same repo — no push/pull round-trip needed between parallel sessions, unlike separate clones.</a:t>
            </a:r>
          </a:p>
          <a:p>
            <a:r>
              <a:rPr dirty="0"/>
              <a:t>• This is precisely why `</a:t>
            </a:r>
            <a:r>
              <a:rPr dirty="0" err="1"/>
              <a:t>claude</a:t>
            </a:r>
            <a:r>
              <a:rPr dirty="0"/>
              <a:t> --</a:t>
            </a:r>
            <a:r>
              <a:rPr dirty="0" err="1"/>
              <a:t>worktree</a:t>
            </a:r>
            <a:r>
              <a:rPr dirty="0"/>
              <a:t> &lt;name&gt;` (next slide) is the mechanism for true parallel agent sessions — each session gets an isolated directory and branch, but they're all still one repository underneath.</a:t>
            </a:r>
          </a:p>
          <a:p>
            <a:r>
              <a:rPr dirty="0"/>
              <a:t>• Q: Why not just use separate clones — disks are cheap? A: it's not really about disk space, it's about branches not being visible to each other without push/pull, and dependencies (</a:t>
            </a:r>
            <a:r>
              <a:rPr dirty="0" err="1"/>
              <a:t>venvs</a:t>
            </a:r>
            <a:r>
              <a:rPr dirty="0"/>
              <a:t>, </a:t>
            </a:r>
            <a:r>
              <a:rPr dirty="0" err="1"/>
              <a:t>node_modules</a:t>
            </a:r>
            <a:r>
              <a:rPr dirty="0"/>
              <a:t>) having to be reinstalled per clone — friction that slows down a lab exercise meant to feel fast.</a:t>
            </a:r>
          </a:p>
          <a:p>
            <a:r>
              <a:rPr dirty="0"/>
              <a:t>• Q: Can two </a:t>
            </a:r>
            <a:r>
              <a:rPr dirty="0" err="1"/>
              <a:t>worktrees</a:t>
            </a:r>
            <a:r>
              <a:rPr dirty="0"/>
              <a:t> have the same branch checked out at once? A: no — git blocks checking out a branch that's already checked out in another </a:t>
            </a:r>
            <a:r>
              <a:rPr dirty="0" err="1"/>
              <a:t>worktree</a:t>
            </a:r>
            <a:r>
              <a:rPr dirty="0"/>
              <a:t>, a built-in safety rail against two sessions silently stomping on the same branch.</a:t>
            </a:r>
          </a:p>
          <a:p>
            <a:r>
              <a:rPr dirty="0"/>
              <a:t>• Q: Do </a:t>
            </a:r>
            <a:r>
              <a:rPr dirty="0" err="1"/>
              <a:t>worktrees</a:t>
            </a:r>
            <a:r>
              <a:rPr dirty="0"/>
              <a:t> need a central remote? A: no — they all point at the same local .git directory, so this works entirely locally; nothing has to be pushed anywhere for sessions to see each other's commits.</a:t>
            </a:r>
          </a:p>
          <a:p>
            <a:r>
              <a:rPr dirty="0"/>
              <a:t>• Q: Is this a Claude Code concept or a git concept? A: pure git — `git </a:t>
            </a:r>
            <a:r>
              <a:rPr dirty="0" err="1"/>
              <a:t>worktree</a:t>
            </a:r>
            <a:r>
              <a:rPr dirty="0"/>
              <a:t>` has existed in git for years; Claude Code's `--</a:t>
            </a:r>
            <a:r>
              <a:rPr dirty="0" err="1"/>
              <a:t>worktree</a:t>
            </a:r>
            <a:r>
              <a:rPr dirty="0"/>
              <a:t>` flag is a convenience wrapper that creates one and launches a session inside it.</a:t>
            </a:r>
            <a:endParaRPr lang="en-US" dirty="0"/>
          </a:p>
          <a:p>
            <a:endParaRPr lang="en-US" dirty="0"/>
          </a:p>
          <a:p>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When plain branches beat </a:t>
            </a:r>
            <a:r>
              <a:rPr lang="en-US" sz="1200" b="1" kern="1200" dirty="0" err="1">
                <a:solidFill>
                  <a:schemeClr val="tx1"/>
                </a:solidFill>
                <a:effectLst/>
                <a:latin typeface="+mn-lt"/>
                <a:ea typeface="+mn-ea"/>
                <a:cs typeface="+mn-cs"/>
              </a:rPr>
              <a:t>worktrees</a:t>
            </a:r>
            <a:r>
              <a:rPr lang="en-US" sz="1200" b="1" kern="1200" dirty="0">
                <a:solidFill>
                  <a:schemeClr val="tx1"/>
                </a:solidFill>
                <a:effectLst/>
                <a:latin typeface="+mn-lt"/>
                <a:ea typeface="+mn-ea"/>
                <a:cs typeface="+mn-cs"/>
              </a:rPr>
              <a:t>:</a:t>
            </a:r>
            <a:endParaRPr lang="en-US" sz="1200" kern="1200" dirty="0">
              <a:solidFill>
                <a:schemeClr val="tx1"/>
              </a:solidFill>
              <a:effectLst/>
              <a:latin typeface="+mn-lt"/>
              <a:ea typeface="+mn-ea"/>
              <a:cs typeface="+mn-cs"/>
            </a:endParaRPr>
          </a:p>
          <a:p>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 </a:t>
            </a:r>
            <a:r>
              <a:rPr lang="en-US" sz="1200" b="1" kern="1200" dirty="0">
                <a:solidFill>
                  <a:schemeClr val="tx1"/>
                </a:solidFill>
                <a:effectLst/>
                <a:latin typeface="+mn-lt"/>
                <a:ea typeface="+mn-ea"/>
                <a:cs typeface="+mn-cs"/>
              </a:rPr>
              <a:t>Sequential, solo work.</a:t>
            </a:r>
            <a:r>
              <a:rPr lang="en-US" sz="1200" kern="1200" dirty="0">
                <a:solidFill>
                  <a:schemeClr val="tx1"/>
                </a:solidFill>
                <a:effectLst/>
                <a:latin typeface="+mn-lt"/>
                <a:ea typeface="+mn-ea"/>
                <a:cs typeface="+mn-cs"/>
              </a:rPr>
              <a:t> If you're doing one thing at a time — which is most normal coding — git checkout/git stash is simpler. </a:t>
            </a:r>
            <a:r>
              <a:rPr lang="en-US" sz="1200" kern="1200" dirty="0" err="1">
                <a:solidFill>
                  <a:schemeClr val="tx1"/>
                </a:solidFill>
                <a:effectLst/>
                <a:latin typeface="+mn-lt"/>
                <a:ea typeface="+mn-ea"/>
                <a:cs typeface="+mn-cs"/>
              </a:rPr>
              <a:t>Worktrees</a:t>
            </a:r>
            <a:r>
              <a:rPr lang="en-US" sz="1200" kern="1200" dirty="0">
                <a:solidFill>
                  <a:schemeClr val="tx1"/>
                </a:solidFill>
                <a:effectLst/>
                <a:latin typeface="+mn-lt"/>
                <a:ea typeface="+mn-ea"/>
                <a:cs typeface="+mn-cs"/>
              </a:rPr>
              <a:t> add</a:t>
            </a:r>
          </a:p>
          <a:p>
            <a:r>
              <a:rPr lang="en-US" sz="1200" kern="1200" dirty="0">
                <a:solidFill>
                  <a:schemeClr val="tx1"/>
                </a:solidFill>
                <a:effectLst/>
                <a:latin typeface="+mn-lt"/>
                <a:ea typeface="+mn-ea"/>
                <a:cs typeface="+mn-cs"/>
              </a:rPr>
              <a:t>    directories to manage and clean up for zero benefit if nothing is actually running in parallel.</a:t>
            </a:r>
          </a:p>
          <a:p>
            <a:r>
              <a:rPr lang="en-US" sz="1200" kern="1200" dirty="0">
                <a:solidFill>
                  <a:schemeClr val="tx1"/>
                </a:solidFill>
                <a:effectLst/>
                <a:latin typeface="+mn-lt"/>
                <a:ea typeface="+mn-ea"/>
                <a:cs typeface="+mn-cs"/>
              </a:rPr>
              <a:t>  - </a:t>
            </a:r>
            <a:r>
              <a:rPr lang="en-US" sz="1200" b="1" kern="1200" dirty="0">
                <a:solidFill>
                  <a:schemeClr val="tx1"/>
                </a:solidFill>
                <a:effectLst/>
                <a:latin typeface="+mn-lt"/>
                <a:ea typeface="+mn-ea"/>
                <a:cs typeface="+mn-cs"/>
              </a:rPr>
              <a:t>Quick detours.</a:t>
            </a:r>
            <a:r>
              <a:rPr lang="en-US" sz="1200" kern="1200" dirty="0">
                <a:solidFill>
                  <a:schemeClr val="tx1"/>
                </a:solidFill>
                <a:effectLst/>
                <a:latin typeface="+mn-lt"/>
                <a:ea typeface="+mn-ea"/>
                <a:cs typeface="+mn-cs"/>
              </a:rPr>
              <a:t> Jumping to main for a 30-second hotfix or to peek at another branch — git stash &amp;&amp; git checkout main and back is faster than creating</a:t>
            </a:r>
          </a:p>
          <a:p>
            <a:r>
              <a:rPr lang="en-US" sz="1200" kern="1200" dirty="0">
                <a:solidFill>
                  <a:schemeClr val="tx1"/>
                </a:solidFill>
                <a:effectLst/>
                <a:latin typeface="+mn-lt"/>
                <a:ea typeface="+mn-ea"/>
                <a:cs typeface="+mn-cs"/>
              </a:rPr>
              <a:t>    and tearing down a </a:t>
            </a:r>
            <a:r>
              <a:rPr lang="en-US" sz="1200" kern="1200" dirty="0" err="1">
                <a:solidFill>
                  <a:schemeClr val="tx1"/>
                </a:solidFill>
                <a:effectLst/>
                <a:latin typeface="+mn-lt"/>
                <a:ea typeface="+mn-ea"/>
                <a:cs typeface="+mn-cs"/>
              </a:rPr>
              <a:t>worktree</a:t>
            </a:r>
            <a:r>
              <a:rPr lang="en-US" sz="1200" kern="1200" dirty="0">
                <a:solidFill>
                  <a:schemeClr val="tx1"/>
                </a:solidFill>
                <a:effectLst/>
                <a:latin typeface="+mn-lt"/>
                <a:ea typeface="+mn-ea"/>
                <a:cs typeface="+mn-cs"/>
              </a:rPr>
              <a:t>.</a:t>
            </a:r>
          </a:p>
          <a:p>
            <a:r>
              <a:rPr lang="en-US" sz="1200" kern="1200" dirty="0">
                <a:solidFill>
                  <a:schemeClr val="tx1"/>
                </a:solidFill>
                <a:effectLst/>
                <a:latin typeface="+mn-lt"/>
                <a:ea typeface="+mn-ea"/>
                <a:cs typeface="+mn-cs"/>
              </a:rPr>
              <a:t>  - </a:t>
            </a:r>
            <a:r>
              <a:rPr lang="en-US" sz="1200" b="1" kern="1200" dirty="0">
                <a:solidFill>
                  <a:schemeClr val="tx1"/>
                </a:solidFill>
                <a:effectLst/>
                <a:latin typeface="+mn-lt"/>
                <a:ea typeface="+mn-ea"/>
                <a:cs typeface="+mn-cs"/>
              </a:rPr>
              <a:t>Branches with heavy, divergent environments.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Worktrees</a:t>
            </a:r>
            <a:r>
              <a:rPr lang="en-US" sz="1200" kern="1200" dirty="0">
                <a:solidFill>
                  <a:schemeClr val="tx1"/>
                </a:solidFill>
                <a:effectLst/>
                <a:latin typeface="+mn-lt"/>
                <a:ea typeface="+mn-ea"/>
                <a:cs typeface="+mn-cs"/>
              </a:rPr>
              <a:t> share .git history, but </a:t>
            </a:r>
            <a:r>
              <a:rPr lang="en-US" sz="1200" i="1" kern="1200" dirty="0">
                <a:solidFill>
                  <a:schemeClr val="tx1"/>
                </a:solidFill>
                <a:effectLst/>
                <a:latin typeface="+mn-lt"/>
                <a:ea typeface="+mn-ea"/>
                <a:cs typeface="+mn-cs"/>
              </a:rPr>
              <a:t>not</a:t>
            </a:r>
            <a:r>
              <a:rPr lang="en-US" sz="1200" kern="1200" dirty="0">
                <a:solidFill>
                  <a:schemeClr val="tx1"/>
                </a:solidFill>
                <a:effectLst/>
                <a:latin typeface="+mn-lt"/>
                <a:ea typeface="+mn-ea"/>
                <a:cs typeface="+mn-cs"/>
              </a:rPr>
              <a:t> installed dependencies — each one needs its own</a:t>
            </a:r>
          </a:p>
          <a:p>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venv</a:t>
            </a:r>
            <a:r>
              <a:rPr lang="en-US" sz="1200" kern="1200" dirty="0">
                <a:solidFill>
                  <a:schemeClr val="tx1"/>
                </a:solidFill>
                <a:effectLst/>
                <a:latin typeface="+mn-lt"/>
                <a:ea typeface="+mn-ea"/>
                <a:cs typeface="+mn-cs"/>
              </a:rPr>
              <a:t>/</a:t>
            </a:r>
            <a:r>
              <a:rPr lang="en-US" sz="1200" kern="1200" dirty="0" err="1">
                <a:solidFill>
                  <a:schemeClr val="tx1"/>
                </a:solidFill>
                <a:effectLst/>
                <a:latin typeface="+mn-lt"/>
                <a:ea typeface="+mn-ea"/>
                <a:cs typeface="+mn-cs"/>
              </a:rPr>
              <a:t>node_modules</a:t>
            </a:r>
            <a:r>
              <a:rPr lang="en-US" sz="1200" kern="1200" dirty="0">
                <a:solidFill>
                  <a:schemeClr val="tx1"/>
                </a:solidFill>
                <a:effectLst/>
                <a:latin typeface="+mn-lt"/>
                <a:ea typeface="+mn-ea"/>
                <a:cs typeface="+mn-cs"/>
              </a:rPr>
              <a:t>/build artifacts. If you're hopping across many branches that each need a fresh environment, re-provisioning per </a:t>
            </a:r>
            <a:r>
              <a:rPr lang="en-US" sz="1200" kern="1200" dirty="0" err="1">
                <a:solidFill>
                  <a:schemeClr val="tx1"/>
                </a:solidFill>
                <a:effectLst/>
                <a:latin typeface="+mn-lt"/>
                <a:ea typeface="+mn-ea"/>
                <a:cs typeface="+mn-cs"/>
              </a:rPr>
              <a:t>worktree</a:t>
            </a:r>
            <a:r>
              <a:rPr lang="en-US" sz="1200" kern="1200" dirty="0">
                <a:solidFill>
                  <a:schemeClr val="tx1"/>
                </a:solidFill>
                <a:effectLst/>
                <a:latin typeface="+mn-lt"/>
                <a:ea typeface="+mn-ea"/>
                <a:cs typeface="+mn-cs"/>
              </a:rPr>
              <a:t> can cost</a:t>
            </a:r>
          </a:p>
          <a:p>
            <a:r>
              <a:rPr lang="en-US" sz="1200" kern="1200" dirty="0">
                <a:solidFill>
                  <a:schemeClr val="tx1"/>
                </a:solidFill>
                <a:effectLst/>
                <a:latin typeface="+mn-lt"/>
                <a:ea typeface="+mn-ea"/>
                <a:cs typeface="+mn-cs"/>
              </a:rPr>
              <a:t>    more than just resetting one shared checkout.</a:t>
            </a:r>
          </a:p>
          <a:p>
            <a:r>
              <a:rPr lang="en-US" sz="1200" kern="1200" dirty="0">
                <a:solidFill>
                  <a:schemeClr val="tx1"/>
                </a:solidFill>
                <a:effectLst/>
                <a:latin typeface="+mn-lt"/>
                <a:ea typeface="+mn-ea"/>
                <a:cs typeface="+mn-cs"/>
              </a:rPr>
              <a:t>  - </a:t>
            </a:r>
            <a:r>
              <a:rPr lang="en-US" sz="1200" b="1" kern="1200" dirty="0">
                <a:solidFill>
                  <a:schemeClr val="tx1"/>
                </a:solidFill>
                <a:effectLst/>
                <a:latin typeface="+mn-lt"/>
                <a:ea typeface="+mn-ea"/>
                <a:cs typeface="+mn-cs"/>
              </a:rPr>
              <a:t>Disk-constrained or large working trees.</a:t>
            </a:r>
            <a:r>
              <a:rPr lang="en-US" sz="1200" kern="1200" dirty="0">
                <a:solidFill>
                  <a:schemeClr val="tx1"/>
                </a:solidFill>
                <a:effectLst/>
                <a:latin typeface="+mn-lt"/>
                <a:ea typeface="+mn-ea"/>
                <a:cs typeface="+mn-cs"/>
              </a:rPr>
              <a:t> Shared history ≠ shared files — each </a:t>
            </a:r>
            <a:r>
              <a:rPr lang="en-US" sz="1200" kern="1200" dirty="0" err="1">
                <a:solidFill>
                  <a:schemeClr val="tx1"/>
                </a:solidFill>
                <a:effectLst/>
                <a:latin typeface="+mn-lt"/>
                <a:ea typeface="+mn-ea"/>
                <a:cs typeface="+mn-cs"/>
              </a:rPr>
              <a:t>worktree</a:t>
            </a:r>
            <a:r>
              <a:rPr lang="en-US" sz="1200" kern="1200" dirty="0">
                <a:solidFill>
                  <a:schemeClr val="tx1"/>
                </a:solidFill>
                <a:effectLst/>
                <a:latin typeface="+mn-lt"/>
                <a:ea typeface="+mn-ea"/>
                <a:cs typeface="+mn-cs"/>
              </a:rPr>
              <a:t> is a full copy of the checked-out working files. On a repo with</a:t>
            </a:r>
          </a:p>
          <a:p>
            <a:r>
              <a:rPr lang="en-US" sz="1200" kern="1200" dirty="0">
                <a:solidFill>
                  <a:schemeClr val="tx1"/>
                </a:solidFill>
                <a:effectLst/>
                <a:latin typeface="+mn-lt"/>
                <a:ea typeface="+mn-ea"/>
                <a:cs typeface="+mn-cs"/>
              </a:rPr>
              <a:t>    big assets, N </a:t>
            </a:r>
            <a:r>
              <a:rPr lang="en-US" sz="1200" kern="1200" dirty="0" err="1">
                <a:solidFill>
                  <a:schemeClr val="tx1"/>
                </a:solidFill>
                <a:effectLst/>
                <a:latin typeface="+mn-lt"/>
                <a:ea typeface="+mn-ea"/>
                <a:cs typeface="+mn-cs"/>
              </a:rPr>
              <a:t>worktrees</a:t>
            </a:r>
            <a:r>
              <a:rPr lang="en-US" sz="1200" kern="1200" dirty="0">
                <a:solidFill>
                  <a:schemeClr val="tx1"/>
                </a:solidFill>
                <a:effectLst/>
                <a:latin typeface="+mn-lt"/>
                <a:ea typeface="+mn-ea"/>
                <a:cs typeface="+mn-cs"/>
              </a:rPr>
              <a:t> means N copies of those files on disk.</a:t>
            </a:r>
          </a:p>
          <a:p>
            <a:r>
              <a:rPr lang="en-US" sz="1200" kern="1200" dirty="0">
                <a:solidFill>
                  <a:schemeClr val="tx1"/>
                </a:solidFill>
                <a:effectLst/>
                <a:latin typeface="+mn-lt"/>
                <a:ea typeface="+mn-ea"/>
                <a:cs typeface="+mn-cs"/>
              </a:rPr>
              <a:t>  - </a:t>
            </a:r>
            <a:r>
              <a:rPr lang="en-US" sz="1200" b="1" kern="1200" dirty="0">
                <a:solidFill>
                  <a:schemeClr val="tx1"/>
                </a:solidFill>
                <a:effectLst/>
                <a:latin typeface="+mn-lt"/>
                <a:ea typeface="+mn-ea"/>
                <a:cs typeface="+mn-cs"/>
              </a:rPr>
              <a:t>Tooling that assumes one checkout per repo.</a:t>
            </a:r>
            <a:r>
              <a:rPr lang="en-US" sz="1200" kern="1200" dirty="0">
                <a:solidFill>
                  <a:schemeClr val="tx1"/>
                </a:solidFill>
                <a:effectLst/>
                <a:latin typeface="+mn-lt"/>
                <a:ea typeface="+mn-ea"/>
                <a:cs typeface="+mn-cs"/>
              </a:rPr>
              <a:t> Some IDEs, language-server caches, or local dev setups (hardcoded ports, Docker bind mounts) get confused</a:t>
            </a:r>
          </a:p>
          <a:p>
            <a:r>
              <a:rPr lang="en-US" sz="1200" kern="1200" dirty="0">
                <a:solidFill>
                  <a:schemeClr val="tx1"/>
                </a:solidFill>
                <a:effectLst/>
                <a:latin typeface="+mn-lt"/>
                <a:ea typeface="+mn-ea"/>
                <a:cs typeface="+mn-cs"/>
              </a:rPr>
              <a:t>    or collide when the same repo is checked out in two places at once.</a:t>
            </a:r>
          </a:p>
          <a:p>
            <a:r>
              <a:rPr lang="en-US" sz="1200" kern="1200" dirty="0">
                <a:solidFill>
                  <a:schemeClr val="tx1"/>
                </a:solidFill>
                <a:effectLst/>
                <a:latin typeface="+mn-lt"/>
                <a:ea typeface="+mn-ea"/>
                <a:cs typeface="+mn-cs"/>
              </a:rPr>
              <a:t>  - </a:t>
            </a:r>
            <a:r>
              <a:rPr lang="en-US" sz="1200" b="1" kern="1200" dirty="0">
                <a:solidFill>
                  <a:schemeClr val="tx1"/>
                </a:solidFill>
                <a:effectLst/>
                <a:latin typeface="+mn-lt"/>
                <a:ea typeface="+mn-ea"/>
                <a:cs typeface="+mn-cs"/>
              </a:rPr>
              <a:t>Cleanup discipline.</a:t>
            </a:r>
            <a:r>
              <a:rPr lang="en-US" sz="1200" kern="1200" dirty="0">
                <a:solidFill>
                  <a:schemeClr val="tx1"/>
                </a:solidFill>
                <a:effectLst/>
                <a:latin typeface="+mn-lt"/>
                <a:ea typeface="+mn-ea"/>
                <a:cs typeface="+mn-cs"/>
              </a:rPr>
              <a:t> Delete a </a:t>
            </a:r>
            <a:r>
              <a:rPr lang="en-US" sz="1200" kern="1200" dirty="0" err="1">
                <a:solidFill>
                  <a:schemeClr val="tx1"/>
                </a:solidFill>
                <a:effectLst/>
                <a:latin typeface="+mn-lt"/>
                <a:ea typeface="+mn-ea"/>
                <a:cs typeface="+mn-cs"/>
              </a:rPr>
              <a:t>worktree</a:t>
            </a:r>
            <a:r>
              <a:rPr lang="en-US" sz="1200" kern="1200" dirty="0">
                <a:solidFill>
                  <a:schemeClr val="tx1"/>
                </a:solidFill>
                <a:effectLst/>
                <a:latin typeface="+mn-lt"/>
                <a:ea typeface="+mn-ea"/>
                <a:cs typeface="+mn-cs"/>
              </a:rPr>
              <a:t> directory by hand instead of git </a:t>
            </a:r>
            <a:r>
              <a:rPr lang="en-US" sz="1200" kern="1200" dirty="0" err="1">
                <a:solidFill>
                  <a:schemeClr val="tx1"/>
                </a:solidFill>
                <a:effectLst/>
                <a:latin typeface="+mn-lt"/>
                <a:ea typeface="+mn-ea"/>
                <a:cs typeface="+mn-cs"/>
              </a:rPr>
              <a:t>worktree</a:t>
            </a:r>
            <a:r>
              <a:rPr lang="en-US" sz="1200" kern="1200" dirty="0">
                <a:solidFill>
                  <a:schemeClr val="tx1"/>
                </a:solidFill>
                <a:effectLst/>
                <a:latin typeface="+mn-lt"/>
                <a:ea typeface="+mn-ea"/>
                <a:cs typeface="+mn-cs"/>
              </a:rPr>
              <a:t> remove and you get orphaned references needing git </a:t>
            </a:r>
            <a:r>
              <a:rPr lang="en-US" sz="1200" kern="1200" dirty="0" err="1">
                <a:solidFill>
                  <a:schemeClr val="tx1"/>
                </a:solidFill>
                <a:effectLst/>
                <a:latin typeface="+mn-lt"/>
                <a:ea typeface="+mn-ea"/>
                <a:cs typeface="+mn-cs"/>
              </a:rPr>
              <a:t>worktree</a:t>
            </a:r>
            <a:r>
              <a:rPr lang="en-US" sz="1200" kern="1200" dirty="0">
                <a:solidFill>
                  <a:schemeClr val="tx1"/>
                </a:solidFill>
                <a:effectLst/>
                <a:latin typeface="+mn-lt"/>
                <a:ea typeface="+mn-ea"/>
                <a:cs typeface="+mn-cs"/>
              </a:rPr>
              <a:t> prune.</a:t>
            </a:r>
          </a:p>
          <a:p>
            <a:r>
              <a:rPr lang="en-US" sz="1200" kern="1200" dirty="0">
                <a:solidFill>
                  <a:schemeClr val="tx1"/>
                </a:solidFill>
                <a:effectLst/>
                <a:latin typeface="+mn-lt"/>
                <a:ea typeface="+mn-ea"/>
                <a:cs typeface="+mn-cs"/>
              </a:rPr>
              <a:t>    Branches have no equivalent bookkeeping.</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The actual decision rule, which the slide is missing: </a:t>
            </a:r>
            <a:r>
              <a:rPr lang="en-US" sz="1200" b="1" kern="1200" dirty="0">
                <a:solidFill>
                  <a:schemeClr val="tx1"/>
                </a:solidFill>
                <a:effectLst/>
                <a:latin typeface="+mn-lt"/>
                <a:ea typeface="+mn-ea"/>
                <a:cs typeface="+mn-cs"/>
              </a:rPr>
              <a:t>do you need two or more things checked out simultaneously?</a:t>
            </a:r>
            <a:r>
              <a:rPr lang="en-US" sz="1200" kern="1200" dirty="0">
                <a:solidFill>
                  <a:schemeClr val="tx1"/>
                </a:solidFill>
                <a:effectLst/>
                <a:latin typeface="+mn-lt"/>
                <a:ea typeface="+mn-ea"/>
                <a:cs typeface="+mn-cs"/>
              </a:rPr>
              <a:t> No → plain branches. Yes → </a:t>
            </a:r>
            <a:r>
              <a:rPr lang="en-US" sz="1200" kern="1200" dirty="0" err="1">
                <a:solidFill>
                  <a:schemeClr val="tx1"/>
                </a:solidFill>
                <a:effectLst/>
                <a:latin typeface="+mn-lt"/>
                <a:ea typeface="+mn-ea"/>
                <a:cs typeface="+mn-cs"/>
              </a:rPr>
              <a:t>worktrees</a:t>
            </a:r>
            <a:r>
              <a:rPr lang="en-US" sz="1200" kern="1200" dirty="0">
                <a:solidFill>
                  <a:schemeClr val="tx1"/>
                </a:solidFill>
                <a:effectLst/>
                <a:latin typeface="+mn-lt"/>
                <a:ea typeface="+mn-ea"/>
                <a:cs typeface="+mn-cs"/>
              </a:rPr>
              <a:t>.</a:t>
            </a:r>
          </a:p>
          <a:p>
            <a:r>
              <a:rPr lang="en-US" sz="1200" kern="1200" dirty="0">
                <a:solidFill>
                  <a:schemeClr val="tx1"/>
                </a:solidFill>
                <a:effectLst/>
                <a:latin typeface="+mn-lt"/>
                <a:ea typeface="+mn-ea"/>
                <a:cs typeface="+mn-cs"/>
              </a:rPr>
              <a:t>  Lab 3 needs </a:t>
            </a:r>
            <a:r>
              <a:rPr lang="en-US" sz="1200" kern="1200" dirty="0" err="1">
                <a:solidFill>
                  <a:schemeClr val="tx1"/>
                </a:solidFill>
                <a:effectLst/>
                <a:latin typeface="+mn-lt"/>
                <a:ea typeface="+mn-ea"/>
                <a:cs typeface="+mn-cs"/>
              </a:rPr>
              <a:t>worktrees</a:t>
            </a:r>
            <a:r>
              <a:rPr lang="en-US" sz="1200" kern="1200" dirty="0">
                <a:solidFill>
                  <a:schemeClr val="tx1"/>
                </a:solidFill>
                <a:effectLst/>
                <a:latin typeface="+mn-lt"/>
                <a:ea typeface="+mn-ea"/>
                <a:cs typeface="+mn-cs"/>
              </a:rPr>
              <a:t> specifically because three agent sessions are genuinely running at once; that's the exception, not the default mode of working</a:t>
            </a:r>
          </a:p>
          <a:p>
            <a:endParaRPr lang="en-US" sz="1200" kern="1200" dirty="0">
              <a:solidFill>
                <a:schemeClr val="tx1"/>
              </a:solidFill>
              <a:effectLst/>
              <a:latin typeface="+mn-lt"/>
              <a:ea typeface="+mn-ea"/>
              <a:cs typeface="+mn-cs"/>
            </a:endParaRPr>
          </a:p>
          <a:p>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endParaRPr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Core idea: git worktrees let you check out multiple branches of the same repo into separate directories at once, so multiple Claude Code sessions can work on independent units simultaneously without colliding on uncommitted changes.</a:t>
            </a:r>
            <a:endParaRPr lang="en-US" dirty="0"/>
          </a:p>
          <a:p>
            <a:r>
              <a:t>• Step 1 — Land dependencies first: sequential/foundational work (e.g. Lab 1's schema unit) merges to main alone, before any parallel work starts, since the parallel units build on top of it.</a:t>
            </a:r>
          </a:p>
          <a:p>
            <a:r>
              <a:t>• Step 2 — One worktree per independent unit: `claude --worktree &lt;name&gt;` creates a new worktree (separate directory, separate branch) and launches a Claude Code session scoped to it.</a:t>
            </a:r>
          </a:p>
          <a:p>
            <a:r>
              <a:t>• Step 3 — Verify inside each worktree: run that unit's own tests in isolation before merging — don't rely on the agent's say-so.</a:t>
            </a:r>
          </a:p>
          <a:p>
            <a:r>
              <a:t>• Step 4 — Merge one at a time, verifying between each merge rather than after all of them (sets up slide 13).</a:t>
            </a:r>
          </a:p>
          <a:p>
            <a:r>
              <a:t>• Q: Why not just run multiple sessions in the same directory? A: they'd share one working tree — uncommitted edits from one session could collide with or be overwritten by another; worktrees give each session its own isolated checkout.</a:t>
            </a:r>
          </a:p>
          <a:p>
            <a:r>
              <a:t>• Q: Do I need a separate terminal per worktree? A: yes, typically — each worktree runs its own Claude Code session; plan terminal tabs/windows for the lab accordingly.</a:t>
            </a:r>
          </a:p>
          <a:p>
            <a:r>
              <a:t>• Q: What if two "independent" units turn out to touch the same file? A: that's a decomposition failure, not a worktree failure — it surfaces as a merge conflict and signals the units weren't as independent as planned.</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 The snippet (`tools: Read, Edit, Write, Bash` / `model: sonnet`) is agent configuration — how you scope what a given agent/subagent can do and which model it runs on, typically set in that agent's definition/frontmatter.</a:t>
            </a:r>
            <a:endParaRPr lang="en-US" dirty="0"/>
          </a:p>
          <a:p>
            <a:r>
              <a:rPr dirty="0"/>
              <a:t>• CRITICAL and counterintuitive — call this out explicitly: omitting the `tools` field does NOT mean zero tools, it grants FULL access by default. This is a real safety footgun if assumed otherwise.</a:t>
            </a:r>
          </a:p>
          <a:p>
            <a:r>
              <a:rPr dirty="0"/>
              <a:t>• Practical rule: research-only / read-only agents should be explicitly scoped to exclude Write and Edit — don't rely on an agent simply choosing not to use a tool it technically has.</a:t>
            </a:r>
          </a:p>
          <a:p>
            <a:r>
              <a:rPr dirty="0"/>
              <a:t>• Merge discipline (right side): merge units one at a time; run tests after EACH merge, not batched at the end, so you can isolate which merge broke something.</a:t>
            </a:r>
          </a:p>
          <a:p>
            <a:r>
              <a:rPr dirty="0"/>
              <a:t>• A conflict during merge may mean the units weren't as independent as planned at decomposition time — treat it as a signal to revisit Module 1 thinking, not just a technical nuisance to resolve.</a:t>
            </a:r>
          </a:p>
          <a:p>
            <a:r>
              <a:rPr dirty="0"/>
              <a:t>• Always manually exercise the feature end-to-end before calling it done — passing unit tests is not the same as the feature working for a real user.</a:t>
            </a:r>
          </a:p>
          <a:p>
            <a:r>
              <a:rPr dirty="0"/>
              <a:t>• Q: Is tool scoping the same as the runtime permission prompts I see while using Claude Code? A: no — tool scoping is set at config time and defines the ceiling of what's possible; permission prompts are a separate, session-level approval layer for individual actions.</a:t>
            </a:r>
          </a:p>
          <a:p>
            <a:r>
              <a:rPr dirty="0"/>
              <a:t>• Q: What other tools exist besides Read/Edit/Write/Bash? A: those are the common file/shell ones; a fuller set exists (e.g. web fetch, task-specific tools) — don't enumerate from memory live, point to `/help` or docs.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 Three recap bullets map directly to the three modules — use as the closing anchor.</a:t>
            </a:r>
            <a:endParaRPr lang="en-US" dirty="0"/>
          </a:p>
          <a:p>
            <a:r>
              <a:rPr dirty="0"/>
              <a:t>• "Decompose before you delegate" (Module 1): scope, criteria, dependencies, verification.</a:t>
            </a:r>
          </a:p>
          <a:p>
            <a:r>
              <a:rPr dirty="0"/>
              <a:t>• "Match model + effort to complexity, risk, and cost" (Module 2).</a:t>
            </a:r>
          </a:p>
          <a:p>
            <a:r>
              <a:rPr dirty="0"/>
              <a:t>• "</a:t>
            </a:r>
            <a:r>
              <a:rPr dirty="0" err="1"/>
              <a:t>Worktrees</a:t>
            </a:r>
            <a:r>
              <a:rPr dirty="0"/>
              <a:t> + merge discipline turn agents into a team, not a queue" (Module 3) — a queue is one agent doing tasks serially; a team is multiple agents working truly in parallel with coordination.</a:t>
            </a:r>
          </a:p>
          <a:p>
            <a:r>
              <a:rPr dirty="0"/>
              <a:t>• Make sure the promised cheat sheet (model table, </a:t>
            </a:r>
            <a:r>
              <a:rPr dirty="0" err="1"/>
              <a:t>worktree</a:t>
            </a:r>
            <a:r>
              <a:rPr dirty="0"/>
              <a:t> commands, tool-scoping snippet) actually exists and gets distributed now — don't let this be a slide promise with nothing behind it.</a:t>
            </a:r>
          </a:p>
          <a:p>
            <a:r>
              <a:rPr dirty="0"/>
              <a:t>• Anticipated Q&amp;A: "Does this apply outside Claude Code?" (concepts generalize; the exact commands shown are Claude-Code-specific). "What's the single biggest mistake teams make?" (skipping decomposition and handing an agent an unbounded task, then reviewing one giant diff). "How do I get my team to adopt this?" (pilot Module 1's framework on one real feature — low cost to try, immediately visible payoff in review time).</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Start from the source: this is the part of FEATURE_REQUEST.md that Unit 1 answers. Items 3–5 (enforcement, switcher, notifications) belong to Units 2–4.
• Each row traces a sentence in the request to something concrete in the schema. That traceability is the habit to build: every piece of a unit should point back to a requirement.
• get_member_role is here because item 2 (roles) and item 3 (enforcement) both need a way to ask “what role does this user have here?” Unit 2’s permission checks call it.
• Admin powers like removing members are in the request too, but they are API behavior, so they belong to Unit 2, not the schema unit.
• The constraints note is what makes Unit 1 the foundation: it depends on nothing and blocks everything.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This version follows the reference decomposition. Compared with the handout’s short version it adds get_member_role, edge-case tests, and an explicit out-of-scope check.
• get_member_role: Unit 2’s permission checks call it, so leaving it out would leave Unit 2 without the function it depends on.
• Edge cases in the criteria: “returns None for a non-member” and “a user in several workspaces” are exactly where a schema like this tends to break. The step-2 slide said good criteria name the edge case. Here is what that looks like.
• “No changes to routes or templates” is a criterion, not just a scope note, because anyone can check it in seconds.
• Why workspace_id is nullable: existing tasks predate workspaces. Unit 2 makes it required when creating tasks through the API.
• seed_demo.py: the names are fixed because Lab 3’s demo relies on that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Each command checks specific criteria. The test run covers the schema, the accessors, and the unmodified original tests. seed_demo.py checks the table and column names match. The last command checks the existing database really gained workspace_id.
• All three run against the database students already have. Nothing is deleted: the point is that Unit 1 has to work with what exists, not just on a fresh start.
• Why the third check matters: adding a column to CREATE TABLE IF NOT EXISTS does nothing to an existing table. Without the migration, the tests pass and seed_demo.py passes, but creating a task in a workspace fails later in Lab 3.
• The contract line is what lets Units 2–4 be written now, before Unit 1 exists: they can call list_workspaces_for_user() and get_member_role() by name.
• Transition: “Now you write Units 2–4 the same way.” That is Lab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Left: the parts of the feature request that Unit 1 answers, unedited. Right: the Unit 1 description from the reference decomposition, word for word.
• Highlights match across the two sides. Blue (workspaces, every task in exactly one) becomes the workspace table, the task.workspace_id column, and create_workspace. Teal (users in multiple workspaces) becomes the join table, add_member, and list_workspaces_for_user. Purple (admin or member) becomes the role column and get_member_role. Orange (the dependency note) becomes the first sentence: this is the foundation.
• Unhighlighted parts of the request, like what admins and members are allowed to do, are API behavior for Unit 2. Deciding what this unit leaves out is part of decomposing.
• Unhighlighted parts of the description (app/db.py, the existing style, keeping current rows working, migrating the existing taskboard.db) are not in the request at all. You only get them by reading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Same unit, next step: the description says what to build; the criteria say how you will know it is done.
• The method is one question per piece of the description. Read the middle column aloud; the criterion is just the answer written as pass/fail.
• Rows 2, 5, and 6 come from what the description protects or has to live with (current rows, the existing style and files), not from what it adds. Every unit needs a “don’t break it” check and a “stay in your lane” check.
• Row 3 shows how to make a criterion sharper: “behave as named” alone is vague, so it names the trickiest case (get_member_role returns None for a non-member).
• Row 4: listing across several workspaces and roles are the behaviors most likely to break (they trace back to “users can belong to multiple workspaces” and “admin or member” in the request), so the new test file must prove them.
• Row 6: the database students created in step 0 is still there. Adding a column to CREATE TABLE IF NOT EXISTS does nothing to an existing table, so the unit must migrate it, and the criterion checks against the real database instead of deleting it.
• The right column is the reference decomposition’s criteria, word for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Text 0"/>
          <p:cNvSpPr txBox="1"/>
          <p:nvPr/>
        </p:nvSpPr>
        <p:spPr>
          <a:xfrm>
            <a:off x="731520" y="1920240"/>
            <a:ext cx="10698480" cy="2011680"/>
          </a:xfrm>
          <a:prstGeom prst="rect">
            <a:avLst/>
          </a:prstGeom>
          <a:noFill/>
          <a:ln/>
        </p:spPr>
        <p:txBody>
          <a:bodyPr wrap="square" lIns="0" tIns="0" rIns="0" bIns="0" rtlCol="0" anchor="ctr"/>
          <a:lstStyle/>
          <a:p>
            <a:pPr marL="0" indent="0">
              <a:lnSpc>
                <a:spcPct val="105000"/>
              </a:lnSpc>
              <a:buNone/>
            </a:pPr>
            <a:r>
              <a:rPr lang="en-US" sz="4000" b="1" dirty="0">
                <a:solidFill>
                  <a:srgbClr val="FFFFFF"/>
                </a:solidFill>
                <a:latin typeface="Cambria" pitchFamily="34" charset="0"/>
                <a:ea typeface="Cambria" pitchFamily="34" charset="-122"/>
                <a:cs typeface="Cambria" pitchFamily="34" charset="-120"/>
              </a:rPr>
              <a:t>Orchestration Fundamentals</a:t>
            </a:r>
            <a:endParaRPr lang="en-US" sz="4000" dirty="0"/>
          </a:p>
          <a:p>
            <a:pPr marL="0" indent="0">
              <a:lnSpc>
                <a:spcPct val="105000"/>
              </a:lnSpc>
              <a:buNone/>
            </a:pPr>
            <a:r>
              <a:rPr lang="en-US" sz="4000" b="1" dirty="0">
                <a:solidFill>
                  <a:srgbClr val="FFFFFF"/>
                </a:solidFill>
                <a:latin typeface="Cambria" pitchFamily="34" charset="0"/>
                <a:ea typeface="Cambria" pitchFamily="34" charset="-122"/>
                <a:cs typeface="Cambria" pitchFamily="34" charset="-120"/>
              </a:rPr>
              <a:t>for Agentic Development</a:t>
            </a:r>
            <a:endParaRPr lang="en-US" sz="4000" dirty="0"/>
          </a:p>
        </p:txBody>
      </p:sp>
      <p:sp>
        <p:nvSpPr>
          <p:cNvPr id="3" name="Text 1"/>
          <p:cNvSpPr txBox="1"/>
          <p:nvPr/>
        </p:nvSpPr>
        <p:spPr>
          <a:xfrm>
            <a:off x="731520" y="3794760"/>
            <a:ext cx="9601200" cy="548640"/>
          </a:xfrm>
          <a:prstGeom prst="rect">
            <a:avLst/>
          </a:prstGeom>
          <a:noFill/>
          <a:ln/>
        </p:spPr>
        <p:txBody>
          <a:bodyPr wrap="square" lIns="0" tIns="0" rIns="0" bIns="0" rtlCol="0" anchor="ctr"/>
          <a:lstStyle/>
          <a:p>
            <a:pPr marL="0" indent="0">
              <a:buNone/>
            </a:pPr>
            <a:r>
              <a:rPr lang="en-US" sz="1800" i="1" dirty="0">
                <a:solidFill>
                  <a:srgbClr val="CADCFC"/>
                </a:solidFill>
                <a:latin typeface="Calibri" pitchFamily="34" charset="0"/>
                <a:ea typeface="Calibri" pitchFamily="34" charset="-122"/>
                <a:cs typeface="Calibri" pitchFamily="34" charset="-120"/>
              </a:rPr>
              <a:t>Planning and running multi-agent development work with Claude Code</a:t>
            </a:r>
            <a:endParaRPr lang="en-US" sz="1800" dirty="0"/>
          </a:p>
        </p:txBody>
      </p:sp>
      <p:sp>
        <p:nvSpPr>
          <p:cNvPr id="4" name="Text 2"/>
          <p:cNvSpPr txBox="1"/>
          <p:nvPr/>
        </p:nvSpPr>
        <p:spPr>
          <a:xfrm>
            <a:off x="731520" y="6035040"/>
            <a:ext cx="9144000" cy="365760"/>
          </a:xfrm>
          <a:prstGeom prst="rect">
            <a:avLst/>
          </a:prstGeom>
          <a:noFill/>
          <a:ln/>
        </p:spPr>
        <p:txBody>
          <a:bodyPr wrap="square" lIns="0" tIns="0" rIns="0" bIns="0" rtlCol="0" anchor="ctr"/>
          <a:lstStyle/>
          <a:p>
            <a:pPr marL="0" indent="0">
              <a:buNone/>
            </a:pPr>
            <a:r>
              <a:rPr lang="en-US" sz="1300" dirty="0">
                <a:solidFill>
                  <a:srgbClr val="CADCFC"/>
                </a:solidFill>
                <a:latin typeface="Calibri" pitchFamily="34" charset="0"/>
                <a:ea typeface="Calibri" pitchFamily="34" charset="-122"/>
                <a:cs typeface="Calibri" pitchFamily="34" charset="-120"/>
              </a:rPr>
              <a:t>Pluralsight  |  Intuit  |  4-hour hands-on session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7315200" cy="365760"/>
          </a:xfrm>
          <a:prstGeom prst="rect">
            <a:avLst/>
          </a:prstGeom>
          <a:noFill/>
          <a:ln/>
        </p:spPr>
        <p:txBody>
          <a:bodyPr wrap="square" lIns="0" tIns="0" rIns="0" bIns="0" rtlCol="0" anchor="ctr"/>
          <a:lstStyle/>
          <a:p>
            <a:pPr marL="0" indent="0">
              <a:buNone/>
            </a:pPr>
            <a:r>
              <a:rPr lang="en-US" sz="1200" b="1" kern="0" spc="200" dirty="0">
                <a:solidFill>
                  <a:srgbClr val="1E2761"/>
                </a:solidFill>
                <a:latin typeface="Calibri" pitchFamily="34" charset="0"/>
                <a:ea typeface="Calibri" pitchFamily="34" charset="-122"/>
                <a:cs typeface="Calibri" pitchFamily="34" charset="-120"/>
              </a:rPr>
              <a:t>TODAY</a:t>
            </a:r>
            <a:endParaRPr lang="en-US" sz="1200" dirty="0"/>
          </a:p>
        </p:txBody>
      </p:sp>
      <p:sp>
        <p:nvSpPr>
          <p:cNvPr id="3" name="Text 1"/>
          <p:cNvSpPr txBox="1"/>
          <p:nvPr/>
        </p:nvSpPr>
        <p:spPr>
          <a:xfrm>
            <a:off x="548640" y="685800"/>
            <a:ext cx="7315200" cy="640080"/>
          </a:xfrm>
          <a:prstGeom prst="rect">
            <a:avLst/>
          </a:prstGeom>
          <a:noFill/>
          <a:ln/>
        </p:spPr>
        <p:txBody>
          <a:bodyPr wrap="square" lIns="0" tIns="0" rIns="0" bIns="0" rtlCol="0" anchor="ctr"/>
          <a:lstStyle/>
          <a:p>
            <a:pPr marL="0" indent="0">
              <a:buNone/>
            </a:pPr>
            <a:r>
              <a:rPr lang="en-US" sz="3200" b="1" dirty="0">
                <a:solidFill>
                  <a:srgbClr val="1B1B2A"/>
                </a:solidFill>
                <a:latin typeface="Cambria" pitchFamily="34" charset="0"/>
                <a:ea typeface="Cambria" pitchFamily="34" charset="-122"/>
                <a:cs typeface="Cambria" pitchFamily="34" charset="-120"/>
              </a:rPr>
              <a:t>Agenda</a:t>
            </a:r>
            <a:endParaRPr lang="en-US" sz="3200" dirty="0"/>
          </a:p>
        </p:txBody>
      </p:sp>
      <p:sp>
        <p:nvSpPr>
          <p:cNvPr id="4" name="Shape 2"/>
          <p:cNvSpPr/>
          <p:nvPr/>
        </p:nvSpPr>
        <p:spPr>
          <a:xfrm>
            <a:off x="548640" y="1600200"/>
            <a:ext cx="11064240" cy="566928"/>
          </a:xfrm>
          <a:prstGeom prst="roundRect">
            <a:avLst>
              <a:gd name="adj" fmla="val 12903"/>
            </a:avLst>
          </a:prstGeom>
          <a:solidFill>
            <a:srgbClr val="F4F6FB"/>
          </a:solidFill>
          <a:ln/>
        </p:spPr>
        <p:txBody>
          <a:bodyPr/>
          <a:lstStyle/>
          <a:p>
            <a:endParaRPr lang="en-US"/>
          </a:p>
        </p:txBody>
      </p:sp>
      <p:sp>
        <p:nvSpPr>
          <p:cNvPr id="5" name="Text 3"/>
          <p:cNvSpPr txBox="1"/>
          <p:nvPr/>
        </p:nvSpPr>
        <p:spPr>
          <a:xfrm>
            <a:off x="822960" y="1600200"/>
            <a:ext cx="1188720" cy="566928"/>
          </a:xfrm>
          <a:prstGeom prst="rect">
            <a:avLst/>
          </a:prstGeom>
          <a:noFill/>
          <a:ln/>
        </p:spPr>
        <p:txBody>
          <a:bodyPr wrap="square" lIns="0" tIns="0" rIns="0" bIns="0"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0:00</a:t>
            </a:r>
            <a:endParaRPr lang="en-US" sz="1500" dirty="0"/>
          </a:p>
        </p:txBody>
      </p:sp>
      <p:sp>
        <p:nvSpPr>
          <p:cNvPr id="6" name="Text 4"/>
          <p:cNvSpPr txBox="1"/>
          <p:nvPr/>
        </p:nvSpPr>
        <p:spPr>
          <a:xfrm>
            <a:off x="2103120" y="1600200"/>
            <a:ext cx="9326880" cy="566928"/>
          </a:xfrm>
          <a:prstGeom prst="rect">
            <a:avLst/>
          </a:prstGeom>
          <a:noFill/>
          <a:ln/>
        </p:spPr>
        <p:txBody>
          <a:bodyPr wrap="square" lIns="0" tIns="0" rIns="0" bIns="0" rtlCol="0" anchor="ctr"/>
          <a:lstStyle/>
          <a:p>
            <a:pPr marL="0" indent="0">
              <a:buNone/>
            </a:pPr>
            <a:r>
              <a:rPr lang="en-US" sz="1500" dirty="0">
                <a:solidFill>
                  <a:srgbClr val="1B1B2A"/>
                </a:solidFill>
                <a:latin typeface="Calibri" pitchFamily="34" charset="0"/>
                <a:ea typeface="Calibri" pitchFamily="34" charset="-122"/>
                <a:cs typeface="Calibri" pitchFamily="34" charset="-120"/>
              </a:rPr>
              <a:t>Kickoff &amp; environment check</a:t>
            </a:r>
            <a:endParaRPr lang="en-US" sz="1500" dirty="0"/>
          </a:p>
        </p:txBody>
      </p:sp>
      <p:sp>
        <p:nvSpPr>
          <p:cNvPr id="7" name="Shape 5"/>
          <p:cNvSpPr/>
          <p:nvPr/>
        </p:nvSpPr>
        <p:spPr>
          <a:xfrm>
            <a:off x="548640" y="2258568"/>
            <a:ext cx="11064240" cy="566928"/>
          </a:xfrm>
          <a:prstGeom prst="roundRect">
            <a:avLst>
              <a:gd name="adj" fmla="val 12903"/>
            </a:avLst>
          </a:prstGeom>
          <a:solidFill>
            <a:srgbClr val="F4F6FB"/>
          </a:solidFill>
          <a:ln/>
        </p:spPr>
        <p:txBody>
          <a:bodyPr/>
          <a:lstStyle/>
          <a:p>
            <a:endParaRPr lang="en-US"/>
          </a:p>
        </p:txBody>
      </p:sp>
      <p:sp>
        <p:nvSpPr>
          <p:cNvPr id="8" name="Text 6"/>
          <p:cNvSpPr txBox="1"/>
          <p:nvPr/>
        </p:nvSpPr>
        <p:spPr>
          <a:xfrm>
            <a:off x="822960" y="2258568"/>
            <a:ext cx="1188720" cy="566928"/>
          </a:xfrm>
          <a:prstGeom prst="rect">
            <a:avLst/>
          </a:prstGeom>
          <a:noFill/>
          <a:ln/>
        </p:spPr>
        <p:txBody>
          <a:bodyPr wrap="square" lIns="0" tIns="0" rIns="0" bIns="0"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0:15</a:t>
            </a:r>
            <a:endParaRPr lang="en-US" sz="1500" dirty="0"/>
          </a:p>
        </p:txBody>
      </p:sp>
      <p:sp>
        <p:nvSpPr>
          <p:cNvPr id="9" name="Text 7"/>
          <p:cNvSpPr txBox="1"/>
          <p:nvPr/>
        </p:nvSpPr>
        <p:spPr>
          <a:xfrm>
            <a:off x="2103120" y="2258568"/>
            <a:ext cx="9326880" cy="566928"/>
          </a:xfrm>
          <a:prstGeom prst="rect">
            <a:avLst/>
          </a:prstGeom>
          <a:noFill/>
          <a:ln/>
        </p:spPr>
        <p:txBody>
          <a:bodyPr wrap="square" lIns="0" tIns="0" rIns="0" bIns="0" rtlCol="0" anchor="ctr"/>
          <a:lstStyle/>
          <a:p>
            <a:pPr marL="0" indent="0">
              <a:buNone/>
            </a:pPr>
            <a:r>
              <a:rPr lang="en-US" sz="1500" dirty="0">
                <a:solidFill>
                  <a:srgbClr val="1B1B2A"/>
                </a:solidFill>
                <a:latin typeface="Calibri" pitchFamily="34" charset="0"/>
                <a:ea typeface="Calibri" pitchFamily="34" charset="-122"/>
                <a:cs typeface="Calibri" pitchFamily="34" charset="-120"/>
              </a:rPr>
              <a:t>Module 1 — Decomposing Complex Features (lecture + lab)</a:t>
            </a:r>
            <a:endParaRPr lang="en-US" sz="1500" dirty="0"/>
          </a:p>
        </p:txBody>
      </p:sp>
      <p:sp>
        <p:nvSpPr>
          <p:cNvPr id="10" name="Shape 8"/>
          <p:cNvSpPr/>
          <p:nvPr/>
        </p:nvSpPr>
        <p:spPr>
          <a:xfrm>
            <a:off x="548640" y="2916936"/>
            <a:ext cx="11064240" cy="566928"/>
          </a:xfrm>
          <a:prstGeom prst="roundRect">
            <a:avLst>
              <a:gd name="adj" fmla="val 12903"/>
            </a:avLst>
          </a:prstGeom>
          <a:solidFill>
            <a:srgbClr val="FFFFFF"/>
          </a:solidFill>
          <a:ln/>
        </p:spPr>
        <p:txBody>
          <a:bodyPr/>
          <a:lstStyle/>
          <a:p>
            <a:endParaRPr lang="en-US"/>
          </a:p>
        </p:txBody>
      </p:sp>
      <p:sp>
        <p:nvSpPr>
          <p:cNvPr id="11" name="Text 9"/>
          <p:cNvSpPr txBox="1"/>
          <p:nvPr/>
        </p:nvSpPr>
        <p:spPr>
          <a:xfrm>
            <a:off x="822960" y="2916936"/>
            <a:ext cx="1188720" cy="566928"/>
          </a:xfrm>
          <a:prstGeom prst="rect">
            <a:avLst/>
          </a:prstGeom>
          <a:noFill/>
          <a:ln/>
        </p:spPr>
        <p:txBody>
          <a:bodyPr wrap="square" lIns="0" tIns="0" rIns="0" bIns="0"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1:15</a:t>
            </a:r>
            <a:endParaRPr lang="en-US" sz="1500" dirty="0"/>
          </a:p>
        </p:txBody>
      </p:sp>
      <p:sp>
        <p:nvSpPr>
          <p:cNvPr id="12" name="Text 10"/>
          <p:cNvSpPr txBox="1"/>
          <p:nvPr/>
        </p:nvSpPr>
        <p:spPr>
          <a:xfrm>
            <a:off x="2103120" y="2916936"/>
            <a:ext cx="9326880" cy="566928"/>
          </a:xfrm>
          <a:prstGeom prst="rect">
            <a:avLst/>
          </a:prstGeom>
          <a:noFill/>
          <a:ln/>
        </p:spPr>
        <p:txBody>
          <a:bodyPr wrap="square" lIns="0" tIns="0" rIns="0" bIns="0" rtlCol="0" anchor="ctr"/>
          <a:lstStyle/>
          <a:p>
            <a:pPr marL="0" indent="0">
              <a:buNone/>
            </a:pPr>
            <a:r>
              <a:rPr lang="en-US" sz="1500" i="1" dirty="0">
                <a:solidFill>
                  <a:srgbClr val="5B6472"/>
                </a:solidFill>
                <a:latin typeface="Calibri" pitchFamily="34" charset="0"/>
                <a:ea typeface="Calibri" pitchFamily="34" charset="-122"/>
                <a:cs typeface="Calibri" pitchFamily="34" charset="-120"/>
              </a:rPr>
              <a:t>Break</a:t>
            </a:r>
            <a:endParaRPr lang="en-US" sz="1500" dirty="0"/>
          </a:p>
        </p:txBody>
      </p:sp>
      <p:sp>
        <p:nvSpPr>
          <p:cNvPr id="13" name="Shape 11"/>
          <p:cNvSpPr/>
          <p:nvPr/>
        </p:nvSpPr>
        <p:spPr>
          <a:xfrm>
            <a:off x="548640" y="3575304"/>
            <a:ext cx="11064240" cy="566928"/>
          </a:xfrm>
          <a:prstGeom prst="roundRect">
            <a:avLst>
              <a:gd name="adj" fmla="val 12903"/>
            </a:avLst>
          </a:prstGeom>
          <a:solidFill>
            <a:srgbClr val="F4F6FB"/>
          </a:solidFill>
          <a:ln/>
        </p:spPr>
        <p:txBody>
          <a:bodyPr/>
          <a:lstStyle/>
          <a:p>
            <a:endParaRPr lang="en-US"/>
          </a:p>
        </p:txBody>
      </p:sp>
      <p:sp>
        <p:nvSpPr>
          <p:cNvPr id="14" name="Text 12"/>
          <p:cNvSpPr txBox="1"/>
          <p:nvPr/>
        </p:nvSpPr>
        <p:spPr>
          <a:xfrm>
            <a:off x="822960" y="3575304"/>
            <a:ext cx="1188720" cy="566928"/>
          </a:xfrm>
          <a:prstGeom prst="rect">
            <a:avLst/>
          </a:prstGeom>
          <a:noFill/>
          <a:ln/>
        </p:spPr>
        <p:txBody>
          <a:bodyPr wrap="square" lIns="0" tIns="0" rIns="0" bIns="0"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1:25</a:t>
            </a:r>
            <a:endParaRPr lang="en-US" sz="1500" dirty="0"/>
          </a:p>
        </p:txBody>
      </p:sp>
      <p:sp>
        <p:nvSpPr>
          <p:cNvPr id="15" name="Text 13"/>
          <p:cNvSpPr txBox="1"/>
          <p:nvPr/>
        </p:nvSpPr>
        <p:spPr>
          <a:xfrm>
            <a:off x="2103120" y="3575304"/>
            <a:ext cx="9326880" cy="566928"/>
          </a:xfrm>
          <a:prstGeom prst="rect">
            <a:avLst/>
          </a:prstGeom>
          <a:noFill/>
          <a:ln/>
        </p:spPr>
        <p:txBody>
          <a:bodyPr wrap="square" lIns="0" tIns="0" rIns="0" bIns="0" rtlCol="0" anchor="ctr"/>
          <a:lstStyle/>
          <a:p>
            <a:pPr marL="0" indent="0">
              <a:buNone/>
            </a:pPr>
            <a:r>
              <a:rPr lang="en-US" sz="1500" dirty="0">
                <a:solidFill>
                  <a:srgbClr val="1B1B2A"/>
                </a:solidFill>
                <a:latin typeface="Calibri" pitchFamily="34" charset="0"/>
                <a:ea typeface="Calibri" pitchFamily="34" charset="-122"/>
                <a:cs typeface="Calibri" pitchFamily="34" charset="-120"/>
              </a:rPr>
              <a:t>Module 2 — Model Selection Strategy (lecture + lab)</a:t>
            </a:r>
            <a:endParaRPr lang="en-US" sz="1500" dirty="0"/>
          </a:p>
        </p:txBody>
      </p:sp>
      <p:sp>
        <p:nvSpPr>
          <p:cNvPr id="16" name="Shape 14"/>
          <p:cNvSpPr/>
          <p:nvPr/>
        </p:nvSpPr>
        <p:spPr>
          <a:xfrm>
            <a:off x="548640" y="4233672"/>
            <a:ext cx="11064240" cy="566928"/>
          </a:xfrm>
          <a:prstGeom prst="roundRect">
            <a:avLst>
              <a:gd name="adj" fmla="val 12903"/>
            </a:avLst>
          </a:prstGeom>
          <a:solidFill>
            <a:srgbClr val="FFFFFF"/>
          </a:solidFill>
          <a:ln/>
        </p:spPr>
        <p:txBody>
          <a:bodyPr/>
          <a:lstStyle/>
          <a:p>
            <a:endParaRPr lang="en-US"/>
          </a:p>
        </p:txBody>
      </p:sp>
      <p:sp>
        <p:nvSpPr>
          <p:cNvPr id="17" name="Text 15"/>
          <p:cNvSpPr txBox="1"/>
          <p:nvPr/>
        </p:nvSpPr>
        <p:spPr>
          <a:xfrm>
            <a:off x="822960" y="4233672"/>
            <a:ext cx="1188720" cy="566928"/>
          </a:xfrm>
          <a:prstGeom prst="rect">
            <a:avLst/>
          </a:prstGeom>
          <a:noFill/>
          <a:ln/>
        </p:spPr>
        <p:txBody>
          <a:bodyPr wrap="square" lIns="0" tIns="0" rIns="0" bIns="0"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2:15</a:t>
            </a:r>
            <a:endParaRPr lang="en-US" sz="1500" dirty="0"/>
          </a:p>
        </p:txBody>
      </p:sp>
      <p:sp>
        <p:nvSpPr>
          <p:cNvPr id="18" name="Text 16"/>
          <p:cNvSpPr txBox="1"/>
          <p:nvPr/>
        </p:nvSpPr>
        <p:spPr>
          <a:xfrm>
            <a:off x="2103120" y="4233672"/>
            <a:ext cx="9326880" cy="566928"/>
          </a:xfrm>
          <a:prstGeom prst="rect">
            <a:avLst/>
          </a:prstGeom>
          <a:noFill/>
          <a:ln/>
        </p:spPr>
        <p:txBody>
          <a:bodyPr wrap="square" lIns="0" tIns="0" rIns="0" bIns="0" rtlCol="0" anchor="ctr"/>
          <a:lstStyle/>
          <a:p>
            <a:pPr marL="0" indent="0">
              <a:buNone/>
            </a:pPr>
            <a:r>
              <a:rPr lang="en-US" sz="1500" i="1" dirty="0">
                <a:solidFill>
                  <a:srgbClr val="5B6472"/>
                </a:solidFill>
                <a:latin typeface="Calibri" pitchFamily="34" charset="0"/>
                <a:ea typeface="Calibri" pitchFamily="34" charset="-122"/>
                <a:cs typeface="Calibri" pitchFamily="34" charset="-120"/>
              </a:rPr>
              <a:t>Break</a:t>
            </a:r>
            <a:endParaRPr lang="en-US" sz="1500" dirty="0"/>
          </a:p>
        </p:txBody>
      </p:sp>
      <p:sp>
        <p:nvSpPr>
          <p:cNvPr id="19" name="Shape 17"/>
          <p:cNvSpPr/>
          <p:nvPr/>
        </p:nvSpPr>
        <p:spPr>
          <a:xfrm>
            <a:off x="548640" y="4892040"/>
            <a:ext cx="11064240" cy="566928"/>
          </a:xfrm>
          <a:prstGeom prst="roundRect">
            <a:avLst>
              <a:gd name="adj" fmla="val 12903"/>
            </a:avLst>
          </a:prstGeom>
          <a:solidFill>
            <a:srgbClr val="F4F6FB"/>
          </a:solidFill>
          <a:ln/>
        </p:spPr>
        <p:txBody>
          <a:bodyPr/>
          <a:lstStyle/>
          <a:p>
            <a:endParaRPr lang="en-US"/>
          </a:p>
        </p:txBody>
      </p:sp>
      <p:sp>
        <p:nvSpPr>
          <p:cNvPr id="20" name="Text 18"/>
          <p:cNvSpPr txBox="1"/>
          <p:nvPr/>
        </p:nvSpPr>
        <p:spPr>
          <a:xfrm>
            <a:off x="822960" y="4892040"/>
            <a:ext cx="1188720" cy="566928"/>
          </a:xfrm>
          <a:prstGeom prst="rect">
            <a:avLst/>
          </a:prstGeom>
          <a:noFill/>
          <a:ln/>
        </p:spPr>
        <p:txBody>
          <a:bodyPr wrap="square" lIns="0" tIns="0" rIns="0" bIns="0"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2:25</a:t>
            </a:r>
            <a:endParaRPr lang="en-US" sz="1500" dirty="0"/>
          </a:p>
        </p:txBody>
      </p:sp>
      <p:sp>
        <p:nvSpPr>
          <p:cNvPr id="21" name="Text 19"/>
          <p:cNvSpPr txBox="1"/>
          <p:nvPr/>
        </p:nvSpPr>
        <p:spPr>
          <a:xfrm>
            <a:off x="2103120" y="4892040"/>
            <a:ext cx="9326880" cy="566928"/>
          </a:xfrm>
          <a:prstGeom prst="rect">
            <a:avLst/>
          </a:prstGeom>
          <a:noFill/>
          <a:ln/>
        </p:spPr>
        <p:txBody>
          <a:bodyPr wrap="square" lIns="0" tIns="0" rIns="0" bIns="0" rtlCol="0" anchor="ctr"/>
          <a:lstStyle/>
          <a:p>
            <a:pPr marL="0" indent="0">
              <a:buNone/>
            </a:pPr>
            <a:r>
              <a:rPr lang="en-US" sz="1500" dirty="0">
                <a:solidFill>
                  <a:srgbClr val="1B1B2A"/>
                </a:solidFill>
                <a:latin typeface="Calibri" pitchFamily="34" charset="0"/>
                <a:ea typeface="Calibri" pitchFamily="34" charset="-122"/>
                <a:cs typeface="Calibri" pitchFamily="34" charset="-120"/>
              </a:rPr>
              <a:t>Module 3 — Orchestrating Multiple Agent Sessions (lecture + lab)</a:t>
            </a:r>
            <a:endParaRPr lang="en-US" sz="1500" dirty="0"/>
          </a:p>
        </p:txBody>
      </p:sp>
      <p:sp>
        <p:nvSpPr>
          <p:cNvPr id="22" name="Shape 20"/>
          <p:cNvSpPr/>
          <p:nvPr/>
        </p:nvSpPr>
        <p:spPr>
          <a:xfrm>
            <a:off x="548640" y="5550408"/>
            <a:ext cx="11064240" cy="566928"/>
          </a:xfrm>
          <a:prstGeom prst="roundRect">
            <a:avLst>
              <a:gd name="adj" fmla="val 12903"/>
            </a:avLst>
          </a:prstGeom>
          <a:solidFill>
            <a:srgbClr val="F4F6FB"/>
          </a:solidFill>
          <a:ln/>
        </p:spPr>
        <p:txBody>
          <a:bodyPr/>
          <a:lstStyle/>
          <a:p>
            <a:endParaRPr lang="en-US"/>
          </a:p>
        </p:txBody>
      </p:sp>
      <p:sp>
        <p:nvSpPr>
          <p:cNvPr id="23" name="Text 21"/>
          <p:cNvSpPr txBox="1"/>
          <p:nvPr/>
        </p:nvSpPr>
        <p:spPr>
          <a:xfrm>
            <a:off x="822960" y="5550408"/>
            <a:ext cx="1188720" cy="566928"/>
          </a:xfrm>
          <a:prstGeom prst="rect">
            <a:avLst/>
          </a:prstGeom>
          <a:noFill/>
          <a:ln/>
        </p:spPr>
        <p:txBody>
          <a:bodyPr wrap="square" lIns="0" tIns="0" rIns="0" bIns="0"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3:45</a:t>
            </a:r>
            <a:endParaRPr lang="en-US" sz="1500" dirty="0"/>
          </a:p>
        </p:txBody>
      </p:sp>
      <p:sp>
        <p:nvSpPr>
          <p:cNvPr id="24" name="Text 22"/>
          <p:cNvSpPr txBox="1"/>
          <p:nvPr/>
        </p:nvSpPr>
        <p:spPr>
          <a:xfrm>
            <a:off x="2103120" y="5550408"/>
            <a:ext cx="9326880" cy="566928"/>
          </a:xfrm>
          <a:prstGeom prst="rect">
            <a:avLst/>
          </a:prstGeom>
          <a:noFill/>
          <a:ln/>
        </p:spPr>
        <p:txBody>
          <a:bodyPr wrap="square" lIns="0" tIns="0" rIns="0" bIns="0" rtlCol="0" anchor="ctr"/>
          <a:lstStyle/>
          <a:p>
            <a:pPr marL="0" indent="0">
              <a:buNone/>
            </a:pPr>
            <a:r>
              <a:rPr lang="en-US" sz="1500" dirty="0">
                <a:solidFill>
                  <a:srgbClr val="1B1B2A"/>
                </a:solidFill>
                <a:latin typeface="Calibri" pitchFamily="34" charset="0"/>
                <a:ea typeface="Calibri" pitchFamily="34" charset="-122"/>
                <a:cs typeface="Calibri" pitchFamily="34" charset="-120"/>
              </a:rPr>
              <a:t>Wrap-up &amp; Q&amp;A</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7315200" cy="365760"/>
          </a:xfrm>
          <a:prstGeom prst="rect">
            <a:avLst/>
          </a:prstGeom>
          <a:noFill/>
          <a:ln/>
        </p:spPr>
        <p:txBody>
          <a:bodyPr wrap="square" lIns="0" tIns="0" rIns="0" bIns="0" rtlCol="0" anchor="ctr"/>
          <a:lstStyle/>
          <a:p>
            <a:pPr marL="0" indent="0">
              <a:buNone/>
            </a:pPr>
            <a:r>
              <a:rPr lang="en-US" sz="1200" b="1" kern="0" spc="200" dirty="0">
                <a:solidFill>
                  <a:srgbClr val="1E2761"/>
                </a:solidFill>
                <a:latin typeface="Calibri" pitchFamily="34" charset="0"/>
                <a:ea typeface="Calibri" pitchFamily="34" charset="-122"/>
                <a:cs typeface="Calibri" pitchFamily="34" charset="-120"/>
              </a:rPr>
              <a:t>BY THE END OF TODAY</a:t>
            </a:r>
            <a:endParaRPr lang="en-US" sz="1200" dirty="0"/>
          </a:p>
        </p:txBody>
      </p:sp>
      <p:sp>
        <p:nvSpPr>
          <p:cNvPr id="3" name="Text 1"/>
          <p:cNvSpPr txBox="1"/>
          <p:nvPr/>
        </p:nvSpPr>
        <p:spPr>
          <a:xfrm>
            <a:off x="548640" y="685800"/>
            <a:ext cx="9144000" cy="640080"/>
          </a:xfrm>
          <a:prstGeom prst="rect">
            <a:avLst/>
          </a:prstGeom>
          <a:noFill/>
          <a:ln/>
        </p:spPr>
        <p:txBody>
          <a:bodyPr wrap="square" lIns="0" tIns="0" rIns="0" bIns="0" rtlCol="0" anchor="ctr"/>
          <a:lstStyle/>
          <a:p>
            <a:pPr marL="0" indent="0">
              <a:buNone/>
            </a:pPr>
            <a:r>
              <a:rPr lang="en-US" sz="3200" b="1" dirty="0">
                <a:solidFill>
                  <a:srgbClr val="1B1B2A"/>
                </a:solidFill>
                <a:latin typeface="Cambria" pitchFamily="34" charset="0"/>
                <a:ea typeface="Cambria" pitchFamily="34" charset="-122"/>
                <a:cs typeface="Cambria" pitchFamily="34" charset="-120"/>
              </a:rPr>
              <a:t>Learning Objectives</a:t>
            </a:r>
            <a:endParaRPr lang="en-US" sz="3200" dirty="0"/>
          </a:p>
        </p:txBody>
      </p:sp>
      <p:sp>
        <p:nvSpPr>
          <p:cNvPr id="4" name="Shape 2"/>
          <p:cNvSpPr/>
          <p:nvPr/>
        </p:nvSpPr>
        <p:spPr>
          <a:xfrm>
            <a:off x="640080" y="1828800"/>
            <a:ext cx="502920" cy="502920"/>
          </a:xfrm>
          <a:prstGeom prst="ellipse">
            <a:avLst/>
          </a:prstGeom>
          <a:solidFill>
            <a:srgbClr val="1E2761"/>
          </a:solidFill>
          <a:ln/>
        </p:spPr>
        <p:txBody>
          <a:bodyPr/>
          <a:lstStyle/>
          <a:p>
            <a:endParaRPr lang="en-US"/>
          </a:p>
        </p:txBody>
      </p:sp>
      <p:sp>
        <p:nvSpPr>
          <p:cNvPr id="5" name="Text 3"/>
          <p:cNvSpPr txBox="1"/>
          <p:nvPr/>
        </p:nvSpPr>
        <p:spPr>
          <a:xfrm>
            <a:off x="640080" y="182880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6" name="Text 4"/>
          <p:cNvSpPr txBox="1"/>
          <p:nvPr/>
        </p:nvSpPr>
        <p:spPr>
          <a:xfrm>
            <a:off x="1417320" y="1783080"/>
            <a:ext cx="9875520" cy="685800"/>
          </a:xfrm>
          <a:prstGeom prst="rect">
            <a:avLst/>
          </a:prstGeom>
          <a:noFill/>
          <a:ln/>
        </p:spPr>
        <p:txBody>
          <a:bodyPr wrap="square" lIns="0" tIns="0" rIns="0" bIns="0" rtlCol="0" anchor="ctr"/>
          <a:lstStyle/>
          <a:p>
            <a:pPr marL="0" indent="0">
              <a:buNone/>
            </a:pPr>
            <a:r>
              <a:rPr lang="en-US" sz="1700" dirty="0">
                <a:solidFill>
                  <a:srgbClr val="1B1B2A"/>
                </a:solidFill>
                <a:latin typeface="Calibri" pitchFamily="34" charset="0"/>
                <a:ea typeface="Calibri" pitchFamily="34" charset="-122"/>
                <a:cs typeface="Calibri" pitchFamily="34" charset="-120"/>
              </a:rPr>
              <a:t>Break down complex features into units of work suited for agent execution</a:t>
            </a:r>
            <a:endParaRPr lang="en-US" sz="1700" dirty="0"/>
          </a:p>
        </p:txBody>
      </p:sp>
      <p:sp>
        <p:nvSpPr>
          <p:cNvPr id="7" name="Shape 5"/>
          <p:cNvSpPr/>
          <p:nvPr/>
        </p:nvSpPr>
        <p:spPr>
          <a:xfrm>
            <a:off x="640080" y="2880360"/>
            <a:ext cx="502920" cy="502920"/>
          </a:xfrm>
          <a:prstGeom prst="ellipse">
            <a:avLst/>
          </a:prstGeom>
          <a:solidFill>
            <a:srgbClr val="1E2761"/>
          </a:solidFill>
          <a:ln/>
        </p:spPr>
        <p:txBody>
          <a:bodyPr/>
          <a:lstStyle/>
          <a:p>
            <a:endParaRPr lang="en-US"/>
          </a:p>
        </p:txBody>
      </p:sp>
      <p:sp>
        <p:nvSpPr>
          <p:cNvPr id="8" name="Text 6"/>
          <p:cNvSpPr txBox="1"/>
          <p:nvPr/>
        </p:nvSpPr>
        <p:spPr>
          <a:xfrm>
            <a:off x="640080" y="288036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9" name="Text 7"/>
          <p:cNvSpPr txBox="1"/>
          <p:nvPr/>
        </p:nvSpPr>
        <p:spPr>
          <a:xfrm>
            <a:off x="1417320" y="2834640"/>
            <a:ext cx="9875520" cy="685800"/>
          </a:xfrm>
          <a:prstGeom prst="rect">
            <a:avLst/>
          </a:prstGeom>
          <a:noFill/>
          <a:ln/>
        </p:spPr>
        <p:txBody>
          <a:bodyPr wrap="square" lIns="0" tIns="0" rIns="0" bIns="0" rtlCol="0" anchor="ctr"/>
          <a:lstStyle/>
          <a:p>
            <a:pPr marL="0" indent="0">
              <a:buNone/>
            </a:pPr>
            <a:r>
              <a:rPr lang="en-US" sz="1700" dirty="0">
                <a:solidFill>
                  <a:srgbClr val="1B1B2A"/>
                </a:solidFill>
                <a:latin typeface="Calibri" pitchFamily="34" charset="0"/>
                <a:ea typeface="Calibri" pitchFamily="34" charset="-122"/>
                <a:cs typeface="Calibri" pitchFamily="34" charset="-120"/>
              </a:rPr>
              <a:t>Select an appropriate model for a task based on its complexity, risk, and cost</a:t>
            </a:r>
            <a:endParaRPr lang="en-US" sz="1700" dirty="0"/>
          </a:p>
        </p:txBody>
      </p:sp>
      <p:sp>
        <p:nvSpPr>
          <p:cNvPr id="10" name="Shape 8"/>
          <p:cNvSpPr/>
          <p:nvPr/>
        </p:nvSpPr>
        <p:spPr>
          <a:xfrm>
            <a:off x="640080" y="3931920"/>
            <a:ext cx="502920" cy="502920"/>
          </a:xfrm>
          <a:prstGeom prst="ellipse">
            <a:avLst/>
          </a:prstGeom>
          <a:solidFill>
            <a:srgbClr val="1E2761"/>
          </a:solidFill>
          <a:ln/>
        </p:spPr>
        <p:txBody>
          <a:bodyPr/>
          <a:lstStyle/>
          <a:p>
            <a:endParaRPr lang="en-US"/>
          </a:p>
        </p:txBody>
      </p:sp>
      <p:sp>
        <p:nvSpPr>
          <p:cNvPr id="11" name="Text 9"/>
          <p:cNvSpPr txBox="1"/>
          <p:nvPr/>
        </p:nvSpPr>
        <p:spPr>
          <a:xfrm>
            <a:off x="640080" y="393192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2" name="Text 10"/>
          <p:cNvSpPr txBox="1"/>
          <p:nvPr/>
        </p:nvSpPr>
        <p:spPr>
          <a:xfrm>
            <a:off x="1417320" y="3886200"/>
            <a:ext cx="9875520" cy="685800"/>
          </a:xfrm>
          <a:prstGeom prst="rect">
            <a:avLst/>
          </a:prstGeom>
          <a:noFill/>
          <a:ln/>
        </p:spPr>
        <p:txBody>
          <a:bodyPr wrap="square" lIns="0" tIns="0" rIns="0" bIns="0" rtlCol="0" anchor="ctr"/>
          <a:lstStyle/>
          <a:p>
            <a:pPr marL="0" indent="0">
              <a:buNone/>
            </a:pPr>
            <a:r>
              <a:rPr lang="en-US" sz="1700" dirty="0">
                <a:solidFill>
                  <a:srgbClr val="1B1B2A"/>
                </a:solidFill>
                <a:latin typeface="Calibri" pitchFamily="34" charset="0"/>
                <a:ea typeface="Calibri" pitchFamily="34" charset="-122"/>
                <a:cs typeface="Calibri" pitchFamily="34" charset="-120"/>
              </a:rPr>
              <a:t>Run and coordinate multiple Claude Code sessions on related subtasks</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7315200" cy="365760"/>
          </a:xfrm>
          <a:prstGeom prst="rect">
            <a:avLst/>
          </a:prstGeom>
          <a:noFill/>
          <a:ln/>
        </p:spPr>
        <p:txBody>
          <a:bodyPr wrap="square" lIns="0" tIns="0" rIns="0" bIns="0" rtlCol="0" anchor="ctr"/>
          <a:lstStyle/>
          <a:p>
            <a:pPr marL="0" indent="0">
              <a:buNone/>
            </a:pPr>
            <a:r>
              <a:rPr lang="en-US" sz="1200" b="1" kern="0" spc="200" dirty="0">
                <a:solidFill>
                  <a:srgbClr val="1E2761"/>
                </a:solidFill>
                <a:latin typeface="Calibri" pitchFamily="34" charset="0"/>
                <a:ea typeface="Calibri" pitchFamily="34" charset="-122"/>
                <a:cs typeface="Calibri" pitchFamily="34" charset="-120"/>
              </a:rPr>
              <a:t>BEFORE WE START</a:t>
            </a:r>
            <a:endParaRPr lang="en-US" sz="1200" dirty="0"/>
          </a:p>
        </p:txBody>
      </p:sp>
      <p:sp>
        <p:nvSpPr>
          <p:cNvPr id="3" name="Text 1"/>
          <p:cNvSpPr txBox="1"/>
          <p:nvPr/>
        </p:nvSpPr>
        <p:spPr>
          <a:xfrm>
            <a:off x="548640" y="685800"/>
            <a:ext cx="10515600" cy="640080"/>
          </a:xfrm>
          <a:prstGeom prst="rect">
            <a:avLst/>
          </a:prstGeom>
          <a:noFill/>
          <a:ln/>
        </p:spPr>
        <p:txBody>
          <a:bodyPr wrap="square" lIns="0" tIns="0" rIns="0" bIns="0" rtlCol="0" anchor="ctr"/>
          <a:lstStyle/>
          <a:p>
            <a:pPr marL="0" indent="0">
              <a:buNone/>
            </a:pPr>
            <a:r>
              <a:rPr lang="en-US" sz="3000" b="1" dirty="0">
                <a:solidFill>
                  <a:srgbClr val="1B1B2A"/>
                </a:solidFill>
                <a:latin typeface="Cambria" pitchFamily="34" charset="0"/>
                <a:ea typeface="Cambria" pitchFamily="34" charset="-122"/>
                <a:cs typeface="Cambria" pitchFamily="34" charset="-120"/>
              </a:rPr>
              <a:t>Prerequisites</a:t>
            </a:r>
            <a:endParaRPr lang="en-US" sz="3000" dirty="0"/>
          </a:p>
        </p:txBody>
      </p:sp>
      <p:sp>
        <p:nvSpPr>
          <p:cNvPr id="4" name="Text 2"/>
          <p:cNvSpPr txBox="1"/>
          <p:nvPr/>
        </p:nvSpPr>
        <p:spPr>
          <a:xfrm>
            <a:off x="548640" y="1325880"/>
            <a:ext cx="10972800" cy="457200"/>
          </a:xfrm>
          <a:prstGeom prst="rect">
            <a:avLst/>
          </a:prstGeom>
          <a:noFill/>
          <a:ln/>
        </p:spPr>
        <p:txBody>
          <a:bodyPr wrap="square" lIns="0" tIns="0" rIns="0" bIns="0" rtlCol="0" anchor="ctr"/>
          <a:lstStyle/>
          <a:p>
            <a:pPr marL="0" indent="0">
              <a:buNone/>
            </a:pPr>
            <a:r>
              <a:rPr lang="en-US" sz="1600" i="1" dirty="0">
                <a:solidFill>
                  <a:srgbClr val="5B6472"/>
                </a:solidFill>
                <a:latin typeface="Calibri" pitchFamily="34" charset="0"/>
                <a:ea typeface="Calibri" pitchFamily="34" charset="-122"/>
                <a:cs typeface="Calibri" pitchFamily="34" charset="-120"/>
              </a:rPr>
              <a:t>This session is hands-on from the first hour. Here is what it assumes you bring.</a:t>
            </a:r>
            <a:endParaRPr lang="en-US" sz="1600" dirty="0"/>
          </a:p>
        </p:txBody>
      </p:sp>
      <p:sp>
        <p:nvSpPr>
          <p:cNvPr id="5" name="Shape 3"/>
          <p:cNvSpPr/>
          <p:nvPr/>
        </p:nvSpPr>
        <p:spPr>
          <a:xfrm>
            <a:off x="548640" y="2011680"/>
            <a:ext cx="5394960" cy="4206240"/>
          </a:xfrm>
          <a:prstGeom prst="roundRect">
            <a:avLst>
              <a:gd name="adj" fmla="val 1304"/>
            </a:avLst>
          </a:prstGeom>
          <a:solidFill>
            <a:srgbClr val="F4F6FB"/>
          </a:solidFill>
          <a:ln w="12700">
            <a:solidFill>
              <a:srgbClr val="F4F6FB"/>
            </a:solidFill>
            <a:prstDash val="solid"/>
          </a:ln>
        </p:spPr>
        <p:txBody>
          <a:bodyPr/>
          <a:lstStyle/>
          <a:p>
            <a:endParaRPr lang="en-US"/>
          </a:p>
        </p:txBody>
      </p:sp>
      <p:sp>
        <p:nvSpPr>
          <p:cNvPr id="6" name="Text 4"/>
          <p:cNvSpPr txBox="1"/>
          <p:nvPr/>
        </p:nvSpPr>
        <p:spPr>
          <a:xfrm>
            <a:off x="822960" y="2240280"/>
            <a:ext cx="4572000" cy="274320"/>
          </a:xfrm>
          <a:prstGeom prst="rect">
            <a:avLst/>
          </a:prstGeom>
          <a:noFill/>
          <a:ln/>
        </p:spPr>
        <p:txBody>
          <a:bodyPr wrap="square" lIns="0" tIns="0" rIns="0" bIns="0" rtlCol="0" anchor="ctr"/>
          <a:lstStyle/>
          <a:p>
            <a:pPr marL="0" indent="0">
              <a:buNone/>
            </a:pPr>
            <a:r>
              <a:rPr lang="en-US" sz="1100" b="1" kern="0" spc="200" dirty="0">
                <a:solidFill>
                  <a:srgbClr val="1E2761"/>
                </a:solidFill>
                <a:latin typeface="Calibri" pitchFamily="34" charset="0"/>
                <a:ea typeface="Calibri" pitchFamily="34" charset="-122"/>
                <a:cs typeface="Calibri" pitchFamily="34" charset="-120"/>
              </a:rPr>
              <a:t>EXPERIENCE</a:t>
            </a:r>
            <a:endParaRPr lang="en-US" sz="1100" dirty="0"/>
          </a:p>
        </p:txBody>
      </p:sp>
      <p:sp>
        <p:nvSpPr>
          <p:cNvPr id="7" name="Shape 5"/>
          <p:cNvSpPr/>
          <p:nvPr/>
        </p:nvSpPr>
        <p:spPr>
          <a:xfrm>
            <a:off x="822960" y="2779776"/>
            <a:ext cx="347472" cy="347472"/>
          </a:xfrm>
          <a:prstGeom prst="ellipse">
            <a:avLst/>
          </a:prstGeom>
          <a:solidFill>
            <a:srgbClr val="1E2761"/>
          </a:solidFill>
          <a:ln w="12700">
            <a:solidFill>
              <a:srgbClr val="1E2761"/>
            </a:solidFill>
            <a:prstDash val="solid"/>
          </a:ln>
        </p:spPr>
        <p:txBody>
          <a:bodyPr/>
          <a:lstStyle/>
          <a:p>
            <a:endParaRPr lang="en-US"/>
          </a:p>
        </p:txBody>
      </p:sp>
      <p:sp>
        <p:nvSpPr>
          <p:cNvPr id="8" name="Text 6"/>
          <p:cNvSpPr txBox="1"/>
          <p:nvPr/>
        </p:nvSpPr>
        <p:spPr>
          <a:xfrm>
            <a:off x="822960" y="2779776"/>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txBox="1"/>
          <p:nvPr/>
        </p:nvSpPr>
        <p:spPr>
          <a:xfrm>
            <a:off x="1371600" y="2743200"/>
            <a:ext cx="4389120" cy="365760"/>
          </a:xfrm>
          <a:prstGeom prst="rect">
            <a:avLst/>
          </a:prstGeom>
          <a:noFill/>
          <a:ln/>
        </p:spPr>
        <p:txBody>
          <a:bodyPr wrap="square" lIns="0" tIns="0" rIns="0" bIns="0" rtlCol="0" anchor="ctr"/>
          <a:lstStyle/>
          <a:p>
            <a:pPr marL="0" indent="0">
              <a:buNone/>
            </a:pPr>
            <a:r>
              <a:rPr lang="en-US" sz="1600" b="1" dirty="0">
                <a:solidFill>
                  <a:srgbClr val="1B1B2A"/>
                </a:solidFill>
                <a:latin typeface="Calibri" pitchFamily="34" charset="0"/>
                <a:ea typeface="Calibri" pitchFamily="34" charset="-122"/>
                <a:cs typeface="Calibri" pitchFamily="34" charset="-120"/>
              </a:rPr>
              <a:t>An AI coding assistant</a:t>
            </a:r>
            <a:endParaRPr lang="en-US" sz="1600" dirty="0"/>
          </a:p>
        </p:txBody>
      </p:sp>
      <p:sp>
        <p:nvSpPr>
          <p:cNvPr id="10" name="Text 8"/>
          <p:cNvSpPr txBox="1"/>
          <p:nvPr/>
        </p:nvSpPr>
        <p:spPr>
          <a:xfrm>
            <a:off x="1371600" y="3127248"/>
            <a:ext cx="4389120" cy="548640"/>
          </a:xfrm>
          <a:prstGeom prst="rect">
            <a:avLst/>
          </a:prstGeom>
          <a:noFill/>
          <a:ln/>
        </p:spPr>
        <p:txBody>
          <a:bodyPr wrap="square" lIns="0" tIns="0" rIns="0" bIns="0" rtlCol="0" anchor="t"/>
          <a:lstStyle/>
          <a:p>
            <a:pPr marL="0" indent="0">
              <a:buNone/>
            </a:pPr>
            <a:r>
              <a:rPr lang="en-US" sz="1350" dirty="0">
                <a:solidFill>
                  <a:srgbClr val="5B6472"/>
                </a:solidFill>
                <a:latin typeface="Calibri" pitchFamily="34" charset="0"/>
                <a:ea typeface="Calibri" pitchFamily="34" charset="-122"/>
                <a:cs typeface="Calibri" pitchFamily="34" charset="-120"/>
              </a:rPr>
              <a:t>You have used Claude Code or a similar tool for real development tasks.</a:t>
            </a:r>
            <a:endParaRPr lang="en-US" sz="1350" dirty="0"/>
          </a:p>
        </p:txBody>
      </p:sp>
      <p:sp>
        <p:nvSpPr>
          <p:cNvPr id="11" name="Shape 9"/>
          <p:cNvSpPr/>
          <p:nvPr/>
        </p:nvSpPr>
        <p:spPr>
          <a:xfrm>
            <a:off x="822960" y="3877056"/>
            <a:ext cx="347472" cy="347472"/>
          </a:xfrm>
          <a:prstGeom prst="ellipse">
            <a:avLst/>
          </a:prstGeom>
          <a:solidFill>
            <a:srgbClr val="1E2761"/>
          </a:solidFill>
          <a:ln w="12700">
            <a:solidFill>
              <a:srgbClr val="1E2761"/>
            </a:solidFill>
            <a:prstDash val="solid"/>
          </a:ln>
        </p:spPr>
        <p:txBody>
          <a:bodyPr/>
          <a:lstStyle/>
          <a:p>
            <a:endParaRPr lang="en-US"/>
          </a:p>
        </p:txBody>
      </p:sp>
      <p:sp>
        <p:nvSpPr>
          <p:cNvPr id="12" name="Text 10"/>
          <p:cNvSpPr txBox="1"/>
          <p:nvPr/>
        </p:nvSpPr>
        <p:spPr>
          <a:xfrm>
            <a:off x="822960" y="3877056"/>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txBox="1"/>
          <p:nvPr/>
        </p:nvSpPr>
        <p:spPr>
          <a:xfrm>
            <a:off x="1371600" y="3840480"/>
            <a:ext cx="4389120" cy="365760"/>
          </a:xfrm>
          <a:prstGeom prst="rect">
            <a:avLst/>
          </a:prstGeom>
          <a:noFill/>
          <a:ln/>
        </p:spPr>
        <p:txBody>
          <a:bodyPr wrap="square" lIns="0" tIns="0" rIns="0" bIns="0" rtlCol="0" anchor="ctr"/>
          <a:lstStyle/>
          <a:p>
            <a:pPr marL="0" indent="0">
              <a:buNone/>
            </a:pPr>
            <a:r>
              <a:rPr lang="en-US" sz="1600" b="1" dirty="0">
                <a:solidFill>
                  <a:srgbClr val="1B1B2A"/>
                </a:solidFill>
                <a:latin typeface="Calibri" pitchFamily="34" charset="0"/>
                <a:ea typeface="Calibri" pitchFamily="34" charset="-122"/>
                <a:cs typeface="Calibri" pitchFamily="34" charset="-120"/>
              </a:rPr>
              <a:t>Git branching and merging</a:t>
            </a:r>
            <a:endParaRPr lang="en-US" sz="1600" dirty="0"/>
          </a:p>
        </p:txBody>
      </p:sp>
      <p:sp>
        <p:nvSpPr>
          <p:cNvPr id="14" name="Text 12"/>
          <p:cNvSpPr txBox="1"/>
          <p:nvPr/>
        </p:nvSpPr>
        <p:spPr>
          <a:xfrm>
            <a:off x="1371600" y="4224528"/>
            <a:ext cx="4389120" cy="548640"/>
          </a:xfrm>
          <a:prstGeom prst="rect">
            <a:avLst/>
          </a:prstGeom>
          <a:noFill/>
          <a:ln/>
        </p:spPr>
        <p:txBody>
          <a:bodyPr wrap="square" lIns="0" tIns="0" rIns="0" bIns="0" rtlCol="0" anchor="t"/>
          <a:lstStyle/>
          <a:p>
            <a:pPr marL="0" indent="0">
              <a:buNone/>
            </a:pPr>
            <a:r>
              <a:rPr lang="en-US" sz="1350" dirty="0">
                <a:solidFill>
                  <a:srgbClr val="5B6472"/>
                </a:solidFill>
                <a:latin typeface="Calibri" pitchFamily="34" charset="0"/>
                <a:ea typeface="Calibri" pitchFamily="34" charset="-122"/>
                <a:cs typeface="Calibri" pitchFamily="34" charset="-120"/>
              </a:rPr>
              <a:t>You can create a branch, commit to it, and merge it back.</a:t>
            </a:r>
            <a:endParaRPr lang="en-US" sz="1350" dirty="0"/>
          </a:p>
        </p:txBody>
      </p:sp>
      <p:sp>
        <p:nvSpPr>
          <p:cNvPr id="15" name="Shape 13"/>
          <p:cNvSpPr/>
          <p:nvPr/>
        </p:nvSpPr>
        <p:spPr>
          <a:xfrm>
            <a:off x="822960" y="4974336"/>
            <a:ext cx="347472" cy="347472"/>
          </a:xfrm>
          <a:prstGeom prst="ellipse">
            <a:avLst/>
          </a:prstGeom>
          <a:solidFill>
            <a:srgbClr val="1E2761"/>
          </a:solidFill>
          <a:ln w="12700">
            <a:solidFill>
              <a:srgbClr val="1E2761"/>
            </a:solidFill>
            <a:prstDash val="solid"/>
          </a:ln>
        </p:spPr>
        <p:txBody>
          <a:bodyPr/>
          <a:lstStyle/>
          <a:p>
            <a:endParaRPr lang="en-US"/>
          </a:p>
        </p:txBody>
      </p:sp>
      <p:sp>
        <p:nvSpPr>
          <p:cNvPr id="16" name="Text 14"/>
          <p:cNvSpPr txBox="1"/>
          <p:nvPr/>
        </p:nvSpPr>
        <p:spPr>
          <a:xfrm>
            <a:off x="822960" y="4974336"/>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1371600" y="4937760"/>
            <a:ext cx="4389120" cy="365760"/>
          </a:xfrm>
          <a:prstGeom prst="rect">
            <a:avLst/>
          </a:prstGeom>
          <a:noFill/>
          <a:ln/>
        </p:spPr>
        <p:txBody>
          <a:bodyPr wrap="square" lIns="0" tIns="0" rIns="0" bIns="0" rtlCol="0" anchor="ctr"/>
          <a:lstStyle/>
          <a:p>
            <a:pPr marL="0" indent="0">
              <a:buNone/>
            </a:pPr>
            <a:r>
              <a:rPr lang="en-US" sz="1600" b="1" dirty="0">
                <a:solidFill>
                  <a:srgbClr val="1B1B2A"/>
                </a:solidFill>
                <a:latin typeface="Calibri" pitchFamily="34" charset="0"/>
                <a:ea typeface="Calibri" pitchFamily="34" charset="-122"/>
                <a:cs typeface="Calibri" pitchFamily="34" charset="-120"/>
              </a:rPr>
              <a:t>The terminal</a:t>
            </a:r>
            <a:endParaRPr lang="en-US" sz="1600" dirty="0"/>
          </a:p>
        </p:txBody>
      </p:sp>
      <p:sp>
        <p:nvSpPr>
          <p:cNvPr id="18" name="Text 16"/>
          <p:cNvSpPr txBox="1"/>
          <p:nvPr/>
        </p:nvSpPr>
        <p:spPr>
          <a:xfrm>
            <a:off x="1371600" y="5321808"/>
            <a:ext cx="4389120" cy="548640"/>
          </a:xfrm>
          <a:prstGeom prst="rect">
            <a:avLst/>
          </a:prstGeom>
          <a:noFill/>
          <a:ln/>
        </p:spPr>
        <p:txBody>
          <a:bodyPr wrap="square" lIns="0" tIns="0" rIns="0" bIns="0" rtlCol="0" anchor="t"/>
          <a:lstStyle/>
          <a:p>
            <a:pPr marL="0" indent="0">
              <a:buNone/>
            </a:pPr>
            <a:r>
              <a:rPr lang="en-US" sz="1350" dirty="0">
                <a:solidFill>
                  <a:srgbClr val="5B6472"/>
                </a:solidFill>
                <a:latin typeface="Calibri" pitchFamily="34" charset="0"/>
                <a:ea typeface="Calibri" pitchFamily="34" charset="-122"/>
                <a:cs typeface="Calibri" pitchFamily="34" charset="-120"/>
              </a:rPr>
              <a:t>You are comfortable navigating directories and running commands.</a:t>
            </a:r>
            <a:endParaRPr lang="en-US" sz="1350" dirty="0"/>
          </a:p>
        </p:txBody>
      </p:sp>
      <p:sp>
        <p:nvSpPr>
          <p:cNvPr id="19" name="Shape 17"/>
          <p:cNvSpPr/>
          <p:nvPr/>
        </p:nvSpPr>
        <p:spPr>
          <a:xfrm>
            <a:off x="6245352" y="2011680"/>
            <a:ext cx="5394960" cy="4206240"/>
          </a:xfrm>
          <a:prstGeom prst="roundRect">
            <a:avLst>
              <a:gd name="adj" fmla="val 1304"/>
            </a:avLst>
          </a:prstGeom>
          <a:solidFill>
            <a:srgbClr val="1E2761"/>
          </a:solidFill>
          <a:ln w="12700">
            <a:solidFill>
              <a:srgbClr val="1E2761"/>
            </a:solidFill>
            <a:prstDash val="solid"/>
          </a:ln>
        </p:spPr>
        <p:txBody>
          <a:bodyPr/>
          <a:lstStyle/>
          <a:p>
            <a:endParaRPr lang="en-US"/>
          </a:p>
        </p:txBody>
      </p:sp>
      <p:sp>
        <p:nvSpPr>
          <p:cNvPr id="20" name="Text 18"/>
          <p:cNvSpPr txBox="1"/>
          <p:nvPr/>
        </p:nvSpPr>
        <p:spPr>
          <a:xfrm>
            <a:off x="6519672" y="2240280"/>
            <a:ext cx="4572000" cy="274320"/>
          </a:xfrm>
          <a:prstGeom prst="rect">
            <a:avLst/>
          </a:prstGeom>
          <a:noFill/>
          <a:ln/>
        </p:spPr>
        <p:txBody>
          <a:bodyPr wrap="square" lIns="0" tIns="0" rIns="0" bIns="0" rtlCol="0" anchor="ctr"/>
          <a:lstStyle/>
          <a:p>
            <a:pPr marL="0" indent="0">
              <a:buNone/>
            </a:pPr>
            <a:r>
              <a:rPr lang="en-US" sz="1100" b="1" kern="0" spc="200" dirty="0">
                <a:solidFill>
                  <a:srgbClr val="7CFC9C"/>
                </a:solidFill>
                <a:latin typeface="Calibri" pitchFamily="34" charset="0"/>
                <a:ea typeface="Calibri" pitchFamily="34" charset="-122"/>
                <a:cs typeface="Calibri" pitchFamily="34" charset="-120"/>
              </a:rPr>
              <a:t>SETUP</a:t>
            </a:r>
            <a:endParaRPr lang="en-US" sz="1100" dirty="0"/>
          </a:p>
        </p:txBody>
      </p:sp>
      <p:sp>
        <p:nvSpPr>
          <p:cNvPr id="21" name="Text 19"/>
          <p:cNvSpPr txBox="1"/>
          <p:nvPr/>
        </p:nvSpPr>
        <p:spPr>
          <a:xfrm>
            <a:off x="6519672" y="2697480"/>
            <a:ext cx="4892040" cy="256032"/>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Claude Code CLI</a:t>
            </a:r>
            <a:endParaRPr lang="en-US" sz="1500" dirty="0"/>
          </a:p>
        </p:txBody>
      </p:sp>
      <p:sp>
        <p:nvSpPr>
          <p:cNvPr id="22" name="Text 20"/>
          <p:cNvSpPr txBox="1"/>
          <p:nvPr/>
        </p:nvSpPr>
        <p:spPr>
          <a:xfrm>
            <a:off x="6519672" y="2953512"/>
            <a:ext cx="4892040" cy="237744"/>
          </a:xfrm>
          <a:prstGeom prst="rect">
            <a:avLst/>
          </a:prstGeom>
          <a:noFill/>
          <a:ln/>
        </p:spPr>
        <p:txBody>
          <a:bodyPr wrap="square" lIns="0" tIns="0" rIns="0" bIns="0" rtlCol="0" anchor="ctr"/>
          <a:lstStyle/>
          <a:p>
            <a:pPr marL="0" indent="0">
              <a:buNone/>
            </a:pPr>
            <a:r>
              <a:rPr lang="en-US" sz="1300" dirty="0">
                <a:solidFill>
                  <a:srgbClr val="CADCFC"/>
                </a:solidFill>
                <a:latin typeface="Calibri" pitchFamily="34" charset="0"/>
                <a:ea typeface="Calibri" pitchFamily="34" charset="-122"/>
                <a:cs typeface="Calibri" pitchFamily="34" charset="-120"/>
              </a:rPr>
              <a:t>installed and authenticated</a:t>
            </a:r>
            <a:endParaRPr lang="en-US" sz="1300" dirty="0"/>
          </a:p>
        </p:txBody>
      </p:sp>
      <p:sp>
        <p:nvSpPr>
          <p:cNvPr id="23" name="Text 21"/>
          <p:cNvSpPr txBox="1"/>
          <p:nvPr/>
        </p:nvSpPr>
        <p:spPr>
          <a:xfrm>
            <a:off x="6519672" y="3246120"/>
            <a:ext cx="4892040" cy="256032"/>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Node.js</a:t>
            </a:r>
            <a:endParaRPr lang="en-US" sz="1500" dirty="0"/>
          </a:p>
        </p:txBody>
      </p:sp>
      <p:sp>
        <p:nvSpPr>
          <p:cNvPr id="24" name="Text 22"/>
          <p:cNvSpPr txBox="1"/>
          <p:nvPr/>
        </p:nvSpPr>
        <p:spPr>
          <a:xfrm>
            <a:off x="6519672" y="3502152"/>
            <a:ext cx="4892040" cy="237744"/>
          </a:xfrm>
          <a:prstGeom prst="rect">
            <a:avLst/>
          </a:prstGeom>
          <a:noFill/>
          <a:ln/>
        </p:spPr>
        <p:txBody>
          <a:bodyPr wrap="square" lIns="0" tIns="0" rIns="0" bIns="0" rtlCol="0" anchor="ctr"/>
          <a:lstStyle/>
          <a:p>
            <a:pPr marL="0" indent="0">
              <a:buNone/>
            </a:pPr>
            <a:r>
              <a:rPr lang="en-US" sz="1300" dirty="0">
                <a:solidFill>
                  <a:srgbClr val="CADCFC"/>
                </a:solidFill>
                <a:latin typeface="Calibri" pitchFamily="34" charset="0"/>
                <a:ea typeface="Calibri" pitchFamily="34" charset="-122"/>
                <a:cs typeface="Calibri" pitchFamily="34" charset="-120"/>
              </a:rPr>
              <a:t>required by the Claude Code CLI</a:t>
            </a:r>
            <a:endParaRPr lang="en-US" sz="1300" dirty="0"/>
          </a:p>
        </p:txBody>
      </p:sp>
      <p:sp>
        <p:nvSpPr>
          <p:cNvPr id="25" name="Text 23"/>
          <p:cNvSpPr txBox="1"/>
          <p:nvPr/>
        </p:nvSpPr>
        <p:spPr>
          <a:xfrm>
            <a:off x="6519672" y="3794760"/>
            <a:ext cx="4892040" cy="256032"/>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Git</a:t>
            </a:r>
            <a:endParaRPr lang="en-US" sz="1500" dirty="0"/>
          </a:p>
        </p:txBody>
      </p:sp>
      <p:sp>
        <p:nvSpPr>
          <p:cNvPr id="26" name="Text 24"/>
          <p:cNvSpPr txBox="1"/>
          <p:nvPr/>
        </p:nvSpPr>
        <p:spPr>
          <a:xfrm>
            <a:off x="6519672" y="4050792"/>
            <a:ext cx="4892040" cy="237744"/>
          </a:xfrm>
          <a:prstGeom prst="rect">
            <a:avLst/>
          </a:prstGeom>
          <a:noFill/>
          <a:ln/>
        </p:spPr>
        <p:txBody>
          <a:bodyPr wrap="square" lIns="0" tIns="0" rIns="0" bIns="0" rtlCol="0" anchor="ctr"/>
          <a:lstStyle/>
          <a:p>
            <a:pPr marL="0" indent="0">
              <a:buNone/>
            </a:pPr>
            <a:r>
              <a:rPr lang="en-US" sz="1300" dirty="0">
                <a:solidFill>
                  <a:srgbClr val="CADCFC"/>
                </a:solidFill>
                <a:latin typeface="Calibri" pitchFamily="34" charset="0"/>
                <a:ea typeface="Calibri" pitchFamily="34" charset="-122"/>
                <a:cs typeface="Calibri" pitchFamily="34" charset="-120"/>
              </a:rPr>
              <a:t>with access to push branches to the course repo</a:t>
            </a:r>
            <a:endParaRPr lang="en-US" sz="1300" dirty="0"/>
          </a:p>
        </p:txBody>
      </p:sp>
      <p:sp>
        <p:nvSpPr>
          <p:cNvPr id="27" name="Text 25"/>
          <p:cNvSpPr txBox="1"/>
          <p:nvPr/>
        </p:nvSpPr>
        <p:spPr>
          <a:xfrm>
            <a:off x="6519672" y="4343400"/>
            <a:ext cx="4892040" cy="256032"/>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Python 3.10+</a:t>
            </a:r>
            <a:endParaRPr lang="en-US" sz="1500" dirty="0"/>
          </a:p>
        </p:txBody>
      </p:sp>
      <p:sp>
        <p:nvSpPr>
          <p:cNvPr id="28" name="Text 26"/>
          <p:cNvSpPr txBox="1"/>
          <p:nvPr/>
        </p:nvSpPr>
        <p:spPr>
          <a:xfrm>
            <a:off x="6519672" y="4599432"/>
            <a:ext cx="4892040" cy="237744"/>
          </a:xfrm>
          <a:prstGeom prst="rect">
            <a:avLst/>
          </a:prstGeom>
          <a:noFill/>
          <a:ln/>
        </p:spPr>
        <p:txBody>
          <a:bodyPr wrap="square" lIns="0" tIns="0" rIns="0" bIns="0" rtlCol="0" anchor="ctr"/>
          <a:lstStyle/>
          <a:p>
            <a:pPr marL="0" indent="0">
              <a:buNone/>
            </a:pPr>
            <a:r>
              <a:rPr lang="en-US" sz="1300" dirty="0">
                <a:solidFill>
                  <a:srgbClr val="CADCFC"/>
                </a:solidFill>
                <a:latin typeface="Calibri" pitchFamily="34" charset="0"/>
                <a:ea typeface="Calibri" pitchFamily="34" charset="-122"/>
                <a:cs typeface="Calibri" pitchFamily="34" charset="-120"/>
              </a:rPr>
              <a:t>the practice app is a small Flask project</a:t>
            </a:r>
            <a:endParaRPr lang="en-US" sz="1300" dirty="0"/>
          </a:p>
        </p:txBody>
      </p:sp>
      <p:sp>
        <p:nvSpPr>
          <p:cNvPr id="29" name="Text 27"/>
          <p:cNvSpPr txBox="1"/>
          <p:nvPr/>
        </p:nvSpPr>
        <p:spPr>
          <a:xfrm>
            <a:off x="6519672" y="4892040"/>
            <a:ext cx="4892040" cy="256032"/>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A terminal and a code editor</a:t>
            </a:r>
            <a:endParaRPr lang="en-US" sz="1500" dirty="0"/>
          </a:p>
        </p:txBody>
      </p:sp>
      <p:sp>
        <p:nvSpPr>
          <p:cNvPr id="30" name="Text 28"/>
          <p:cNvSpPr txBox="1"/>
          <p:nvPr/>
        </p:nvSpPr>
        <p:spPr>
          <a:xfrm>
            <a:off x="6519672" y="5148072"/>
            <a:ext cx="4892040" cy="237744"/>
          </a:xfrm>
          <a:prstGeom prst="rect">
            <a:avLst/>
          </a:prstGeom>
          <a:noFill/>
          <a:ln/>
        </p:spPr>
        <p:txBody>
          <a:bodyPr wrap="square" lIns="0" tIns="0" rIns="0" bIns="0" rtlCol="0" anchor="ctr"/>
          <a:lstStyle/>
          <a:p>
            <a:pPr marL="0" indent="0">
              <a:buNone/>
            </a:pPr>
            <a:r>
              <a:rPr lang="en-US" sz="1300" dirty="0">
                <a:solidFill>
                  <a:srgbClr val="CADCFC"/>
                </a:solidFill>
                <a:latin typeface="Calibri" pitchFamily="34" charset="0"/>
                <a:ea typeface="Calibri" pitchFamily="34" charset="-122"/>
                <a:cs typeface="Calibri" pitchFamily="34" charset="-120"/>
              </a:rPr>
              <a:t>VS Code or any editor you like</a:t>
            </a:r>
            <a:endParaRPr lang="en-US" sz="1300" dirty="0"/>
          </a:p>
        </p:txBody>
      </p:sp>
      <p:sp>
        <p:nvSpPr>
          <p:cNvPr id="31" name="Text 29"/>
          <p:cNvSpPr txBox="1"/>
          <p:nvPr/>
        </p:nvSpPr>
        <p:spPr>
          <a:xfrm>
            <a:off x="6519672" y="5440680"/>
            <a:ext cx="4892040" cy="256032"/>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Network access</a:t>
            </a:r>
            <a:endParaRPr lang="en-US" sz="1500" dirty="0"/>
          </a:p>
        </p:txBody>
      </p:sp>
      <p:sp>
        <p:nvSpPr>
          <p:cNvPr id="32" name="Text 30"/>
          <p:cNvSpPr txBox="1"/>
          <p:nvPr/>
        </p:nvSpPr>
        <p:spPr>
          <a:xfrm>
            <a:off x="6519672" y="5696712"/>
            <a:ext cx="4892040" cy="237744"/>
          </a:xfrm>
          <a:prstGeom prst="rect">
            <a:avLst/>
          </a:prstGeom>
          <a:noFill/>
          <a:ln/>
        </p:spPr>
        <p:txBody>
          <a:bodyPr wrap="square" lIns="0" tIns="0" rIns="0" bIns="0" rtlCol="0" anchor="ctr"/>
          <a:lstStyle/>
          <a:p>
            <a:pPr marL="0" indent="0">
              <a:buNone/>
            </a:pPr>
            <a:r>
              <a:rPr lang="en-US" sz="1300" dirty="0">
                <a:solidFill>
                  <a:srgbClr val="CADCFC"/>
                </a:solidFill>
                <a:latin typeface="Calibri" pitchFamily="34" charset="0"/>
                <a:ea typeface="Calibri" pitchFamily="34" charset="-122"/>
                <a:cs typeface="Calibri" pitchFamily="34" charset="-120"/>
              </a:rPr>
              <a:t>outbound calls to Anthropic’s API not blocked by a proxy</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7315200" cy="365760"/>
          </a:xfrm>
          <a:prstGeom prst="rect">
            <a:avLst/>
          </a:prstGeom>
          <a:noFill/>
          <a:ln/>
        </p:spPr>
        <p:txBody>
          <a:bodyPr wrap="square" lIns="0" tIns="0" rIns="0" bIns="0" rtlCol="0" anchor="ctr"/>
          <a:lstStyle/>
          <a:p>
            <a:pPr marL="0" indent="0">
              <a:buNone/>
            </a:pPr>
            <a:r>
              <a:rPr lang="en-US" sz="1200" b="1" kern="0" spc="200" dirty="0">
                <a:solidFill>
                  <a:srgbClr val="1E2761"/>
                </a:solidFill>
                <a:latin typeface="Calibri" pitchFamily="34" charset="0"/>
                <a:ea typeface="Calibri" pitchFamily="34" charset="-122"/>
                <a:cs typeface="Calibri" pitchFamily="34" charset="-120"/>
              </a:rPr>
              <a:t>BEFORE WE START</a:t>
            </a:r>
            <a:endParaRPr lang="en-US" sz="1200" dirty="0"/>
          </a:p>
        </p:txBody>
      </p:sp>
      <p:sp>
        <p:nvSpPr>
          <p:cNvPr id="3" name="Text 1"/>
          <p:cNvSpPr txBox="1"/>
          <p:nvPr/>
        </p:nvSpPr>
        <p:spPr>
          <a:xfrm>
            <a:off x="548640" y="685800"/>
            <a:ext cx="9144000" cy="640080"/>
          </a:xfrm>
          <a:prstGeom prst="rect">
            <a:avLst/>
          </a:prstGeom>
          <a:noFill/>
          <a:ln/>
        </p:spPr>
        <p:txBody>
          <a:bodyPr wrap="square" lIns="0" tIns="0" rIns="0" bIns="0" rtlCol="0" anchor="ctr"/>
          <a:lstStyle/>
          <a:p>
            <a:pPr marL="0" indent="0">
              <a:buNone/>
            </a:pPr>
            <a:r>
              <a:rPr lang="en-US" sz="3200" b="1" dirty="0">
                <a:solidFill>
                  <a:srgbClr val="1B1B2A"/>
                </a:solidFill>
                <a:latin typeface="Cambria" pitchFamily="34" charset="0"/>
                <a:ea typeface="Cambria" pitchFamily="34" charset="-122"/>
                <a:cs typeface="Cambria" pitchFamily="34" charset="-120"/>
              </a:rPr>
              <a:t>Environment Check</a:t>
            </a:r>
            <a:endParaRPr lang="en-US" sz="3200" dirty="0"/>
          </a:p>
        </p:txBody>
      </p:sp>
      <p:sp>
        <p:nvSpPr>
          <p:cNvPr id="4" name="Text 2"/>
          <p:cNvSpPr txBox="1"/>
          <p:nvPr/>
        </p:nvSpPr>
        <p:spPr>
          <a:xfrm>
            <a:off x="548640" y="1280160"/>
            <a:ext cx="10058400" cy="365760"/>
          </a:xfrm>
          <a:prstGeom prst="rect">
            <a:avLst/>
          </a:prstGeom>
          <a:noFill/>
          <a:ln/>
        </p:spPr>
        <p:txBody>
          <a:bodyPr wrap="square" lIns="0" tIns="0" rIns="0" bIns="0" rtlCol="0" anchor="ctr"/>
          <a:lstStyle/>
          <a:p>
            <a:pPr marL="0" indent="0">
              <a:buNone/>
            </a:pPr>
            <a:r>
              <a:rPr lang="en-US" sz="1400" i="1" dirty="0">
                <a:solidFill>
                  <a:srgbClr val="5B6472"/>
                </a:solidFill>
                <a:latin typeface="Calibri" pitchFamily="34" charset="0"/>
                <a:ea typeface="Calibri" pitchFamily="34" charset="-122"/>
                <a:cs typeface="Calibri" pitchFamily="34" charset="-120"/>
              </a:rPr>
              <a:t>Run these now. Flag a failure before Module 1 starts, not during the lab.</a:t>
            </a:r>
            <a:endParaRPr lang="en-US" sz="1400" dirty="0"/>
          </a:p>
        </p:txBody>
      </p:sp>
      <p:sp>
        <p:nvSpPr>
          <p:cNvPr id="5" name="Shape 3"/>
          <p:cNvSpPr/>
          <p:nvPr/>
        </p:nvSpPr>
        <p:spPr>
          <a:xfrm>
            <a:off x="548640" y="1828800"/>
            <a:ext cx="11064240" cy="1920240"/>
          </a:xfrm>
          <a:prstGeom prst="roundRect">
            <a:avLst>
              <a:gd name="adj" fmla="val 3810"/>
            </a:avLst>
          </a:prstGeom>
          <a:solidFill>
            <a:srgbClr val="1B1B2A"/>
          </a:solidFill>
          <a:ln/>
        </p:spPr>
        <p:txBody>
          <a:bodyPr/>
          <a:lstStyle/>
          <a:p>
            <a:endParaRPr lang="en-US"/>
          </a:p>
        </p:txBody>
      </p:sp>
      <p:sp>
        <p:nvSpPr>
          <p:cNvPr id="6" name="Text 4"/>
          <p:cNvSpPr txBox="1"/>
          <p:nvPr/>
        </p:nvSpPr>
        <p:spPr>
          <a:xfrm>
            <a:off x="914400" y="2103120"/>
            <a:ext cx="10332720" cy="457200"/>
          </a:xfrm>
          <a:prstGeom prst="rect">
            <a:avLst/>
          </a:prstGeom>
          <a:noFill/>
          <a:ln/>
        </p:spPr>
        <p:txBody>
          <a:bodyPr wrap="square" lIns="0" tIns="0" rIns="0" bIns="0" rtlCol="0" anchor="ctr"/>
          <a:lstStyle/>
          <a:p>
            <a:pPr marL="0" indent="0">
              <a:buNone/>
            </a:pPr>
            <a:r>
              <a:rPr lang="en-US" sz="1600" dirty="0">
                <a:solidFill>
                  <a:srgbClr val="7CFC9C"/>
                </a:solidFill>
                <a:latin typeface="Consolas" pitchFamily="34" charset="0"/>
                <a:ea typeface="Consolas" pitchFamily="34" charset="-122"/>
                <a:cs typeface="Consolas" pitchFamily="34" charset="-120"/>
              </a:rPr>
              <a:t>claude --version</a:t>
            </a:r>
            <a:endParaRPr lang="en-US" sz="1600" dirty="0"/>
          </a:p>
        </p:txBody>
      </p:sp>
      <p:sp>
        <p:nvSpPr>
          <p:cNvPr id="7" name="Text 5"/>
          <p:cNvSpPr txBox="1"/>
          <p:nvPr/>
        </p:nvSpPr>
        <p:spPr>
          <a:xfrm>
            <a:off x="914400" y="2606040"/>
            <a:ext cx="10332720" cy="457200"/>
          </a:xfrm>
          <a:prstGeom prst="rect">
            <a:avLst/>
          </a:prstGeom>
          <a:noFill/>
          <a:ln/>
        </p:spPr>
        <p:txBody>
          <a:bodyPr wrap="square" lIns="0" tIns="0" rIns="0" bIns="0" rtlCol="0" anchor="ctr"/>
          <a:lstStyle/>
          <a:p>
            <a:pPr marL="0" indent="0">
              <a:buNone/>
            </a:pPr>
            <a:r>
              <a:rPr lang="en-US" sz="1600" dirty="0">
                <a:solidFill>
                  <a:srgbClr val="7CFC9C"/>
                </a:solidFill>
                <a:latin typeface="Consolas" pitchFamily="34" charset="0"/>
                <a:ea typeface="Consolas" pitchFamily="34" charset="-122"/>
                <a:cs typeface="Consolas" pitchFamily="34" charset="-120"/>
              </a:rPr>
              <a:t>python3 --version</a:t>
            </a:r>
            <a:endParaRPr lang="en-US" sz="1600" dirty="0"/>
          </a:p>
        </p:txBody>
      </p:sp>
      <p:sp>
        <p:nvSpPr>
          <p:cNvPr id="8" name="Text 6"/>
          <p:cNvSpPr txBox="1"/>
          <p:nvPr/>
        </p:nvSpPr>
        <p:spPr>
          <a:xfrm>
            <a:off x="914400" y="3108960"/>
            <a:ext cx="10332720" cy="457200"/>
          </a:xfrm>
          <a:prstGeom prst="rect">
            <a:avLst/>
          </a:prstGeom>
          <a:noFill/>
          <a:ln/>
        </p:spPr>
        <p:txBody>
          <a:bodyPr wrap="square" lIns="0" tIns="0" rIns="0" bIns="0" rtlCol="0" anchor="ctr"/>
          <a:lstStyle/>
          <a:p>
            <a:pPr marL="0" indent="0">
              <a:buNone/>
            </a:pPr>
            <a:r>
              <a:rPr lang="en-US" sz="1600" dirty="0">
                <a:solidFill>
                  <a:srgbClr val="7CFC9C"/>
                </a:solidFill>
                <a:latin typeface="Consolas" pitchFamily="34" charset="0"/>
                <a:ea typeface="Consolas" pitchFamily="34" charset="-122"/>
                <a:cs typeface="Consolas" pitchFamily="34" charset="-120"/>
              </a:rPr>
              <a:t>git --version</a:t>
            </a:r>
            <a:endParaRPr lang="en-US" sz="1600" dirty="0"/>
          </a:p>
        </p:txBody>
      </p:sp>
      <p:sp>
        <p:nvSpPr>
          <p:cNvPr id="9" name="Text 7"/>
          <p:cNvSpPr txBox="1"/>
          <p:nvPr/>
        </p:nvSpPr>
        <p:spPr>
          <a:xfrm>
            <a:off x="548640" y="3977640"/>
            <a:ext cx="10332720" cy="457200"/>
          </a:xfrm>
          <a:prstGeom prst="rect">
            <a:avLst/>
          </a:prstGeom>
          <a:noFill/>
          <a:ln/>
        </p:spPr>
        <p:txBody>
          <a:bodyPr wrap="square" lIns="0" tIns="0" rIns="0" bIns="0" rtlCol="0" anchor="ctr"/>
          <a:lstStyle/>
          <a:p>
            <a:pPr marL="0" indent="0">
              <a:buNone/>
            </a:pPr>
            <a:r>
              <a:rPr lang="en-US" sz="1400" dirty="0">
                <a:solidFill>
                  <a:srgbClr val="5B6472"/>
                </a:solidFill>
                <a:latin typeface="Calibri" pitchFamily="34" charset="0"/>
                <a:ea typeface="Calibri" pitchFamily="34" charset="-122"/>
                <a:cs typeface="Calibri" pitchFamily="34" charset="-120"/>
              </a:rPr>
              <a:t>Also confirm: Claude Code is authenticated, and you have access to the taskboard repo.</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7315200" cy="365760"/>
          </a:xfrm>
          <a:prstGeom prst="rect">
            <a:avLst/>
          </a:prstGeom>
          <a:noFill/>
          <a:ln/>
        </p:spPr>
        <p:txBody>
          <a:bodyPr wrap="square" lIns="0" tIns="0" rIns="0" bIns="0" rtlCol="0" anchor="ctr"/>
          <a:lstStyle/>
          <a:p>
            <a:pPr marL="0" indent="0">
              <a:buNone/>
            </a:pPr>
            <a:r>
              <a:rPr lang="en-US" sz="1200" b="1" kern="0" spc="200" dirty="0">
                <a:solidFill>
                  <a:srgbClr val="1E2761"/>
                </a:solidFill>
                <a:latin typeface="Calibri" pitchFamily="34" charset="0"/>
                <a:ea typeface="Calibri" pitchFamily="34" charset="-122"/>
                <a:cs typeface="Calibri" pitchFamily="34" charset="-120"/>
              </a:rPr>
              <a:t>WHY ORCHESTRATE?</a:t>
            </a:r>
            <a:endParaRPr lang="en-US" sz="1200" dirty="0"/>
          </a:p>
        </p:txBody>
      </p:sp>
      <p:sp>
        <p:nvSpPr>
          <p:cNvPr id="3" name="Text 1"/>
          <p:cNvSpPr txBox="1"/>
          <p:nvPr/>
        </p:nvSpPr>
        <p:spPr>
          <a:xfrm>
            <a:off x="548640" y="685800"/>
            <a:ext cx="10515600" cy="640080"/>
          </a:xfrm>
          <a:prstGeom prst="rect">
            <a:avLst/>
          </a:prstGeom>
          <a:noFill/>
          <a:ln/>
        </p:spPr>
        <p:txBody>
          <a:bodyPr wrap="square" lIns="0" tIns="0" rIns="0" bIns="0" rtlCol="0" anchor="ctr"/>
          <a:lstStyle/>
          <a:p>
            <a:pPr marL="0" indent="0">
              <a:buNone/>
            </a:pPr>
            <a:r>
              <a:rPr lang="en-US" sz="3000" b="1" dirty="0">
                <a:solidFill>
                  <a:srgbClr val="1B1B2A"/>
                </a:solidFill>
                <a:latin typeface="Cambria" pitchFamily="34" charset="0"/>
                <a:ea typeface="Cambria" pitchFamily="34" charset="-122"/>
                <a:cs typeface="Cambria" pitchFamily="34" charset="-120"/>
              </a:rPr>
              <a:t>From One Assistant to a Team</a:t>
            </a:r>
            <a:endParaRPr lang="en-US" sz="3000" dirty="0"/>
          </a:p>
        </p:txBody>
      </p:sp>
      <p:sp>
        <p:nvSpPr>
          <p:cNvPr id="4" name="Text 2"/>
          <p:cNvSpPr txBox="1"/>
          <p:nvPr/>
        </p:nvSpPr>
        <p:spPr>
          <a:xfrm>
            <a:off x="548640" y="1325880"/>
            <a:ext cx="11064240" cy="457200"/>
          </a:xfrm>
          <a:prstGeom prst="rect">
            <a:avLst/>
          </a:prstGeom>
          <a:noFill/>
          <a:ln/>
        </p:spPr>
        <p:txBody>
          <a:bodyPr wrap="square" lIns="0" tIns="0" rIns="0" bIns="0" rtlCol="0" anchor="ctr"/>
          <a:lstStyle/>
          <a:p>
            <a:pPr marL="0" indent="0">
              <a:buNone/>
            </a:pPr>
            <a:r>
              <a:rPr lang="en-US" sz="1600" i="1" dirty="0">
                <a:solidFill>
                  <a:srgbClr val="5B6472"/>
                </a:solidFill>
                <a:latin typeface="Calibri" pitchFamily="34" charset="0"/>
                <a:ea typeface="Calibri" pitchFamily="34" charset="-122"/>
                <a:cs typeface="Calibri" pitchFamily="34" charset="-120"/>
              </a:rPr>
              <a:t>Same feature, two ways to run it.</a:t>
            </a:r>
            <a:endParaRPr lang="en-US" sz="1600" dirty="0"/>
          </a:p>
        </p:txBody>
      </p:sp>
      <p:sp>
        <p:nvSpPr>
          <p:cNvPr id="5" name="Shape 3"/>
          <p:cNvSpPr/>
          <p:nvPr/>
        </p:nvSpPr>
        <p:spPr>
          <a:xfrm>
            <a:off x="548640" y="2011680"/>
            <a:ext cx="5394960" cy="4206240"/>
          </a:xfrm>
          <a:prstGeom prst="roundRect">
            <a:avLst>
              <a:gd name="adj" fmla="val 1304"/>
            </a:avLst>
          </a:prstGeom>
          <a:solidFill>
            <a:srgbClr val="F4F6FB"/>
          </a:solidFill>
          <a:ln w="12700">
            <a:solidFill>
              <a:srgbClr val="F4F6FB"/>
            </a:solidFill>
            <a:prstDash val="solid"/>
          </a:ln>
        </p:spPr>
        <p:txBody>
          <a:bodyPr/>
          <a:lstStyle/>
          <a:p>
            <a:endParaRPr lang="en-US"/>
          </a:p>
        </p:txBody>
      </p:sp>
      <p:sp>
        <p:nvSpPr>
          <p:cNvPr id="6" name="Text 4"/>
          <p:cNvSpPr txBox="1"/>
          <p:nvPr/>
        </p:nvSpPr>
        <p:spPr>
          <a:xfrm>
            <a:off x="822960" y="2240280"/>
            <a:ext cx="4572000" cy="274320"/>
          </a:xfrm>
          <a:prstGeom prst="rect">
            <a:avLst/>
          </a:prstGeom>
          <a:noFill/>
          <a:ln/>
        </p:spPr>
        <p:txBody>
          <a:bodyPr wrap="square" lIns="0" tIns="0" rIns="0" bIns="0" rtlCol="0" anchor="ctr"/>
          <a:lstStyle/>
          <a:p>
            <a:pPr marL="0" indent="0">
              <a:buNone/>
            </a:pPr>
            <a:r>
              <a:rPr lang="en-US" sz="1100" b="1" kern="0" spc="200" dirty="0">
                <a:solidFill>
                  <a:srgbClr val="1E2761"/>
                </a:solidFill>
                <a:latin typeface="Calibri" pitchFamily="34" charset="0"/>
                <a:ea typeface="Calibri" pitchFamily="34" charset="-122"/>
                <a:cs typeface="Calibri" pitchFamily="34" charset="-120"/>
              </a:rPr>
              <a:t>ONE SESSION</a:t>
            </a:r>
            <a:endParaRPr lang="en-US" sz="1100" dirty="0"/>
          </a:p>
        </p:txBody>
      </p:sp>
      <p:sp>
        <p:nvSpPr>
          <p:cNvPr id="7" name="Shape 5"/>
          <p:cNvSpPr/>
          <p:nvPr/>
        </p:nvSpPr>
        <p:spPr>
          <a:xfrm>
            <a:off x="822960" y="2788920"/>
            <a:ext cx="960120" cy="502920"/>
          </a:xfrm>
          <a:prstGeom prst="roundRect">
            <a:avLst>
              <a:gd name="adj" fmla="val 9091"/>
            </a:avLst>
          </a:prstGeom>
          <a:solidFill>
            <a:srgbClr val="FFFFFF"/>
          </a:solidFill>
          <a:ln w="12700">
            <a:solidFill>
              <a:srgbClr val="D5DAE6"/>
            </a:solidFill>
            <a:prstDash val="solid"/>
          </a:ln>
        </p:spPr>
        <p:txBody>
          <a:bodyPr/>
          <a:lstStyle/>
          <a:p>
            <a:endParaRPr lang="en-US"/>
          </a:p>
        </p:txBody>
      </p:sp>
      <p:sp>
        <p:nvSpPr>
          <p:cNvPr id="8" name="Text 6"/>
          <p:cNvSpPr txBox="1"/>
          <p:nvPr/>
        </p:nvSpPr>
        <p:spPr>
          <a:xfrm>
            <a:off x="822960" y="2788920"/>
            <a:ext cx="960120" cy="502920"/>
          </a:xfrm>
          <a:prstGeom prst="rect">
            <a:avLst/>
          </a:prstGeom>
          <a:noFill/>
          <a:ln/>
        </p:spPr>
        <p:txBody>
          <a:bodyPr wrap="square" lIns="0" tIns="0" rIns="0" bIns="0" rtlCol="0" anchor="ctr"/>
          <a:lstStyle/>
          <a:p>
            <a:pPr marL="0" indent="0" algn="ctr">
              <a:buNone/>
            </a:pPr>
            <a:r>
              <a:rPr lang="en-US" sz="1250" dirty="0">
                <a:solidFill>
                  <a:srgbClr val="1B1B2A"/>
                </a:solidFill>
                <a:latin typeface="Calibri" pitchFamily="34" charset="0"/>
                <a:ea typeface="Calibri" pitchFamily="34" charset="-122"/>
                <a:cs typeface="Calibri" pitchFamily="34" charset="-120"/>
              </a:rPr>
              <a:t>Step 1</a:t>
            </a:r>
            <a:endParaRPr lang="en-US" sz="1250" dirty="0"/>
          </a:p>
        </p:txBody>
      </p:sp>
      <p:sp>
        <p:nvSpPr>
          <p:cNvPr id="9" name="Shape 7"/>
          <p:cNvSpPr/>
          <p:nvPr/>
        </p:nvSpPr>
        <p:spPr>
          <a:xfrm>
            <a:off x="1801368" y="3040380"/>
            <a:ext cx="237744" cy="914"/>
          </a:xfrm>
          <a:prstGeom prst="line">
            <a:avLst/>
          </a:prstGeom>
          <a:noFill/>
          <a:ln w="15875">
            <a:solidFill>
              <a:srgbClr val="5B6472"/>
            </a:solidFill>
            <a:prstDash val="solid"/>
            <a:tailEnd type="triangle"/>
          </a:ln>
        </p:spPr>
        <p:txBody>
          <a:bodyPr/>
          <a:lstStyle/>
          <a:p>
            <a:endParaRPr lang="en-US"/>
          </a:p>
        </p:txBody>
      </p:sp>
      <p:sp>
        <p:nvSpPr>
          <p:cNvPr id="10" name="Shape 8"/>
          <p:cNvSpPr/>
          <p:nvPr/>
        </p:nvSpPr>
        <p:spPr>
          <a:xfrm>
            <a:off x="2057400" y="2788920"/>
            <a:ext cx="960120" cy="502920"/>
          </a:xfrm>
          <a:prstGeom prst="roundRect">
            <a:avLst>
              <a:gd name="adj" fmla="val 9091"/>
            </a:avLst>
          </a:prstGeom>
          <a:solidFill>
            <a:srgbClr val="FFFFFF"/>
          </a:solidFill>
          <a:ln w="12700">
            <a:solidFill>
              <a:srgbClr val="D5DAE6"/>
            </a:solidFill>
            <a:prstDash val="solid"/>
          </a:ln>
        </p:spPr>
        <p:txBody>
          <a:bodyPr/>
          <a:lstStyle/>
          <a:p>
            <a:endParaRPr lang="en-US"/>
          </a:p>
        </p:txBody>
      </p:sp>
      <p:sp>
        <p:nvSpPr>
          <p:cNvPr id="11" name="Text 9"/>
          <p:cNvSpPr txBox="1"/>
          <p:nvPr/>
        </p:nvSpPr>
        <p:spPr>
          <a:xfrm>
            <a:off x="2057400" y="2788920"/>
            <a:ext cx="960120" cy="502920"/>
          </a:xfrm>
          <a:prstGeom prst="rect">
            <a:avLst/>
          </a:prstGeom>
          <a:noFill/>
          <a:ln/>
        </p:spPr>
        <p:txBody>
          <a:bodyPr wrap="square" lIns="0" tIns="0" rIns="0" bIns="0" rtlCol="0" anchor="ctr"/>
          <a:lstStyle/>
          <a:p>
            <a:pPr marL="0" indent="0" algn="ctr">
              <a:buNone/>
            </a:pPr>
            <a:r>
              <a:rPr lang="en-US" sz="1250" dirty="0">
                <a:solidFill>
                  <a:srgbClr val="1B1B2A"/>
                </a:solidFill>
                <a:latin typeface="Calibri" pitchFamily="34" charset="0"/>
                <a:ea typeface="Calibri" pitchFamily="34" charset="-122"/>
                <a:cs typeface="Calibri" pitchFamily="34" charset="-120"/>
              </a:rPr>
              <a:t>Step 2</a:t>
            </a:r>
            <a:endParaRPr lang="en-US" sz="1250" dirty="0"/>
          </a:p>
        </p:txBody>
      </p:sp>
      <p:sp>
        <p:nvSpPr>
          <p:cNvPr id="12" name="Shape 10"/>
          <p:cNvSpPr/>
          <p:nvPr/>
        </p:nvSpPr>
        <p:spPr>
          <a:xfrm>
            <a:off x="3035808" y="3040380"/>
            <a:ext cx="237744" cy="914"/>
          </a:xfrm>
          <a:prstGeom prst="line">
            <a:avLst/>
          </a:prstGeom>
          <a:noFill/>
          <a:ln w="15875">
            <a:solidFill>
              <a:srgbClr val="5B6472"/>
            </a:solidFill>
            <a:prstDash val="solid"/>
            <a:tailEnd type="triangle"/>
          </a:ln>
        </p:spPr>
        <p:txBody>
          <a:bodyPr/>
          <a:lstStyle/>
          <a:p>
            <a:endParaRPr lang="en-US"/>
          </a:p>
        </p:txBody>
      </p:sp>
      <p:sp>
        <p:nvSpPr>
          <p:cNvPr id="13" name="Shape 11"/>
          <p:cNvSpPr/>
          <p:nvPr/>
        </p:nvSpPr>
        <p:spPr>
          <a:xfrm>
            <a:off x="3291840" y="2788920"/>
            <a:ext cx="960120" cy="502920"/>
          </a:xfrm>
          <a:prstGeom prst="roundRect">
            <a:avLst>
              <a:gd name="adj" fmla="val 9091"/>
            </a:avLst>
          </a:prstGeom>
          <a:solidFill>
            <a:srgbClr val="FFFFFF"/>
          </a:solidFill>
          <a:ln w="12700">
            <a:solidFill>
              <a:srgbClr val="D5DAE6"/>
            </a:solidFill>
            <a:prstDash val="solid"/>
          </a:ln>
        </p:spPr>
        <p:txBody>
          <a:bodyPr/>
          <a:lstStyle/>
          <a:p>
            <a:endParaRPr lang="en-US"/>
          </a:p>
        </p:txBody>
      </p:sp>
      <p:sp>
        <p:nvSpPr>
          <p:cNvPr id="14" name="Text 12"/>
          <p:cNvSpPr txBox="1"/>
          <p:nvPr/>
        </p:nvSpPr>
        <p:spPr>
          <a:xfrm>
            <a:off x="3291840" y="2788920"/>
            <a:ext cx="960120" cy="502920"/>
          </a:xfrm>
          <a:prstGeom prst="rect">
            <a:avLst/>
          </a:prstGeom>
          <a:noFill/>
          <a:ln/>
        </p:spPr>
        <p:txBody>
          <a:bodyPr wrap="square" lIns="0" tIns="0" rIns="0" bIns="0" rtlCol="0" anchor="ctr"/>
          <a:lstStyle/>
          <a:p>
            <a:pPr marL="0" indent="0" algn="ctr">
              <a:buNone/>
            </a:pPr>
            <a:r>
              <a:rPr lang="en-US" sz="1250" dirty="0">
                <a:solidFill>
                  <a:srgbClr val="1B1B2A"/>
                </a:solidFill>
                <a:latin typeface="Calibri" pitchFamily="34" charset="0"/>
                <a:ea typeface="Calibri" pitchFamily="34" charset="-122"/>
                <a:cs typeface="Calibri" pitchFamily="34" charset="-120"/>
              </a:rPr>
              <a:t>Step 3</a:t>
            </a:r>
            <a:endParaRPr lang="en-US" sz="1250" dirty="0"/>
          </a:p>
        </p:txBody>
      </p:sp>
      <p:sp>
        <p:nvSpPr>
          <p:cNvPr id="15" name="Shape 13"/>
          <p:cNvSpPr/>
          <p:nvPr/>
        </p:nvSpPr>
        <p:spPr>
          <a:xfrm>
            <a:off x="4270248" y="3040380"/>
            <a:ext cx="237744" cy="914"/>
          </a:xfrm>
          <a:prstGeom prst="line">
            <a:avLst/>
          </a:prstGeom>
          <a:noFill/>
          <a:ln w="15875">
            <a:solidFill>
              <a:srgbClr val="5B6472"/>
            </a:solidFill>
            <a:prstDash val="solid"/>
            <a:tailEnd type="triangle"/>
          </a:ln>
        </p:spPr>
        <p:txBody>
          <a:bodyPr/>
          <a:lstStyle/>
          <a:p>
            <a:endParaRPr lang="en-US"/>
          </a:p>
        </p:txBody>
      </p:sp>
      <p:sp>
        <p:nvSpPr>
          <p:cNvPr id="16" name="Shape 14"/>
          <p:cNvSpPr/>
          <p:nvPr/>
        </p:nvSpPr>
        <p:spPr>
          <a:xfrm>
            <a:off x="4526280" y="2788920"/>
            <a:ext cx="960120" cy="502920"/>
          </a:xfrm>
          <a:prstGeom prst="roundRect">
            <a:avLst>
              <a:gd name="adj" fmla="val 9091"/>
            </a:avLst>
          </a:prstGeom>
          <a:solidFill>
            <a:srgbClr val="FFFFFF"/>
          </a:solidFill>
          <a:ln w="12700">
            <a:solidFill>
              <a:srgbClr val="D5DAE6"/>
            </a:solidFill>
            <a:prstDash val="solid"/>
          </a:ln>
        </p:spPr>
        <p:txBody>
          <a:bodyPr/>
          <a:lstStyle/>
          <a:p>
            <a:endParaRPr lang="en-US"/>
          </a:p>
        </p:txBody>
      </p:sp>
      <p:sp>
        <p:nvSpPr>
          <p:cNvPr id="17" name="Text 15"/>
          <p:cNvSpPr txBox="1"/>
          <p:nvPr/>
        </p:nvSpPr>
        <p:spPr>
          <a:xfrm>
            <a:off x="4526280" y="2788920"/>
            <a:ext cx="960120" cy="502920"/>
          </a:xfrm>
          <a:prstGeom prst="rect">
            <a:avLst/>
          </a:prstGeom>
          <a:noFill/>
          <a:ln/>
        </p:spPr>
        <p:txBody>
          <a:bodyPr wrap="square" lIns="0" tIns="0" rIns="0" bIns="0" rtlCol="0" anchor="ctr"/>
          <a:lstStyle/>
          <a:p>
            <a:pPr marL="0" indent="0" algn="ctr">
              <a:buNone/>
            </a:pPr>
            <a:r>
              <a:rPr lang="en-US" sz="1250" dirty="0">
                <a:solidFill>
                  <a:srgbClr val="1B1B2A"/>
                </a:solidFill>
                <a:latin typeface="Calibri" pitchFamily="34" charset="0"/>
                <a:ea typeface="Calibri" pitchFamily="34" charset="-122"/>
                <a:cs typeface="Calibri" pitchFamily="34" charset="-120"/>
              </a:rPr>
              <a:t>Step 4</a:t>
            </a:r>
            <a:endParaRPr lang="en-US" sz="1250" dirty="0"/>
          </a:p>
        </p:txBody>
      </p:sp>
      <p:sp>
        <p:nvSpPr>
          <p:cNvPr id="18" name="Text 16"/>
          <p:cNvSpPr txBox="1"/>
          <p:nvPr/>
        </p:nvSpPr>
        <p:spPr>
          <a:xfrm>
            <a:off x="822960" y="3383280"/>
            <a:ext cx="4846320" cy="274320"/>
          </a:xfrm>
          <a:prstGeom prst="rect">
            <a:avLst/>
          </a:prstGeom>
          <a:noFill/>
          <a:ln/>
        </p:spPr>
        <p:txBody>
          <a:bodyPr wrap="square" lIns="0" tIns="0" rIns="0" bIns="0" rtlCol="0" anchor="ctr"/>
          <a:lstStyle/>
          <a:p>
            <a:pPr marL="0" indent="0">
              <a:buNone/>
            </a:pPr>
            <a:r>
              <a:rPr lang="en-US" sz="1150" i="1" dirty="0">
                <a:solidFill>
                  <a:srgbClr val="5B6472"/>
                </a:solidFill>
                <a:latin typeface="Calibri" pitchFamily="34" charset="0"/>
                <a:ea typeface="Calibri" pitchFamily="34" charset="-122"/>
                <a:cs typeface="Calibri" pitchFamily="34" charset="-120"/>
              </a:rPr>
              <a:t>one after another, one context, one model</a:t>
            </a:r>
            <a:endParaRPr lang="en-US" sz="1150" dirty="0"/>
          </a:p>
        </p:txBody>
      </p:sp>
      <p:sp>
        <p:nvSpPr>
          <p:cNvPr id="19" name="Shape 17"/>
          <p:cNvSpPr/>
          <p:nvPr/>
        </p:nvSpPr>
        <p:spPr>
          <a:xfrm>
            <a:off x="822960" y="3995928"/>
            <a:ext cx="109728" cy="109728"/>
          </a:xfrm>
          <a:prstGeom prst="ellipse">
            <a:avLst/>
          </a:prstGeom>
          <a:solidFill>
            <a:srgbClr val="5B6472"/>
          </a:solidFill>
          <a:ln w="12700">
            <a:solidFill>
              <a:srgbClr val="5B6472"/>
            </a:solidFill>
            <a:prstDash val="solid"/>
          </a:ln>
        </p:spPr>
        <p:txBody>
          <a:bodyPr/>
          <a:lstStyle/>
          <a:p>
            <a:endParaRPr lang="en-US"/>
          </a:p>
        </p:txBody>
      </p:sp>
      <p:sp>
        <p:nvSpPr>
          <p:cNvPr id="20" name="Text 18"/>
          <p:cNvSpPr txBox="1"/>
          <p:nvPr/>
        </p:nvSpPr>
        <p:spPr>
          <a:xfrm>
            <a:off x="1097280" y="3931920"/>
            <a:ext cx="4572000" cy="457200"/>
          </a:xfrm>
          <a:prstGeom prst="rect">
            <a:avLst/>
          </a:prstGeom>
          <a:noFill/>
          <a:ln/>
        </p:spPr>
        <p:txBody>
          <a:bodyPr wrap="square" lIns="0" tIns="0" rIns="0" bIns="0" rtlCol="0" anchor="t"/>
          <a:lstStyle/>
          <a:p>
            <a:pPr marL="0" indent="0">
              <a:buNone/>
            </a:pPr>
            <a:r>
              <a:rPr lang="en-US" sz="1400" dirty="0">
                <a:solidFill>
                  <a:srgbClr val="1B1B2A"/>
                </a:solidFill>
                <a:latin typeface="Calibri" pitchFamily="34" charset="0"/>
                <a:ea typeface="Calibri" pitchFamily="34" charset="-122"/>
                <a:cs typeface="Calibri" pitchFamily="34" charset="-120"/>
              </a:rPr>
              <a:t>Each step waits for the one before it.</a:t>
            </a:r>
            <a:endParaRPr lang="en-US" sz="1400" dirty="0"/>
          </a:p>
        </p:txBody>
      </p:sp>
      <p:sp>
        <p:nvSpPr>
          <p:cNvPr id="21" name="Shape 19"/>
          <p:cNvSpPr/>
          <p:nvPr/>
        </p:nvSpPr>
        <p:spPr>
          <a:xfrm>
            <a:off x="822960" y="4498848"/>
            <a:ext cx="109728" cy="109728"/>
          </a:xfrm>
          <a:prstGeom prst="ellipse">
            <a:avLst/>
          </a:prstGeom>
          <a:solidFill>
            <a:srgbClr val="5B6472"/>
          </a:solidFill>
          <a:ln w="12700">
            <a:solidFill>
              <a:srgbClr val="5B6472"/>
            </a:solidFill>
            <a:prstDash val="solid"/>
          </a:ln>
        </p:spPr>
        <p:txBody>
          <a:bodyPr/>
          <a:lstStyle/>
          <a:p>
            <a:endParaRPr lang="en-US"/>
          </a:p>
        </p:txBody>
      </p:sp>
      <p:sp>
        <p:nvSpPr>
          <p:cNvPr id="22" name="Text 20"/>
          <p:cNvSpPr txBox="1"/>
          <p:nvPr/>
        </p:nvSpPr>
        <p:spPr>
          <a:xfrm>
            <a:off x="1097280" y="4434840"/>
            <a:ext cx="4572000" cy="457200"/>
          </a:xfrm>
          <a:prstGeom prst="rect">
            <a:avLst/>
          </a:prstGeom>
          <a:noFill/>
          <a:ln/>
        </p:spPr>
        <p:txBody>
          <a:bodyPr wrap="square" lIns="0" tIns="0" rIns="0" bIns="0" rtlCol="0" anchor="t"/>
          <a:lstStyle/>
          <a:p>
            <a:pPr marL="0" indent="0">
              <a:buNone/>
            </a:pPr>
            <a:r>
              <a:rPr lang="en-US" sz="1400" dirty="0">
                <a:solidFill>
                  <a:srgbClr val="1B1B2A"/>
                </a:solidFill>
                <a:latin typeface="Calibri" pitchFamily="34" charset="0"/>
                <a:ea typeface="Calibri" pitchFamily="34" charset="-122"/>
                <a:cs typeface="Calibri" pitchFamily="34" charset="-120"/>
              </a:rPr>
              <a:t>One context fills up with every file and decision.</a:t>
            </a:r>
            <a:endParaRPr lang="en-US" sz="1400" dirty="0"/>
          </a:p>
        </p:txBody>
      </p:sp>
      <p:sp>
        <p:nvSpPr>
          <p:cNvPr id="23" name="Shape 21"/>
          <p:cNvSpPr/>
          <p:nvPr/>
        </p:nvSpPr>
        <p:spPr>
          <a:xfrm>
            <a:off x="822960" y="5001768"/>
            <a:ext cx="109728" cy="109728"/>
          </a:xfrm>
          <a:prstGeom prst="ellipse">
            <a:avLst/>
          </a:prstGeom>
          <a:solidFill>
            <a:srgbClr val="5B6472"/>
          </a:solidFill>
          <a:ln w="12700">
            <a:solidFill>
              <a:srgbClr val="5B6472"/>
            </a:solidFill>
            <a:prstDash val="solid"/>
          </a:ln>
        </p:spPr>
        <p:txBody>
          <a:bodyPr/>
          <a:lstStyle/>
          <a:p>
            <a:endParaRPr lang="en-US"/>
          </a:p>
        </p:txBody>
      </p:sp>
      <p:sp>
        <p:nvSpPr>
          <p:cNvPr id="24" name="Text 22"/>
          <p:cNvSpPr txBox="1"/>
          <p:nvPr/>
        </p:nvSpPr>
        <p:spPr>
          <a:xfrm>
            <a:off x="1097280" y="4937760"/>
            <a:ext cx="4572000" cy="457200"/>
          </a:xfrm>
          <a:prstGeom prst="rect">
            <a:avLst/>
          </a:prstGeom>
          <a:noFill/>
          <a:ln/>
        </p:spPr>
        <p:txBody>
          <a:bodyPr wrap="square" lIns="0" tIns="0" rIns="0" bIns="0" rtlCol="0" anchor="t"/>
          <a:lstStyle/>
          <a:p>
            <a:pPr marL="0" indent="0">
              <a:buNone/>
            </a:pPr>
            <a:r>
              <a:rPr lang="en-US" sz="1400" dirty="0">
                <a:solidFill>
                  <a:srgbClr val="1B1B2A"/>
                </a:solidFill>
                <a:latin typeface="Calibri" pitchFamily="34" charset="0"/>
                <a:ea typeface="Calibri" pitchFamily="34" charset="-122"/>
                <a:cs typeface="Calibri" pitchFamily="34" charset="-120"/>
              </a:rPr>
              <a:t>One model for everything, trivial or risky.</a:t>
            </a:r>
            <a:endParaRPr lang="en-US" sz="1400" dirty="0"/>
          </a:p>
        </p:txBody>
      </p:sp>
      <p:sp>
        <p:nvSpPr>
          <p:cNvPr id="25" name="Shape 23"/>
          <p:cNvSpPr/>
          <p:nvPr/>
        </p:nvSpPr>
        <p:spPr>
          <a:xfrm>
            <a:off x="822960" y="5504688"/>
            <a:ext cx="109728" cy="109728"/>
          </a:xfrm>
          <a:prstGeom prst="ellipse">
            <a:avLst/>
          </a:prstGeom>
          <a:solidFill>
            <a:srgbClr val="5B6472"/>
          </a:solidFill>
          <a:ln w="12700">
            <a:solidFill>
              <a:srgbClr val="5B6472"/>
            </a:solidFill>
            <a:prstDash val="solid"/>
          </a:ln>
        </p:spPr>
        <p:txBody>
          <a:bodyPr/>
          <a:lstStyle/>
          <a:p>
            <a:endParaRPr lang="en-US"/>
          </a:p>
        </p:txBody>
      </p:sp>
      <p:sp>
        <p:nvSpPr>
          <p:cNvPr id="26" name="Text 24"/>
          <p:cNvSpPr txBox="1"/>
          <p:nvPr/>
        </p:nvSpPr>
        <p:spPr>
          <a:xfrm>
            <a:off x="1097280" y="5440680"/>
            <a:ext cx="4572000" cy="457200"/>
          </a:xfrm>
          <a:prstGeom prst="rect">
            <a:avLst/>
          </a:prstGeom>
          <a:noFill/>
          <a:ln/>
        </p:spPr>
        <p:txBody>
          <a:bodyPr wrap="square" lIns="0" tIns="0" rIns="0" bIns="0" rtlCol="0" anchor="t"/>
          <a:lstStyle/>
          <a:p>
            <a:pPr marL="0" indent="0">
              <a:buNone/>
            </a:pPr>
            <a:r>
              <a:rPr lang="en-US" sz="1400" dirty="0">
                <a:solidFill>
                  <a:srgbClr val="1B1B2A"/>
                </a:solidFill>
                <a:latin typeface="Calibri" pitchFamily="34" charset="0"/>
                <a:ea typeface="Calibri" pitchFamily="34" charset="-122"/>
                <a:cs typeface="Calibri" pitchFamily="34" charset="-120"/>
              </a:rPr>
              <a:t>One big diff to review at the end.</a:t>
            </a:r>
            <a:endParaRPr lang="en-US" sz="1400" dirty="0"/>
          </a:p>
        </p:txBody>
      </p:sp>
      <p:sp>
        <p:nvSpPr>
          <p:cNvPr id="27" name="Shape 25"/>
          <p:cNvSpPr/>
          <p:nvPr/>
        </p:nvSpPr>
        <p:spPr>
          <a:xfrm>
            <a:off x="6245352" y="2011680"/>
            <a:ext cx="5394960" cy="4206240"/>
          </a:xfrm>
          <a:prstGeom prst="roundRect">
            <a:avLst>
              <a:gd name="adj" fmla="val 1304"/>
            </a:avLst>
          </a:prstGeom>
          <a:solidFill>
            <a:srgbClr val="1E2761"/>
          </a:solidFill>
          <a:ln w="12700">
            <a:solidFill>
              <a:srgbClr val="1E2761"/>
            </a:solidFill>
            <a:prstDash val="solid"/>
          </a:ln>
        </p:spPr>
        <p:txBody>
          <a:bodyPr/>
          <a:lstStyle/>
          <a:p>
            <a:endParaRPr lang="en-US"/>
          </a:p>
        </p:txBody>
      </p:sp>
      <p:sp>
        <p:nvSpPr>
          <p:cNvPr id="28" name="Text 26"/>
          <p:cNvSpPr txBox="1"/>
          <p:nvPr/>
        </p:nvSpPr>
        <p:spPr>
          <a:xfrm>
            <a:off x="6519672" y="2240280"/>
            <a:ext cx="4572000" cy="274320"/>
          </a:xfrm>
          <a:prstGeom prst="rect">
            <a:avLst/>
          </a:prstGeom>
          <a:noFill/>
          <a:ln/>
        </p:spPr>
        <p:txBody>
          <a:bodyPr wrap="square" lIns="0" tIns="0" rIns="0" bIns="0" rtlCol="0" anchor="ctr"/>
          <a:lstStyle/>
          <a:p>
            <a:pPr marL="0" indent="0">
              <a:buNone/>
            </a:pPr>
            <a:r>
              <a:rPr lang="en-US" sz="1100" b="1" kern="0" spc="200" dirty="0">
                <a:solidFill>
                  <a:srgbClr val="7CFC9C"/>
                </a:solidFill>
                <a:latin typeface="Calibri" pitchFamily="34" charset="0"/>
                <a:ea typeface="Calibri" pitchFamily="34" charset="-122"/>
                <a:cs typeface="Calibri" pitchFamily="34" charset="-120"/>
              </a:rPr>
              <a:t>ORCHESTRATED</a:t>
            </a:r>
            <a:endParaRPr lang="en-US" sz="1100" dirty="0"/>
          </a:p>
        </p:txBody>
      </p:sp>
      <p:sp>
        <p:nvSpPr>
          <p:cNvPr id="29" name="Shape 27"/>
          <p:cNvSpPr/>
          <p:nvPr/>
        </p:nvSpPr>
        <p:spPr>
          <a:xfrm>
            <a:off x="6519672" y="2743200"/>
            <a:ext cx="1371600" cy="822960"/>
          </a:xfrm>
          <a:prstGeom prst="roundRect">
            <a:avLst>
              <a:gd name="adj" fmla="val 5556"/>
            </a:avLst>
          </a:prstGeom>
          <a:solidFill>
            <a:srgbClr val="FFFFFF"/>
          </a:solidFill>
          <a:ln w="12700">
            <a:solidFill>
              <a:srgbClr val="FFFFFF"/>
            </a:solidFill>
            <a:prstDash val="solid"/>
          </a:ln>
        </p:spPr>
        <p:txBody>
          <a:bodyPr/>
          <a:lstStyle/>
          <a:p>
            <a:endParaRPr lang="en-US"/>
          </a:p>
        </p:txBody>
      </p:sp>
      <p:sp>
        <p:nvSpPr>
          <p:cNvPr id="30" name="Text 28"/>
          <p:cNvSpPr txBox="1"/>
          <p:nvPr/>
        </p:nvSpPr>
        <p:spPr>
          <a:xfrm>
            <a:off x="6519672" y="2743200"/>
            <a:ext cx="1371600" cy="822960"/>
          </a:xfrm>
          <a:prstGeom prst="rect">
            <a:avLst/>
          </a:prstGeom>
          <a:noFill/>
          <a:ln/>
        </p:spPr>
        <p:txBody>
          <a:bodyPr wrap="square" lIns="0" tIns="0" rIns="0" bIns="0" rtlCol="0" anchor="ctr"/>
          <a:lstStyle/>
          <a:p>
            <a:pPr marL="0" indent="0" algn="ctr">
              <a:buNone/>
            </a:pPr>
            <a:r>
              <a:rPr lang="en-US" sz="1250" b="1" dirty="0">
                <a:solidFill>
                  <a:srgbClr val="1E2761"/>
                </a:solidFill>
                <a:latin typeface="Calibri" pitchFamily="34" charset="0"/>
                <a:ea typeface="Calibri" pitchFamily="34" charset="-122"/>
                <a:cs typeface="Calibri" pitchFamily="34" charset="-120"/>
              </a:rPr>
              <a:t>Foundation</a:t>
            </a:r>
            <a:endParaRPr lang="en-US" sz="1250" dirty="0"/>
          </a:p>
        </p:txBody>
      </p:sp>
      <p:sp>
        <p:nvSpPr>
          <p:cNvPr id="31" name="Shape 29"/>
          <p:cNvSpPr/>
          <p:nvPr/>
        </p:nvSpPr>
        <p:spPr>
          <a:xfrm flipV="1">
            <a:off x="7909560" y="2761488"/>
            <a:ext cx="640080" cy="393192"/>
          </a:xfrm>
          <a:prstGeom prst="line">
            <a:avLst/>
          </a:prstGeom>
          <a:noFill/>
          <a:ln w="15875">
            <a:solidFill>
              <a:srgbClr val="CADCFC"/>
            </a:solidFill>
            <a:prstDash val="solid"/>
            <a:tailEnd type="triangle"/>
          </a:ln>
        </p:spPr>
        <p:txBody>
          <a:bodyPr/>
          <a:lstStyle/>
          <a:p>
            <a:endParaRPr lang="en-US"/>
          </a:p>
        </p:txBody>
      </p:sp>
      <p:sp>
        <p:nvSpPr>
          <p:cNvPr id="32" name="Shape 30"/>
          <p:cNvSpPr/>
          <p:nvPr/>
        </p:nvSpPr>
        <p:spPr>
          <a:xfrm>
            <a:off x="8595360" y="2606040"/>
            <a:ext cx="2788920" cy="310896"/>
          </a:xfrm>
          <a:prstGeom prst="roundRect">
            <a:avLst>
              <a:gd name="adj" fmla="val 11765"/>
            </a:avLst>
          </a:prstGeom>
          <a:solidFill>
            <a:srgbClr val="2E3A7A"/>
          </a:solidFill>
          <a:ln w="12700">
            <a:solidFill>
              <a:srgbClr val="2E3A7A"/>
            </a:solidFill>
            <a:prstDash val="solid"/>
          </a:ln>
        </p:spPr>
        <p:txBody>
          <a:bodyPr/>
          <a:lstStyle/>
          <a:p>
            <a:endParaRPr lang="en-US"/>
          </a:p>
        </p:txBody>
      </p:sp>
      <p:sp>
        <p:nvSpPr>
          <p:cNvPr id="33" name="Text 31"/>
          <p:cNvSpPr txBox="1"/>
          <p:nvPr/>
        </p:nvSpPr>
        <p:spPr>
          <a:xfrm>
            <a:off x="8732520" y="2606040"/>
            <a:ext cx="2606040" cy="310896"/>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Agent A</a:t>
            </a:r>
            <a:r>
              <a:rPr lang="en-US" sz="1200" dirty="0">
                <a:solidFill>
                  <a:srgbClr val="CADCFC"/>
                </a:solidFill>
                <a:latin typeface="Calibri" pitchFamily="34" charset="0"/>
                <a:ea typeface="Calibri" pitchFamily="34" charset="-122"/>
                <a:cs typeface="Calibri" pitchFamily="34" charset="-120"/>
              </a:rPr>
              <a:t>  ·  Opus</a:t>
            </a:r>
            <a:endParaRPr lang="en-US" sz="1200" dirty="0"/>
          </a:p>
        </p:txBody>
      </p:sp>
      <p:sp>
        <p:nvSpPr>
          <p:cNvPr id="34" name="Shape 32"/>
          <p:cNvSpPr/>
          <p:nvPr/>
        </p:nvSpPr>
        <p:spPr>
          <a:xfrm flipV="1">
            <a:off x="7909560" y="3145536"/>
            <a:ext cx="640080" cy="9144"/>
          </a:xfrm>
          <a:prstGeom prst="line">
            <a:avLst/>
          </a:prstGeom>
          <a:noFill/>
          <a:ln w="15875">
            <a:solidFill>
              <a:srgbClr val="CADCFC"/>
            </a:solidFill>
            <a:prstDash val="solid"/>
            <a:tailEnd type="triangle"/>
          </a:ln>
        </p:spPr>
        <p:txBody>
          <a:bodyPr/>
          <a:lstStyle/>
          <a:p>
            <a:endParaRPr lang="en-US"/>
          </a:p>
        </p:txBody>
      </p:sp>
      <p:sp>
        <p:nvSpPr>
          <p:cNvPr id="35" name="Shape 33"/>
          <p:cNvSpPr/>
          <p:nvPr/>
        </p:nvSpPr>
        <p:spPr>
          <a:xfrm>
            <a:off x="8595360" y="2990088"/>
            <a:ext cx="2788920" cy="310896"/>
          </a:xfrm>
          <a:prstGeom prst="roundRect">
            <a:avLst>
              <a:gd name="adj" fmla="val 11765"/>
            </a:avLst>
          </a:prstGeom>
          <a:solidFill>
            <a:srgbClr val="2E3A7A"/>
          </a:solidFill>
          <a:ln w="12700">
            <a:solidFill>
              <a:srgbClr val="2E3A7A"/>
            </a:solidFill>
            <a:prstDash val="solid"/>
          </a:ln>
        </p:spPr>
        <p:txBody>
          <a:bodyPr/>
          <a:lstStyle/>
          <a:p>
            <a:endParaRPr lang="en-US"/>
          </a:p>
        </p:txBody>
      </p:sp>
      <p:sp>
        <p:nvSpPr>
          <p:cNvPr id="36" name="Text 34"/>
          <p:cNvSpPr txBox="1"/>
          <p:nvPr/>
        </p:nvSpPr>
        <p:spPr>
          <a:xfrm>
            <a:off x="8732520" y="2990088"/>
            <a:ext cx="2606040" cy="310896"/>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Agent B</a:t>
            </a:r>
            <a:r>
              <a:rPr lang="en-US" sz="1200" dirty="0">
                <a:solidFill>
                  <a:srgbClr val="CADCFC"/>
                </a:solidFill>
                <a:latin typeface="Calibri" pitchFamily="34" charset="0"/>
                <a:ea typeface="Calibri" pitchFamily="34" charset="-122"/>
                <a:cs typeface="Calibri" pitchFamily="34" charset="-120"/>
              </a:rPr>
              <a:t>  ·  Sonnet</a:t>
            </a:r>
            <a:endParaRPr lang="en-US" sz="1200" dirty="0"/>
          </a:p>
        </p:txBody>
      </p:sp>
      <p:sp>
        <p:nvSpPr>
          <p:cNvPr id="37" name="Shape 35"/>
          <p:cNvSpPr/>
          <p:nvPr/>
        </p:nvSpPr>
        <p:spPr>
          <a:xfrm>
            <a:off x="7909560" y="3154680"/>
            <a:ext cx="640080" cy="374904"/>
          </a:xfrm>
          <a:prstGeom prst="line">
            <a:avLst/>
          </a:prstGeom>
          <a:noFill/>
          <a:ln w="15875">
            <a:solidFill>
              <a:srgbClr val="CADCFC"/>
            </a:solidFill>
            <a:prstDash val="solid"/>
            <a:tailEnd type="triangle"/>
          </a:ln>
        </p:spPr>
        <p:txBody>
          <a:bodyPr/>
          <a:lstStyle/>
          <a:p>
            <a:endParaRPr lang="en-US"/>
          </a:p>
        </p:txBody>
      </p:sp>
      <p:sp>
        <p:nvSpPr>
          <p:cNvPr id="38" name="Shape 36"/>
          <p:cNvSpPr/>
          <p:nvPr/>
        </p:nvSpPr>
        <p:spPr>
          <a:xfrm>
            <a:off x="8595360" y="3374136"/>
            <a:ext cx="2788920" cy="310896"/>
          </a:xfrm>
          <a:prstGeom prst="roundRect">
            <a:avLst>
              <a:gd name="adj" fmla="val 11765"/>
            </a:avLst>
          </a:prstGeom>
          <a:solidFill>
            <a:srgbClr val="2E3A7A"/>
          </a:solidFill>
          <a:ln w="12700">
            <a:solidFill>
              <a:srgbClr val="2E3A7A"/>
            </a:solidFill>
            <a:prstDash val="solid"/>
          </a:ln>
        </p:spPr>
        <p:txBody>
          <a:bodyPr/>
          <a:lstStyle/>
          <a:p>
            <a:endParaRPr lang="en-US"/>
          </a:p>
        </p:txBody>
      </p:sp>
      <p:sp>
        <p:nvSpPr>
          <p:cNvPr id="39" name="Text 37"/>
          <p:cNvSpPr txBox="1"/>
          <p:nvPr/>
        </p:nvSpPr>
        <p:spPr>
          <a:xfrm>
            <a:off x="8732520" y="3374136"/>
            <a:ext cx="2606040" cy="310896"/>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Agent C</a:t>
            </a:r>
            <a:r>
              <a:rPr lang="en-US" sz="1200" dirty="0">
                <a:solidFill>
                  <a:srgbClr val="CADCFC"/>
                </a:solidFill>
                <a:latin typeface="Calibri" pitchFamily="34" charset="0"/>
                <a:ea typeface="Calibri" pitchFamily="34" charset="-122"/>
                <a:cs typeface="Calibri" pitchFamily="34" charset="-120"/>
              </a:rPr>
              <a:t>  ·  Haiku</a:t>
            </a:r>
            <a:endParaRPr lang="en-US" sz="1200" dirty="0"/>
          </a:p>
        </p:txBody>
      </p:sp>
      <p:sp>
        <p:nvSpPr>
          <p:cNvPr id="40" name="Text 38"/>
          <p:cNvSpPr txBox="1"/>
          <p:nvPr/>
        </p:nvSpPr>
        <p:spPr>
          <a:xfrm>
            <a:off x="6519672" y="3794760"/>
            <a:ext cx="4846320" cy="274320"/>
          </a:xfrm>
          <a:prstGeom prst="rect">
            <a:avLst/>
          </a:prstGeom>
          <a:noFill/>
          <a:ln/>
        </p:spPr>
        <p:txBody>
          <a:bodyPr wrap="square" lIns="0" tIns="0" rIns="0" bIns="0" rtlCol="0" anchor="ctr"/>
          <a:lstStyle/>
          <a:p>
            <a:pPr marL="0" indent="0">
              <a:buNone/>
            </a:pPr>
            <a:r>
              <a:rPr lang="en-US" sz="1150" i="1" dirty="0">
                <a:solidFill>
                  <a:srgbClr val="CADCFC"/>
                </a:solidFill>
                <a:latin typeface="Calibri" pitchFamily="34" charset="0"/>
                <a:ea typeface="Calibri" pitchFamily="34" charset="-122"/>
                <a:cs typeface="Calibri" pitchFamily="34" charset="-120"/>
              </a:rPr>
              <a:t>first the foundation, then parallel units, a model for each</a:t>
            </a:r>
            <a:endParaRPr lang="en-US" sz="1150" dirty="0"/>
          </a:p>
        </p:txBody>
      </p:sp>
      <p:sp>
        <p:nvSpPr>
          <p:cNvPr id="41" name="Shape 39"/>
          <p:cNvSpPr/>
          <p:nvPr/>
        </p:nvSpPr>
        <p:spPr>
          <a:xfrm>
            <a:off x="6519672" y="4270248"/>
            <a:ext cx="109728" cy="109728"/>
          </a:xfrm>
          <a:prstGeom prst="ellipse">
            <a:avLst/>
          </a:prstGeom>
          <a:solidFill>
            <a:srgbClr val="7CFC9C"/>
          </a:solidFill>
          <a:ln w="12700">
            <a:solidFill>
              <a:srgbClr val="7CFC9C"/>
            </a:solidFill>
            <a:prstDash val="solid"/>
          </a:ln>
        </p:spPr>
        <p:txBody>
          <a:bodyPr/>
          <a:lstStyle/>
          <a:p>
            <a:endParaRPr lang="en-US"/>
          </a:p>
        </p:txBody>
      </p:sp>
      <p:sp>
        <p:nvSpPr>
          <p:cNvPr id="42" name="Text 40"/>
          <p:cNvSpPr txBox="1"/>
          <p:nvPr/>
        </p:nvSpPr>
        <p:spPr>
          <a:xfrm>
            <a:off x="6793992" y="4206240"/>
            <a:ext cx="4617720" cy="457200"/>
          </a:xfrm>
          <a:prstGeom prst="rect">
            <a:avLst/>
          </a:prstGeom>
          <a:noFill/>
          <a:ln/>
        </p:spPr>
        <p:txBody>
          <a:bodyPr wrap="square" lIns="0" tIns="0" rIns="0" bIns="0" rtlCol="0" anchor="t"/>
          <a:lstStyle/>
          <a:p>
            <a:pPr marL="0" indent="0">
              <a:buNone/>
            </a:pPr>
            <a:r>
              <a:rPr lang="en-US" sz="1400" dirty="0">
                <a:solidFill>
                  <a:srgbClr val="FFFFFF"/>
                </a:solidFill>
                <a:latin typeface="Calibri" pitchFamily="34" charset="0"/>
                <a:ea typeface="Calibri" pitchFamily="34" charset="-122"/>
                <a:cs typeface="Calibri" pitchFamily="34" charset="-120"/>
              </a:rPr>
              <a:t>Independent units run at the same time.</a:t>
            </a:r>
            <a:endParaRPr lang="en-US" sz="1400" dirty="0"/>
          </a:p>
        </p:txBody>
      </p:sp>
      <p:sp>
        <p:nvSpPr>
          <p:cNvPr id="43" name="Shape 41"/>
          <p:cNvSpPr/>
          <p:nvPr/>
        </p:nvSpPr>
        <p:spPr>
          <a:xfrm>
            <a:off x="6519672" y="4773168"/>
            <a:ext cx="109728" cy="109728"/>
          </a:xfrm>
          <a:prstGeom prst="ellipse">
            <a:avLst/>
          </a:prstGeom>
          <a:solidFill>
            <a:srgbClr val="7CFC9C"/>
          </a:solidFill>
          <a:ln w="12700">
            <a:solidFill>
              <a:srgbClr val="7CFC9C"/>
            </a:solidFill>
            <a:prstDash val="solid"/>
          </a:ln>
        </p:spPr>
        <p:txBody>
          <a:bodyPr/>
          <a:lstStyle/>
          <a:p>
            <a:endParaRPr lang="en-US"/>
          </a:p>
        </p:txBody>
      </p:sp>
      <p:sp>
        <p:nvSpPr>
          <p:cNvPr id="44" name="Text 42"/>
          <p:cNvSpPr txBox="1"/>
          <p:nvPr/>
        </p:nvSpPr>
        <p:spPr>
          <a:xfrm>
            <a:off x="6793992" y="4709160"/>
            <a:ext cx="4617720" cy="457200"/>
          </a:xfrm>
          <a:prstGeom prst="rect">
            <a:avLst/>
          </a:prstGeom>
          <a:noFill/>
          <a:ln/>
        </p:spPr>
        <p:txBody>
          <a:bodyPr wrap="square" lIns="0" tIns="0" rIns="0" bIns="0" rtlCol="0" anchor="t"/>
          <a:lstStyle/>
          <a:p>
            <a:pPr marL="0" indent="0">
              <a:buNone/>
            </a:pPr>
            <a:r>
              <a:rPr lang="en-US" sz="1400" dirty="0">
                <a:solidFill>
                  <a:srgbClr val="FFFFFF"/>
                </a:solidFill>
                <a:latin typeface="Calibri" pitchFamily="34" charset="0"/>
                <a:ea typeface="Calibri" pitchFamily="34" charset="-122"/>
                <a:cs typeface="Calibri" pitchFamily="34" charset="-120"/>
              </a:rPr>
              <a:t>Each agent sees only the files for its unit.</a:t>
            </a:r>
            <a:endParaRPr lang="en-US" sz="1400" dirty="0"/>
          </a:p>
        </p:txBody>
      </p:sp>
      <p:sp>
        <p:nvSpPr>
          <p:cNvPr id="45" name="Shape 43"/>
          <p:cNvSpPr/>
          <p:nvPr/>
        </p:nvSpPr>
        <p:spPr>
          <a:xfrm>
            <a:off x="6519672" y="5276088"/>
            <a:ext cx="109728" cy="109728"/>
          </a:xfrm>
          <a:prstGeom prst="ellipse">
            <a:avLst/>
          </a:prstGeom>
          <a:solidFill>
            <a:srgbClr val="7CFC9C"/>
          </a:solidFill>
          <a:ln w="12700">
            <a:solidFill>
              <a:srgbClr val="7CFC9C"/>
            </a:solidFill>
            <a:prstDash val="solid"/>
          </a:ln>
        </p:spPr>
        <p:txBody>
          <a:bodyPr/>
          <a:lstStyle/>
          <a:p>
            <a:endParaRPr lang="en-US"/>
          </a:p>
        </p:txBody>
      </p:sp>
      <p:sp>
        <p:nvSpPr>
          <p:cNvPr id="46" name="Text 44"/>
          <p:cNvSpPr txBox="1"/>
          <p:nvPr/>
        </p:nvSpPr>
        <p:spPr>
          <a:xfrm>
            <a:off x="6793992" y="5212080"/>
            <a:ext cx="4617720" cy="457200"/>
          </a:xfrm>
          <a:prstGeom prst="rect">
            <a:avLst/>
          </a:prstGeom>
          <a:noFill/>
          <a:ln/>
        </p:spPr>
        <p:txBody>
          <a:bodyPr wrap="square" lIns="0" tIns="0" rIns="0" bIns="0" rtlCol="0" anchor="t"/>
          <a:lstStyle/>
          <a:p>
            <a:pPr marL="0" indent="0">
              <a:buNone/>
            </a:pPr>
            <a:r>
              <a:rPr lang="en-US" sz="1400" dirty="0">
                <a:solidFill>
                  <a:srgbClr val="FFFFFF"/>
                </a:solidFill>
                <a:latin typeface="Calibri" pitchFamily="34" charset="0"/>
                <a:ea typeface="Calibri" pitchFamily="34" charset="-122"/>
                <a:cs typeface="Calibri" pitchFamily="34" charset="-120"/>
              </a:rPr>
              <a:t>Each unit runs on a model that fits its risk.</a:t>
            </a:r>
            <a:endParaRPr lang="en-US" sz="1400" dirty="0"/>
          </a:p>
        </p:txBody>
      </p:sp>
      <p:sp>
        <p:nvSpPr>
          <p:cNvPr id="47" name="Shape 45"/>
          <p:cNvSpPr/>
          <p:nvPr/>
        </p:nvSpPr>
        <p:spPr>
          <a:xfrm>
            <a:off x="6519672" y="5779008"/>
            <a:ext cx="109728" cy="109728"/>
          </a:xfrm>
          <a:prstGeom prst="ellipse">
            <a:avLst/>
          </a:prstGeom>
          <a:solidFill>
            <a:srgbClr val="7CFC9C"/>
          </a:solidFill>
          <a:ln w="12700">
            <a:solidFill>
              <a:srgbClr val="7CFC9C"/>
            </a:solidFill>
            <a:prstDash val="solid"/>
          </a:ln>
        </p:spPr>
        <p:txBody>
          <a:bodyPr/>
          <a:lstStyle/>
          <a:p>
            <a:endParaRPr lang="en-US"/>
          </a:p>
        </p:txBody>
      </p:sp>
      <p:sp>
        <p:nvSpPr>
          <p:cNvPr id="48" name="Text 46"/>
          <p:cNvSpPr txBox="1"/>
          <p:nvPr/>
        </p:nvSpPr>
        <p:spPr>
          <a:xfrm>
            <a:off x="6793992" y="5715000"/>
            <a:ext cx="4617720" cy="457200"/>
          </a:xfrm>
          <a:prstGeom prst="rect">
            <a:avLst/>
          </a:prstGeom>
          <a:noFill/>
          <a:ln/>
        </p:spPr>
        <p:txBody>
          <a:bodyPr wrap="square" lIns="0" tIns="0" rIns="0" bIns="0" rtlCol="0" anchor="t"/>
          <a:lstStyle/>
          <a:p>
            <a:pPr marL="0" indent="0">
              <a:buNone/>
            </a:pPr>
            <a:r>
              <a:rPr lang="en-US" sz="1400" dirty="0">
                <a:solidFill>
                  <a:srgbClr val="FFFFFF"/>
                </a:solidFill>
                <a:latin typeface="Calibri" pitchFamily="34" charset="0"/>
                <a:ea typeface="Calibri" pitchFamily="34" charset="-122"/>
                <a:cs typeface="Calibri" pitchFamily="34" charset="-120"/>
              </a:rPr>
              <a:t>Small diffs, each checked against its own criteria.</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7315200" cy="365760"/>
          </a:xfrm>
          <a:prstGeom prst="rect">
            <a:avLst/>
          </a:prstGeom>
          <a:noFill/>
          <a:ln/>
        </p:spPr>
        <p:txBody>
          <a:bodyPr wrap="square" lIns="0" tIns="0" rIns="0" bIns="0" rtlCol="0" anchor="ctr"/>
          <a:lstStyle/>
          <a:p>
            <a:pPr marL="0" indent="0">
              <a:buNone/>
            </a:pPr>
            <a:r>
              <a:rPr lang="en-US" sz="1200" b="1" kern="0" spc="200" dirty="0">
                <a:solidFill>
                  <a:srgbClr val="1E2761"/>
                </a:solidFill>
                <a:latin typeface="Calibri" pitchFamily="34" charset="0"/>
                <a:ea typeface="Calibri" pitchFamily="34" charset="-122"/>
                <a:cs typeface="Calibri" pitchFamily="34" charset="-120"/>
              </a:rPr>
              <a:t>WHY ORCHESTRATE?</a:t>
            </a:r>
            <a:endParaRPr lang="en-US" sz="1200" dirty="0"/>
          </a:p>
        </p:txBody>
      </p:sp>
      <p:sp>
        <p:nvSpPr>
          <p:cNvPr id="3" name="Text 1"/>
          <p:cNvSpPr txBox="1"/>
          <p:nvPr/>
        </p:nvSpPr>
        <p:spPr>
          <a:xfrm>
            <a:off x="548640" y="685800"/>
            <a:ext cx="10515600" cy="640080"/>
          </a:xfrm>
          <a:prstGeom prst="rect">
            <a:avLst/>
          </a:prstGeom>
          <a:noFill/>
          <a:ln/>
        </p:spPr>
        <p:txBody>
          <a:bodyPr wrap="square" lIns="0" tIns="0" rIns="0" bIns="0" rtlCol="0" anchor="ctr"/>
          <a:lstStyle/>
          <a:p>
            <a:pPr marL="0" indent="0">
              <a:buNone/>
            </a:pPr>
            <a:r>
              <a:rPr lang="en-US" sz="3000" b="1" dirty="0">
                <a:solidFill>
                  <a:srgbClr val="1B1B2A"/>
                </a:solidFill>
                <a:latin typeface="Cambria" pitchFamily="34" charset="0"/>
                <a:ea typeface="Cambria" pitchFamily="34" charset="-122"/>
                <a:cs typeface="Cambria" pitchFamily="34" charset="-120"/>
              </a:rPr>
              <a:t>What You Gain, and What It Costs</a:t>
            </a:r>
            <a:endParaRPr lang="en-US" sz="3000" dirty="0"/>
          </a:p>
        </p:txBody>
      </p:sp>
      <p:sp>
        <p:nvSpPr>
          <p:cNvPr id="4" name="Text 2"/>
          <p:cNvSpPr txBox="1"/>
          <p:nvPr/>
        </p:nvSpPr>
        <p:spPr>
          <a:xfrm>
            <a:off x="548640" y="1325880"/>
            <a:ext cx="11064240" cy="457200"/>
          </a:xfrm>
          <a:prstGeom prst="rect">
            <a:avLst/>
          </a:prstGeom>
          <a:noFill/>
          <a:ln/>
        </p:spPr>
        <p:txBody>
          <a:bodyPr wrap="square" lIns="0" tIns="0" rIns="0" bIns="0" rtlCol="0" anchor="ctr"/>
          <a:lstStyle/>
          <a:p>
            <a:pPr marL="0" indent="0">
              <a:buNone/>
            </a:pPr>
            <a:r>
              <a:rPr lang="en-US" sz="1600" i="1" dirty="0">
                <a:solidFill>
                  <a:srgbClr val="5B6472"/>
                </a:solidFill>
                <a:latin typeface="Calibri" pitchFamily="34" charset="0"/>
                <a:ea typeface="Calibri" pitchFamily="34" charset="-122"/>
                <a:cs typeface="Calibri" pitchFamily="34" charset="-120"/>
              </a:rPr>
              <a:t>Orchestration is a trade. Worth it when the work splits cleanly; skip it when the task is small or every piece touches the same files.</a:t>
            </a:r>
            <a:endParaRPr lang="en-US" sz="1600" dirty="0"/>
          </a:p>
        </p:txBody>
      </p:sp>
      <p:sp>
        <p:nvSpPr>
          <p:cNvPr id="5" name="Shape 3"/>
          <p:cNvSpPr/>
          <p:nvPr/>
        </p:nvSpPr>
        <p:spPr>
          <a:xfrm>
            <a:off x="548640" y="2011680"/>
            <a:ext cx="5394960" cy="3154680"/>
          </a:xfrm>
          <a:prstGeom prst="roundRect">
            <a:avLst>
              <a:gd name="adj" fmla="val 1739"/>
            </a:avLst>
          </a:prstGeom>
          <a:solidFill>
            <a:srgbClr val="F4F6FB"/>
          </a:solidFill>
          <a:ln w="12700">
            <a:solidFill>
              <a:srgbClr val="F4F6FB"/>
            </a:solidFill>
            <a:prstDash val="solid"/>
          </a:ln>
        </p:spPr>
        <p:txBody>
          <a:bodyPr/>
          <a:lstStyle/>
          <a:p>
            <a:endParaRPr lang="en-US"/>
          </a:p>
        </p:txBody>
      </p:sp>
      <p:sp>
        <p:nvSpPr>
          <p:cNvPr id="6" name="Text 4"/>
          <p:cNvSpPr txBox="1"/>
          <p:nvPr/>
        </p:nvSpPr>
        <p:spPr>
          <a:xfrm>
            <a:off x="822960" y="2212848"/>
            <a:ext cx="4572000" cy="274320"/>
          </a:xfrm>
          <a:prstGeom prst="rect">
            <a:avLst/>
          </a:prstGeom>
          <a:noFill/>
          <a:ln/>
        </p:spPr>
        <p:txBody>
          <a:bodyPr wrap="square" lIns="0" tIns="0" rIns="0" bIns="0" rtlCol="0" anchor="ctr"/>
          <a:lstStyle/>
          <a:p>
            <a:pPr marL="0" indent="0">
              <a:buNone/>
            </a:pPr>
            <a:r>
              <a:rPr lang="en-US" sz="1100" b="1" kern="0" spc="200" dirty="0">
                <a:solidFill>
                  <a:srgbClr val="1E2761"/>
                </a:solidFill>
                <a:latin typeface="Calibri" pitchFamily="34" charset="0"/>
                <a:ea typeface="Calibri" pitchFamily="34" charset="-122"/>
                <a:cs typeface="Calibri" pitchFamily="34" charset="-120"/>
              </a:rPr>
              <a:t>WHAT YOU GAIN</a:t>
            </a:r>
            <a:endParaRPr lang="en-US" sz="1100" dirty="0"/>
          </a:p>
        </p:txBody>
      </p:sp>
      <p:sp>
        <p:nvSpPr>
          <p:cNvPr id="7" name="Text 5"/>
          <p:cNvSpPr txBox="1"/>
          <p:nvPr/>
        </p:nvSpPr>
        <p:spPr>
          <a:xfrm>
            <a:off x="822960" y="2606040"/>
            <a:ext cx="4892040" cy="457200"/>
          </a:xfrm>
          <a:prstGeom prst="rect">
            <a:avLst/>
          </a:prstGeom>
          <a:noFill/>
          <a:ln/>
        </p:spPr>
        <p:txBody>
          <a:bodyPr wrap="square" lIns="0" tIns="0" rIns="0" bIns="0" rtlCol="0" anchor="t"/>
          <a:lstStyle/>
          <a:p>
            <a:pPr marL="0" indent="0">
              <a:buNone/>
            </a:pPr>
            <a:r>
              <a:rPr lang="en-US" sz="1400" b="1" dirty="0">
                <a:solidFill>
                  <a:srgbClr val="1B1B2A"/>
                </a:solidFill>
                <a:latin typeface="Calibri" pitchFamily="34" charset="0"/>
                <a:ea typeface="Calibri" pitchFamily="34" charset="-122"/>
                <a:cs typeface="Calibri" pitchFamily="34" charset="-120"/>
              </a:rPr>
              <a:t>Speed  </a:t>
            </a:r>
            <a:r>
              <a:rPr lang="en-US" sz="1400" dirty="0">
                <a:solidFill>
                  <a:srgbClr val="5B6472"/>
                </a:solidFill>
                <a:latin typeface="Calibri" pitchFamily="34" charset="0"/>
                <a:ea typeface="Calibri" pitchFamily="34" charset="-122"/>
                <a:cs typeface="Calibri" pitchFamily="34" charset="-120"/>
              </a:rPr>
              <a:t>Independent units run in parallel.</a:t>
            </a:r>
            <a:endParaRPr lang="en-US" sz="1400" dirty="0"/>
          </a:p>
        </p:txBody>
      </p:sp>
      <p:sp>
        <p:nvSpPr>
          <p:cNvPr id="8" name="Text 6"/>
          <p:cNvSpPr txBox="1"/>
          <p:nvPr/>
        </p:nvSpPr>
        <p:spPr>
          <a:xfrm>
            <a:off x="822960" y="3108960"/>
            <a:ext cx="4892040" cy="457200"/>
          </a:xfrm>
          <a:prstGeom prst="rect">
            <a:avLst/>
          </a:prstGeom>
          <a:noFill/>
          <a:ln/>
        </p:spPr>
        <p:txBody>
          <a:bodyPr wrap="square" lIns="0" tIns="0" rIns="0" bIns="0" rtlCol="0" anchor="t"/>
          <a:lstStyle/>
          <a:p>
            <a:pPr marL="0" indent="0">
              <a:buNone/>
            </a:pPr>
            <a:r>
              <a:rPr lang="en-US" sz="1400" b="1" dirty="0">
                <a:solidFill>
                  <a:srgbClr val="1B1B2A"/>
                </a:solidFill>
                <a:latin typeface="Calibri" pitchFamily="34" charset="0"/>
                <a:ea typeface="Calibri" pitchFamily="34" charset="-122"/>
                <a:cs typeface="Calibri" pitchFamily="34" charset="-120"/>
              </a:rPr>
              <a:t>Focus  </a:t>
            </a:r>
            <a:r>
              <a:rPr lang="en-US" sz="1400" dirty="0">
                <a:solidFill>
                  <a:srgbClr val="5B6472"/>
                </a:solidFill>
                <a:latin typeface="Calibri" pitchFamily="34" charset="0"/>
                <a:ea typeface="Calibri" pitchFamily="34" charset="-122"/>
                <a:cs typeface="Calibri" pitchFamily="34" charset="-120"/>
              </a:rPr>
              <a:t>Each agent’s context holds only its unit.</a:t>
            </a:r>
            <a:endParaRPr lang="en-US" sz="1400" dirty="0"/>
          </a:p>
        </p:txBody>
      </p:sp>
      <p:sp>
        <p:nvSpPr>
          <p:cNvPr id="9" name="Text 7"/>
          <p:cNvSpPr txBox="1"/>
          <p:nvPr/>
        </p:nvSpPr>
        <p:spPr>
          <a:xfrm>
            <a:off x="822960" y="3611880"/>
            <a:ext cx="4892040" cy="457200"/>
          </a:xfrm>
          <a:prstGeom prst="rect">
            <a:avLst/>
          </a:prstGeom>
          <a:noFill/>
          <a:ln/>
        </p:spPr>
        <p:txBody>
          <a:bodyPr wrap="square" lIns="0" tIns="0" rIns="0" bIns="0" rtlCol="0" anchor="t"/>
          <a:lstStyle/>
          <a:p>
            <a:pPr marL="0" indent="0">
              <a:buNone/>
            </a:pPr>
            <a:r>
              <a:rPr lang="en-US" sz="1400" b="1" dirty="0">
                <a:solidFill>
                  <a:srgbClr val="1B1B2A"/>
                </a:solidFill>
                <a:latin typeface="Calibri" pitchFamily="34" charset="0"/>
                <a:ea typeface="Calibri" pitchFamily="34" charset="-122"/>
                <a:cs typeface="Calibri" pitchFamily="34" charset="-120"/>
              </a:rPr>
              <a:t>Fit  </a:t>
            </a:r>
            <a:r>
              <a:rPr lang="en-US" sz="1400" dirty="0">
                <a:solidFill>
                  <a:srgbClr val="5B6472"/>
                </a:solidFill>
                <a:latin typeface="Calibri" pitchFamily="34" charset="0"/>
                <a:ea typeface="Calibri" pitchFamily="34" charset="-122"/>
                <a:cs typeface="Calibri" pitchFamily="34" charset="-120"/>
              </a:rPr>
              <a:t>The right model and effort for each task.</a:t>
            </a:r>
            <a:endParaRPr lang="en-US" sz="1400" dirty="0"/>
          </a:p>
        </p:txBody>
      </p:sp>
      <p:sp>
        <p:nvSpPr>
          <p:cNvPr id="11" name="Shape 9"/>
          <p:cNvSpPr/>
          <p:nvPr/>
        </p:nvSpPr>
        <p:spPr>
          <a:xfrm>
            <a:off x="6245352" y="2011680"/>
            <a:ext cx="5394960" cy="3154680"/>
          </a:xfrm>
          <a:prstGeom prst="roundRect">
            <a:avLst>
              <a:gd name="adj" fmla="val 1739"/>
            </a:avLst>
          </a:prstGeom>
          <a:solidFill>
            <a:srgbClr val="F4F6FB"/>
          </a:solidFill>
          <a:ln w="12700">
            <a:solidFill>
              <a:srgbClr val="F4F6FB"/>
            </a:solidFill>
            <a:prstDash val="solid"/>
          </a:ln>
        </p:spPr>
        <p:txBody>
          <a:bodyPr/>
          <a:lstStyle/>
          <a:p>
            <a:endParaRPr lang="en-US"/>
          </a:p>
        </p:txBody>
      </p:sp>
      <p:sp>
        <p:nvSpPr>
          <p:cNvPr id="12" name="Text 10"/>
          <p:cNvSpPr txBox="1"/>
          <p:nvPr/>
        </p:nvSpPr>
        <p:spPr>
          <a:xfrm>
            <a:off x="6519672" y="2212848"/>
            <a:ext cx="4572000" cy="274320"/>
          </a:xfrm>
          <a:prstGeom prst="rect">
            <a:avLst/>
          </a:prstGeom>
          <a:noFill/>
          <a:ln/>
        </p:spPr>
        <p:txBody>
          <a:bodyPr wrap="square" lIns="0" tIns="0" rIns="0" bIns="0" rtlCol="0" anchor="ctr"/>
          <a:lstStyle/>
          <a:p>
            <a:pPr marL="0" indent="0">
              <a:buNone/>
            </a:pPr>
            <a:r>
              <a:rPr lang="en-US" sz="1100" b="1" kern="0" spc="200" dirty="0">
                <a:solidFill>
                  <a:srgbClr val="B23A3A"/>
                </a:solidFill>
                <a:latin typeface="Calibri" pitchFamily="34" charset="0"/>
                <a:ea typeface="Calibri" pitchFamily="34" charset="-122"/>
                <a:cs typeface="Calibri" pitchFamily="34" charset="-120"/>
              </a:rPr>
              <a:t>WHAT IT COSTS</a:t>
            </a:r>
            <a:endParaRPr lang="en-US" sz="1100" dirty="0"/>
          </a:p>
        </p:txBody>
      </p:sp>
      <p:sp>
        <p:nvSpPr>
          <p:cNvPr id="13" name="Text 11"/>
          <p:cNvSpPr txBox="1"/>
          <p:nvPr/>
        </p:nvSpPr>
        <p:spPr>
          <a:xfrm>
            <a:off x="6519672" y="2606040"/>
            <a:ext cx="4892040" cy="457200"/>
          </a:xfrm>
          <a:prstGeom prst="rect">
            <a:avLst/>
          </a:prstGeom>
          <a:noFill/>
          <a:ln/>
        </p:spPr>
        <p:txBody>
          <a:bodyPr wrap="square" lIns="0" tIns="0" rIns="0" bIns="0" rtlCol="0" anchor="t"/>
          <a:lstStyle/>
          <a:p>
            <a:pPr marL="0" indent="0">
              <a:buNone/>
            </a:pPr>
            <a:r>
              <a:rPr lang="en-US" sz="1400" b="1" dirty="0">
                <a:solidFill>
                  <a:srgbClr val="1B1B2A"/>
                </a:solidFill>
                <a:latin typeface="Calibri" pitchFamily="34" charset="0"/>
                <a:ea typeface="Calibri" pitchFamily="34" charset="-122"/>
                <a:cs typeface="Calibri" pitchFamily="34" charset="-120"/>
              </a:rPr>
              <a:t>Coordination  </a:t>
            </a:r>
            <a:r>
              <a:rPr lang="en-US" sz="1400" dirty="0">
                <a:solidFill>
                  <a:srgbClr val="5B6472"/>
                </a:solidFill>
                <a:latin typeface="Calibri" pitchFamily="34" charset="0"/>
                <a:ea typeface="Calibri" pitchFamily="34" charset="-122"/>
                <a:cs typeface="Calibri" pitchFamily="34" charset="-120"/>
              </a:rPr>
              <a:t>Someone plans, sequences, and merges.</a:t>
            </a:r>
            <a:endParaRPr lang="en-US" sz="1400" dirty="0"/>
          </a:p>
        </p:txBody>
      </p:sp>
      <p:sp>
        <p:nvSpPr>
          <p:cNvPr id="14" name="Text 12"/>
          <p:cNvSpPr txBox="1"/>
          <p:nvPr/>
        </p:nvSpPr>
        <p:spPr>
          <a:xfrm>
            <a:off x="6519672" y="3108960"/>
            <a:ext cx="4892040" cy="457200"/>
          </a:xfrm>
          <a:prstGeom prst="rect">
            <a:avLst/>
          </a:prstGeom>
          <a:noFill/>
          <a:ln/>
        </p:spPr>
        <p:txBody>
          <a:bodyPr wrap="square" lIns="0" tIns="0" rIns="0" bIns="0" rtlCol="0" anchor="t"/>
          <a:lstStyle/>
          <a:p>
            <a:pPr marL="0" indent="0">
              <a:buNone/>
            </a:pPr>
            <a:r>
              <a:rPr lang="en-US" sz="1400" b="1" dirty="0">
                <a:solidFill>
                  <a:srgbClr val="1B1B2A"/>
                </a:solidFill>
                <a:latin typeface="Calibri" pitchFamily="34" charset="0"/>
                <a:ea typeface="Calibri" pitchFamily="34" charset="-122"/>
                <a:cs typeface="Calibri" pitchFamily="34" charset="-120"/>
              </a:rPr>
              <a:t>Conflicts  </a:t>
            </a:r>
            <a:r>
              <a:rPr lang="en-US" sz="1400" dirty="0">
                <a:solidFill>
                  <a:srgbClr val="5B6472"/>
                </a:solidFill>
                <a:latin typeface="Calibri" pitchFamily="34" charset="0"/>
                <a:ea typeface="Calibri" pitchFamily="34" charset="-122"/>
                <a:cs typeface="Calibri" pitchFamily="34" charset="-120"/>
              </a:rPr>
              <a:t>Parallel edits to shared files collide.</a:t>
            </a:r>
            <a:endParaRPr lang="en-US" sz="1400" dirty="0"/>
          </a:p>
        </p:txBody>
      </p:sp>
      <p:sp>
        <p:nvSpPr>
          <p:cNvPr id="15" name="Text 13"/>
          <p:cNvSpPr txBox="1"/>
          <p:nvPr/>
        </p:nvSpPr>
        <p:spPr>
          <a:xfrm>
            <a:off x="6519672" y="3611880"/>
            <a:ext cx="4892040" cy="457200"/>
          </a:xfrm>
          <a:prstGeom prst="rect">
            <a:avLst/>
          </a:prstGeom>
          <a:noFill/>
          <a:ln/>
        </p:spPr>
        <p:txBody>
          <a:bodyPr wrap="square" lIns="0" tIns="0" rIns="0" bIns="0" rtlCol="0" anchor="t"/>
          <a:lstStyle/>
          <a:p>
            <a:pPr marL="0" indent="0">
              <a:buNone/>
            </a:pPr>
            <a:r>
              <a:rPr lang="en-US" sz="1400" b="1" dirty="0">
                <a:solidFill>
                  <a:srgbClr val="1B1B2A"/>
                </a:solidFill>
                <a:latin typeface="Calibri" pitchFamily="34" charset="0"/>
                <a:ea typeface="Calibri" pitchFamily="34" charset="-122"/>
                <a:cs typeface="Calibri" pitchFamily="34" charset="-120"/>
              </a:rPr>
              <a:t>Spend  </a:t>
            </a:r>
            <a:r>
              <a:rPr lang="en-US" sz="1400" dirty="0">
                <a:solidFill>
                  <a:srgbClr val="5B6472"/>
                </a:solidFill>
                <a:latin typeface="Calibri" pitchFamily="34" charset="0"/>
                <a:ea typeface="Calibri" pitchFamily="34" charset="-122"/>
                <a:cs typeface="Calibri" pitchFamily="34" charset="-120"/>
              </a:rPr>
              <a:t>More sessions means more tokens.</a:t>
            </a:r>
            <a:endParaRPr lang="en-US" sz="1400" dirty="0"/>
          </a:p>
        </p:txBody>
      </p:sp>
      <p:sp>
        <p:nvSpPr>
          <p:cNvPr id="18" name="Text 16"/>
          <p:cNvSpPr txBox="1"/>
          <p:nvPr/>
        </p:nvSpPr>
        <p:spPr>
          <a:xfrm>
            <a:off x="548640" y="5349240"/>
            <a:ext cx="7315200" cy="274320"/>
          </a:xfrm>
          <a:prstGeom prst="rect">
            <a:avLst/>
          </a:prstGeom>
          <a:noFill/>
          <a:ln/>
        </p:spPr>
        <p:txBody>
          <a:bodyPr wrap="square" lIns="0" tIns="0" rIns="0" bIns="0" rtlCol="0" anchor="ctr"/>
          <a:lstStyle/>
          <a:p>
            <a:pPr marL="0" indent="0">
              <a:buNone/>
            </a:pPr>
            <a:r>
              <a:rPr lang="en-US" sz="1100" b="1" kern="0" spc="200" dirty="0">
                <a:solidFill>
                  <a:srgbClr val="1E2761"/>
                </a:solidFill>
                <a:latin typeface="Calibri" pitchFamily="34" charset="0"/>
                <a:ea typeface="Calibri" pitchFamily="34" charset="-122"/>
                <a:cs typeface="Calibri" pitchFamily="34" charset="-120"/>
              </a:rPr>
              <a:t>TODAY’S MODULES EACH ANSWER A COST</a:t>
            </a:r>
            <a:endParaRPr lang="en-US" sz="1100" dirty="0"/>
          </a:p>
        </p:txBody>
      </p:sp>
      <p:sp>
        <p:nvSpPr>
          <p:cNvPr id="19" name="Shape 17"/>
          <p:cNvSpPr/>
          <p:nvPr/>
        </p:nvSpPr>
        <p:spPr>
          <a:xfrm>
            <a:off x="548640" y="5669280"/>
            <a:ext cx="3566160" cy="685800"/>
          </a:xfrm>
          <a:prstGeom prst="roundRect">
            <a:avLst>
              <a:gd name="adj" fmla="val 8000"/>
            </a:avLst>
          </a:prstGeom>
          <a:solidFill>
            <a:srgbClr val="1E2761"/>
          </a:solidFill>
          <a:ln w="12700">
            <a:solidFill>
              <a:srgbClr val="1E2761"/>
            </a:solidFill>
            <a:prstDash val="solid"/>
          </a:ln>
        </p:spPr>
        <p:txBody>
          <a:bodyPr/>
          <a:lstStyle/>
          <a:p>
            <a:endParaRPr lang="en-US"/>
          </a:p>
        </p:txBody>
      </p:sp>
      <p:sp>
        <p:nvSpPr>
          <p:cNvPr id="20" name="Text 18"/>
          <p:cNvSpPr txBox="1"/>
          <p:nvPr/>
        </p:nvSpPr>
        <p:spPr>
          <a:xfrm>
            <a:off x="731520" y="5669280"/>
            <a:ext cx="3291840" cy="685800"/>
          </a:xfrm>
          <a:prstGeom prst="rect">
            <a:avLst/>
          </a:prstGeom>
          <a:noFill/>
          <a:ln/>
        </p:spPr>
        <p:txBody>
          <a:bodyPr wrap="square" lIns="0" tIns="0" rIns="0" bIns="0" rtlCol="0" anchor="ctr"/>
          <a:lstStyle/>
          <a:p>
            <a:pPr marL="0" indent="0">
              <a:buNone/>
            </a:pPr>
            <a:r>
              <a:rPr lang="en-US" sz="1000" b="1" kern="0" spc="100" dirty="0">
                <a:solidFill>
                  <a:srgbClr val="7CFC9C"/>
                </a:solidFill>
                <a:latin typeface="Calibri" pitchFamily="34" charset="0"/>
                <a:ea typeface="Calibri" pitchFamily="34" charset="-122"/>
                <a:cs typeface="Calibri" pitchFamily="34" charset="-120"/>
              </a:rPr>
              <a:t>MODULE 1</a:t>
            </a:r>
            <a:endParaRPr lang="en-US" sz="1000" dirty="0"/>
          </a:p>
          <a:p>
            <a:pPr marL="0" indent="0">
              <a:buNone/>
            </a:pPr>
            <a:r>
              <a:rPr lang="en-US" sz="1300" b="1" dirty="0">
                <a:solidFill>
                  <a:srgbClr val="FFFFFF"/>
                </a:solidFill>
                <a:latin typeface="Calibri" pitchFamily="34" charset="0"/>
                <a:ea typeface="Calibri" pitchFamily="34" charset="-122"/>
                <a:cs typeface="Calibri" pitchFamily="34" charset="-120"/>
              </a:rPr>
              <a:t>Decomposition: </a:t>
            </a:r>
            <a:r>
              <a:rPr lang="en-US" sz="1300" dirty="0">
                <a:solidFill>
                  <a:srgbClr val="CADCFC"/>
                </a:solidFill>
                <a:latin typeface="Calibri" pitchFamily="34" charset="0"/>
                <a:ea typeface="Calibri" pitchFamily="34" charset="-122"/>
                <a:cs typeface="Calibri" pitchFamily="34" charset="-120"/>
              </a:rPr>
              <a:t>clear specs, no shared files</a:t>
            </a:r>
            <a:endParaRPr lang="en-US" sz="1000" dirty="0"/>
          </a:p>
        </p:txBody>
      </p:sp>
      <p:sp>
        <p:nvSpPr>
          <p:cNvPr id="21" name="Shape 19"/>
          <p:cNvSpPr/>
          <p:nvPr/>
        </p:nvSpPr>
        <p:spPr>
          <a:xfrm>
            <a:off x="4311396" y="5669280"/>
            <a:ext cx="3566160" cy="685800"/>
          </a:xfrm>
          <a:prstGeom prst="roundRect">
            <a:avLst>
              <a:gd name="adj" fmla="val 8000"/>
            </a:avLst>
          </a:prstGeom>
          <a:solidFill>
            <a:srgbClr val="1E2761"/>
          </a:solidFill>
          <a:ln w="12700">
            <a:solidFill>
              <a:srgbClr val="1E2761"/>
            </a:solidFill>
            <a:prstDash val="solid"/>
          </a:ln>
        </p:spPr>
        <p:txBody>
          <a:bodyPr/>
          <a:lstStyle/>
          <a:p>
            <a:endParaRPr lang="en-US"/>
          </a:p>
        </p:txBody>
      </p:sp>
      <p:sp>
        <p:nvSpPr>
          <p:cNvPr id="22" name="Text 20"/>
          <p:cNvSpPr txBox="1"/>
          <p:nvPr/>
        </p:nvSpPr>
        <p:spPr>
          <a:xfrm>
            <a:off x="4494276" y="5669280"/>
            <a:ext cx="3291840" cy="685800"/>
          </a:xfrm>
          <a:prstGeom prst="rect">
            <a:avLst/>
          </a:prstGeom>
          <a:noFill/>
          <a:ln/>
        </p:spPr>
        <p:txBody>
          <a:bodyPr wrap="square" lIns="0" tIns="0" rIns="0" bIns="0" rtlCol="0" anchor="ctr"/>
          <a:lstStyle/>
          <a:p>
            <a:pPr marL="0" indent="0">
              <a:buNone/>
            </a:pPr>
            <a:r>
              <a:rPr lang="en-US" sz="1000" b="1" kern="0" spc="100" dirty="0">
                <a:solidFill>
                  <a:srgbClr val="7CFC9C"/>
                </a:solidFill>
                <a:latin typeface="Calibri" pitchFamily="34" charset="0"/>
                <a:ea typeface="Calibri" pitchFamily="34" charset="-122"/>
                <a:cs typeface="Calibri" pitchFamily="34" charset="-120"/>
              </a:rPr>
              <a:t>MODULE 2</a:t>
            </a:r>
            <a:endParaRPr lang="en-US" sz="1000" dirty="0"/>
          </a:p>
          <a:p>
            <a:pPr marL="0" indent="0">
              <a:buNone/>
            </a:pPr>
            <a:r>
              <a:rPr lang="en-US" sz="1300" b="1" dirty="0">
                <a:solidFill>
                  <a:srgbClr val="FFFFFF"/>
                </a:solidFill>
                <a:latin typeface="Calibri" pitchFamily="34" charset="0"/>
                <a:ea typeface="Calibri" pitchFamily="34" charset="-122"/>
                <a:cs typeface="Calibri" pitchFamily="34" charset="-120"/>
              </a:rPr>
              <a:t>Model selection: </a:t>
            </a:r>
            <a:r>
              <a:rPr lang="en-US" sz="1300" dirty="0">
                <a:solidFill>
                  <a:srgbClr val="CADCFC"/>
                </a:solidFill>
                <a:latin typeface="Calibri" pitchFamily="34" charset="0"/>
                <a:ea typeface="Calibri" pitchFamily="34" charset="-122"/>
                <a:cs typeface="Calibri" pitchFamily="34" charset="-120"/>
              </a:rPr>
              <a:t>spend matched to risk</a:t>
            </a:r>
            <a:endParaRPr lang="en-US" sz="1000" dirty="0"/>
          </a:p>
        </p:txBody>
      </p:sp>
      <p:sp>
        <p:nvSpPr>
          <p:cNvPr id="23" name="Shape 21"/>
          <p:cNvSpPr/>
          <p:nvPr/>
        </p:nvSpPr>
        <p:spPr>
          <a:xfrm>
            <a:off x="8074152" y="5669280"/>
            <a:ext cx="3566160" cy="685800"/>
          </a:xfrm>
          <a:prstGeom prst="roundRect">
            <a:avLst>
              <a:gd name="adj" fmla="val 8000"/>
            </a:avLst>
          </a:prstGeom>
          <a:solidFill>
            <a:srgbClr val="1E2761"/>
          </a:solidFill>
          <a:ln w="12700">
            <a:solidFill>
              <a:srgbClr val="1E2761"/>
            </a:solidFill>
            <a:prstDash val="solid"/>
          </a:ln>
        </p:spPr>
        <p:txBody>
          <a:bodyPr/>
          <a:lstStyle/>
          <a:p>
            <a:endParaRPr lang="en-US"/>
          </a:p>
        </p:txBody>
      </p:sp>
      <p:sp>
        <p:nvSpPr>
          <p:cNvPr id="24" name="Text 22"/>
          <p:cNvSpPr txBox="1"/>
          <p:nvPr/>
        </p:nvSpPr>
        <p:spPr>
          <a:xfrm>
            <a:off x="8257032" y="5669280"/>
            <a:ext cx="3291840" cy="685800"/>
          </a:xfrm>
          <a:prstGeom prst="rect">
            <a:avLst/>
          </a:prstGeom>
          <a:noFill/>
          <a:ln/>
        </p:spPr>
        <p:txBody>
          <a:bodyPr wrap="square" lIns="0" tIns="0" rIns="0" bIns="0" rtlCol="0" anchor="ctr"/>
          <a:lstStyle/>
          <a:p>
            <a:pPr marL="0" indent="0">
              <a:buNone/>
            </a:pPr>
            <a:r>
              <a:rPr lang="en-US" sz="1000" b="1" kern="0" spc="100" dirty="0">
                <a:solidFill>
                  <a:srgbClr val="7CFC9C"/>
                </a:solidFill>
                <a:latin typeface="Calibri" pitchFamily="34" charset="0"/>
                <a:ea typeface="Calibri" pitchFamily="34" charset="-122"/>
                <a:cs typeface="Calibri" pitchFamily="34" charset="-120"/>
              </a:rPr>
              <a:t>MODULE 3</a:t>
            </a:r>
            <a:endParaRPr lang="en-US" sz="1000" dirty="0"/>
          </a:p>
          <a:p>
            <a:pPr marL="0" indent="0">
              <a:buNone/>
            </a:pPr>
            <a:r>
              <a:rPr lang="en-US" sz="1300" b="1" dirty="0">
                <a:solidFill>
                  <a:srgbClr val="FFFFFF"/>
                </a:solidFill>
                <a:latin typeface="Calibri" pitchFamily="34" charset="0"/>
                <a:ea typeface="Calibri" pitchFamily="34" charset="-122"/>
                <a:cs typeface="Calibri" pitchFamily="34" charset="-120"/>
              </a:rPr>
              <a:t>Orchestration: </a:t>
            </a:r>
            <a:r>
              <a:rPr lang="en-US" sz="1300" dirty="0">
                <a:solidFill>
                  <a:srgbClr val="CADCFC"/>
                </a:solidFill>
                <a:latin typeface="Calibri" pitchFamily="34" charset="0"/>
                <a:ea typeface="Calibri" pitchFamily="34" charset="-122"/>
                <a:cs typeface="Calibri" pitchFamily="34" charset="-120"/>
              </a:rPr>
              <a:t>worktrees and merge discipline</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bg>
      <p:bgPr>
        <a:solidFill>
          <a:srgbClr val="1E2761"/>
        </a:solidFill>
        <a:effectLst/>
      </p:bgPr>
    </p:bg>
    <p:spTree>
      <p:nvGrpSpPr>
        <p:cNvPr id="1" name=""/>
        <p:cNvGrpSpPr/>
        <p:nvPr/>
      </p:nvGrpSpPr>
      <p:grpSpPr>
        <a:xfrm>
          <a:off x="0" y="0"/>
          <a:ext cx="0" cy="0"/>
          <a:chOff x="0" y="0"/>
          <a:chExt cx="0" cy="0"/>
        </a:xfrm>
      </p:grpSpPr>
      <p:sp>
        <p:nvSpPr>
          <p:cNvPr id="2" name="Text 0"/>
          <p:cNvSpPr txBox="1"/>
          <p:nvPr/>
        </p:nvSpPr>
        <p:spPr>
          <a:xfrm>
            <a:off x="731520" y="2377440"/>
            <a:ext cx="5486400" cy="457200"/>
          </a:xfrm>
          <a:prstGeom prst="rect">
            <a:avLst/>
          </a:prstGeom>
          <a:noFill/>
          <a:ln/>
        </p:spPr>
        <p:txBody>
          <a:bodyPr wrap="square" lIns="0" tIns="0" rIns="0" bIns="0" rtlCol="0" anchor="ctr"/>
          <a:lstStyle/>
          <a:p>
            <a:pPr marL="0" indent="0">
              <a:buNone/>
            </a:pPr>
            <a:r>
              <a:rPr lang="en-US" sz="1400" b="1" kern="0" spc="300" dirty="0">
                <a:solidFill>
                  <a:srgbClr val="CADCFC"/>
                </a:solidFill>
                <a:latin typeface="Calibri" pitchFamily="34" charset="0"/>
                <a:ea typeface="Calibri" pitchFamily="34" charset="-122"/>
                <a:cs typeface="Calibri" pitchFamily="34" charset="-120"/>
              </a:rPr>
              <a:t>MODULE 1</a:t>
            </a:r>
            <a:endParaRPr lang="en-US" sz="1400" dirty="0"/>
          </a:p>
        </p:txBody>
      </p:sp>
      <p:sp>
        <p:nvSpPr>
          <p:cNvPr id="3" name="Text 1"/>
          <p:cNvSpPr txBox="1"/>
          <p:nvPr/>
        </p:nvSpPr>
        <p:spPr>
          <a:xfrm>
            <a:off x="731520" y="2788920"/>
            <a:ext cx="10515600" cy="137160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Decomposing Complex Features</a:t>
            </a:r>
            <a:endParaRPr lang="en-US" sz="3400" dirty="0"/>
          </a:p>
          <a:p>
            <a:pPr marL="0" indent="0">
              <a:buNone/>
            </a:pPr>
            <a:r>
              <a:rPr lang="en-US" sz="3400" b="1" dirty="0">
                <a:solidFill>
                  <a:srgbClr val="FFFFFF"/>
                </a:solidFill>
                <a:latin typeface="Cambria" pitchFamily="34" charset="0"/>
                <a:ea typeface="Cambria" pitchFamily="34" charset="-122"/>
                <a:cs typeface="Cambria" pitchFamily="34" charset="-120"/>
              </a:rPr>
              <a:t>for Multi-Agent Execution</a:t>
            </a:r>
            <a:endParaRPr lang="en-US" sz="3400" dirty="0"/>
          </a:p>
        </p:txBody>
      </p:sp>
      <p:sp>
        <p:nvSpPr>
          <p:cNvPr id="4" name="Text 2"/>
          <p:cNvSpPr txBox="1"/>
          <p:nvPr/>
        </p:nvSpPr>
        <p:spPr>
          <a:xfrm>
            <a:off x="731520" y="4114800"/>
            <a:ext cx="9601200" cy="548640"/>
          </a:xfrm>
          <a:prstGeom prst="rect">
            <a:avLst/>
          </a:prstGeom>
          <a:noFill/>
          <a:ln/>
        </p:spPr>
        <p:txBody>
          <a:bodyPr wrap="square" lIns="0" tIns="0" rIns="0" bIns="0" rtlCol="0" anchor="ctr"/>
          <a:lstStyle/>
          <a:p>
            <a:pPr marL="0" indent="0">
              <a:buNone/>
            </a:pPr>
            <a:r>
              <a:rPr lang="en-US" sz="1600" dirty="0">
                <a:solidFill>
                  <a:srgbClr val="CADCFC"/>
                </a:solidFill>
                <a:latin typeface="Calibri" pitchFamily="34" charset="0"/>
                <a:ea typeface="Calibri" pitchFamily="34" charset="-122"/>
                <a:cs typeface="Calibri" pitchFamily="34" charset="-120"/>
              </a:rPr>
              <a:t>Lecture 20 min  •  Lab 40 min</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7315200" cy="365760"/>
          </a:xfrm>
          <a:prstGeom prst="rect">
            <a:avLst/>
          </a:prstGeom>
          <a:noFill/>
          <a:ln/>
        </p:spPr>
        <p:txBody>
          <a:bodyPr wrap="square" lIns="0" tIns="0" rIns="0" bIns="0" rtlCol="0" anchor="ctr"/>
          <a:lstStyle/>
          <a:p>
            <a:pPr marL="0" indent="0">
              <a:buNone/>
            </a:pPr>
            <a:r>
              <a:rPr lang="en-US" sz="1200" b="1" kern="0" spc="200" dirty="0">
                <a:solidFill>
                  <a:srgbClr val="1E2761"/>
                </a:solidFill>
                <a:latin typeface="Calibri" pitchFamily="34" charset="0"/>
                <a:ea typeface="Calibri" pitchFamily="34" charset="-122"/>
                <a:cs typeface="Calibri" pitchFamily="34" charset="-120"/>
              </a:rPr>
              <a:t>MODULE 1</a:t>
            </a:r>
            <a:endParaRPr lang="en-US" sz="1200" dirty="0"/>
          </a:p>
        </p:txBody>
      </p:sp>
      <p:sp>
        <p:nvSpPr>
          <p:cNvPr id="3" name="Text 1"/>
          <p:cNvSpPr txBox="1"/>
          <p:nvPr/>
        </p:nvSpPr>
        <p:spPr>
          <a:xfrm>
            <a:off x="548640" y="685800"/>
            <a:ext cx="10515600" cy="640080"/>
          </a:xfrm>
          <a:prstGeom prst="rect">
            <a:avLst/>
          </a:prstGeom>
          <a:noFill/>
          <a:ln/>
        </p:spPr>
        <p:txBody>
          <a:bodyPr wrap="square" lIns="0" tIns="0" rIns="0" bIns="0" rtlCol="0" anchor="ctr"/>
          <a:lstStyle/>
          <a:p>
            <a:pPr marL="0" indent="0">
              <a:buNone/>
            </a:pPr>
            <a:r>
              <a:rPr lang="en-US" sz="3000" b="1" dirty="0">
                <a:solidFill>
                  <a:srgbClr val="1B1B2A"/>
                </a:solidFill>
                <a:latin typeface="Cambria" pitchFamily="34" charset="0"/>
                <a:ea typeface="Cambria" pitchFamily="34" charset="-122"/>
                <a:cs typeface="Cambria" pitchFamily="34" charset="-120"/>
              </a:rPr>
              <a:t>What Makes a Task “Agent-Ready”?</a:t>
            </a:r>
            <a:endParaRPr lang="en-US" sz="3000" dirty="0"/>
          </a:p>
        </p:txBody>
      </p:sp>
      <p:sp>
        <p:nvSpPr>
          <p:cNvPr id="4" name="Shape 2"/>
          <p:cNvSpPr/>
          <p:nvPr/>
        </p:nvSpPr>
        <p:spPr>
          <a:xfrm>
            <a:off x="640080" y="1600200"/>
            <a:ext cx="502920" cy="502920"/>
          </a:xfrm>
          <a:prstGeom prst="ellipse">
            <a:avLst/>
          </a:prstGeom>
          <a:solidFill>
            <a:srgbClr val="1E2761"/>
          </a:solidFill>
          <a:ln/>
        </p:spPr>
        <p:txBody>
          <a:bodyPr/>
          <a:lstStyle/>
          <a:p>
            <a:endParaRPr lang="en-US"/>
          </a:p>
        </p:txBody>
      </p:sp>
      <p:sp>
        <p:nvSpPr>
          <p:cNvPr id="5" name="Text 3"/>
          <p:cNvSpPr txBox="1"/>
          <p:nvPr/>
        </p:nvSpPr>
        <p:spPr>
          <a:xfrm>
            <a:off x="640080" y="160020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6" name="Text 4"/>
          <p:cNvSpPr txBox="1"/>
          <p:nvPr/>
        </p:nvSpPr>
        <p:spPr>
          <a:xfrm>
            <a:off x="1417320" y="1527048"/>
            <a:ext cx="9875520" cy="365760"/>
          </a:xfrm>
          <a:prstGeom prst="rect">
            <a:avLst/>
          </a:prstGeom>
          <a:noFill/>
          <a:ln/>
        </p:spPr>
        <p:txBody>
          <a:bodyPr wrap="square" lIns="0" tIns="0" rIns="0" bIns="0" rtlCol="0" anchor="ctr"/>
          <a:lstStyle/>
          <a:p>
            <a:pPr marL="0" indent="0">
              <a:buNone/>
            </a:pPr>
            <a:r>
              <a:rPr lang="en-US" sz="1700" b="1" dirty="0">
                <a:solidFill>
                  <a:srgbClr val="1B1B2A"/>
                </a:solidFill>
                <a:latin typeface="Calibri" pitchFamily="34" charset="0"/>
                <a:ea typeface="Calibri" pitchFamily="34" charset="-122"/>
                <a:cs typeface="Calibri" pitchFamily="34" charset="-120"/>
              </a:rPr>
              <a:t>Description (with a carefully bounded scope)</a:t>
            </a:r>
            <a:endParaRPr lang="en-US" sz="1700" dirty="0"/>
          </a:p>
        </p:txBody>
      </p:sp>
      <p:sp>
        <p:nvSpPr>
          <p:cNvPr id="7" name="Text 5"/>
          <p:cNvSpPr txBox="1"/>
          <p:nvPr/>
        </p:nvSpPr>
        <p:spPr>
          <a:xfrm>
            <a:off x="1417320" y="1856232"/>
            <a:ext cx="9966960" cy="457200"/>
          </a:xfrm>
          <a:prstGeom prst="rect">
            <a:avLst/>
          </a:prstGeom>
          <a:noFill/>
          <a:ln/>
        </p:spPr>
        <p:txBody>
          <a:bodyPr wrap="square" lIns="0" tIns="0" rIns="0" bIns="0" rtlCol="0" anchor="ctr"/>
          <a:lstStyle/>
          <a:p>
            <a:pPr marL="0" indent="0">
              <a:buNone/>
            </a:pPr>
            <a:r>
              <a:rPr lang="en-US" sz="1350" dirty="0">
                <a:solidFill>
                  <a:srgbClr val="5B6472"/>
                </a:solidFill>
                <a:latin typeface="Calibri" pitchFamily="34" charset="0"/>
                <a:ea typeface="Calibri" pitchFamily="34" charset="-122"/>
                <a:cs typeface="Calibri" pitchFamily="34" charset="-120"/>
              </a:rPr>
              <a:t>A clear task, on an identifiable set of files — one coherent thing, not “build the backend.”</a:t>
            </a:r>
            <a:endParaRPr lang="en-US" sz="1350" dirty="0"/>
          </a:p>
        </p:txBody>
      </p:sp>
      <p:sp>
        <p:nvSpPr>
          <p:cNvPr id="8" name="Shape 6"/>
          <p:cNvSpPr/>
          <p:nvPr/>
        </p:nvSpPr>
        <p:spPr>
          <a:xfrm>
            <a:off x="640080" y="2651760"/>
            <a:ext cx="502920" cy="502920"/>
          </a:xfrm>
          <a:prstGeom prst="ellipse">
            <a:avLst/>
          </a:prstGeom>
          <a:solidFill>
            <a:srgbClr val="1E2761"/>
          </a:solidFill>
          <a:ln/>
        </p:spPr>
        <p:txBody>
          <a:bodyPr/>
          <a:lstStyle/>
          <a:p>
            <a:endParaRPr lang="en-US"/>
          </a:p>
        </p:txBody>
      </p:sp>
      <p:sp>
        <p:nvSpPr>
          <p:cNvPr id="9" name="Text 7"/>
          <p:cNvSpPr txBox="1"/>
          <p:nvPr/>
        </p:nvSpPr>
        <p:spPr>
          <a:xfrm>
            <a:off x="640080" y="265176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0" name="Text 8"/>
          <p:cNvSpPr txBox="1"/>
          <p:nvPr/>
        </p:nvSpPr>
        <p:spPr>
          <a:xfrm>
            <a:off x="1417320" y="2578608"/>
            <a:ext cx="9875520" cy="365760"/>
          </a:xfrm>
          <a:prstGeom prst="rect">
            <a:avLst/>
          </a:prstGeom>
          <a:noFill/>
          <a:ln/>
        </p:spPr>
        <p:txBody>
          <a:bodyPr wrap="square" lIns="0" tIns="0" rIns="0" bIns="0" rtlCol="0" anchor="ctr"/>
          <a:lstStyle/>
          <a:p>
            <a:pPr marL="0" indent="0">
              <a:buNone/>
            </a:pPr>
            <a:r>
              <a:rPr lang="en-US" sz="1700" b="1" dirty="0">
                <a:solidFill>
                  <a:srgbClr val="1B1B2A"/>
                </a:solidFill>
                <a:latin typeface="Calibri" pitchFamily="34" charset="0"/>
                <a:ea typeface="Calibri" pitchFamily="34" charset="-122"/>
                <a:cs typeface="Calibri" pitchFamily="34" charset="-120"/>
              </a:rPr>
              <a:t>Acceptance criteria</a:t>
            </a:r>
            <a:endParaRPr lang="en-US" sz="1700" dirty="0"/>
          </a:p>
        </p:txBody>
      </p:sp>
      <p:sp>
        <p:nvSpPr>
          <p:cNvPr id="11" name="Text 9"/>
          <p:cNvSpPr txBox="1"/>
          <p:nvPr/>
        </p:nvSpPr>
        <p:spPr>
          <a:xfrm>
            <a:off x="1417320" y="2907792"/>
            <a:ext cx="9966960" cy="457200"/>
          </a:xfrm>
          <a:prstGeom prst="rect">
            <a:avLst/>
          </a:prstGeom>
          <a:noFill/>
          <a:ln/>
        </p:spPr>
        <p:txBody>
          <a:bodyPr wrap="square" lIns="0" tIns="0" rIns="0" bIns="0" rtlCol="0" anchor="ctr"/>
          <a:lstStyle/>
          <a:p>
            <a:pPr marL="0" indent="0">
              <a:buNone/>
            </a:pPr>
            <a:r>
              <a:rPr lang="en-US" sz="1350" dirty="0">
                <a:solidFill>
                  <a:srgbClr val="5B6472"/>
                </a:solidFill>
                <a:latin typeface="Calibri" pitchFamily="34" charset="0"/>
                <a:ea typeface="Calibri" pitchFamily="34" charset="-122"/>
                <a:cs typeface="Calibri" pitchFamily="34" charset="-120"/>
              </a:rPr>
              <a:t>Checkable without reading the whole diff.</a:t>
            </a:r>
            <a:endParaRPr lang="en-US" sz="1350" dirty="0"/>
          </a:p>
        </p:txBody>
      </p:sp>
      <p:sp>
        <p:nvSpPr>
          <p:cNvPr id="12" name="Shape 10"/>
          <p:cNvSpPr/>
          <p:nvPr/>
        </p:nvSpPr>
        <p:spPr>
          <a:xfrm>
            <a:off x="640080" y="3703320"/>
            <a:ext cx="502920" cy="502920"/>
          </a:xfrm>
          <a:prstGeom prst="ellipse">
            <a:avLst/>
          </a:prstGeom>
          <a:solidFill>
            <a:srgbClr val="1E2761"/>
          </a:solidFill>
          <a:ln/>
        </p:spPr>
        <p:txBody>
          <a:bodyPr/>
          <a:lstStyle/>
          <a:p>
            <a:endParaRPr lang="en-US"/>
          </a:p>
        </p:txBody>
      </p:sp>
      <p:sp>
        <p:nvSpPr>
          <p:cNvPr id="13" name="Text 11"/>
          <p:cNvSpPr txBox="1"/>
          <p:nvPr/>
        </p:nvSpPr>
        <p:spPr>
          <a:xfrm>
            <a:off x="640080" y="370332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4" name="Text 12"/>
          <p:cNvSpPr txBox="1"/>
          <p:nvPr/>
        </p:nvSpPr>
        <p:spPr>
          <a:xfrm>
            <a:off x="1417320" y="3630168"/>
            <a:ext cx="9875520" cy="365760"/>
          </a:xfrm>
          <a:prstGeom prst="rect">
            <a:avLst/>
          </a:prstGeom>
          <a:noFill/>
          <a:ln/>
        </p:spPr>
        <p:txBody>
          <a:bodyPr wrap="square" lIns="0" tIns="0" rIns="0" bIns="0" rtlCol="0" anchor="ctr"/>
          <a:lstStyle/>
          <a:p>
            <a:pPr marL="0" indent="0">
              <a:buNone/>
            </a:pPr>
            <a:r>
              <a:rPr lang="en-US" sz="1700" b="1" dirty="0">
                <a:solidFill>
                  <a:srgbClr val="1B1B2A"/>
                </a:solidFill>
                <a:latin typeface="Calibri" pitchFamily="34" charset="0"/>
                <a:ea typeface="Calibri" pitchFamily="34" charset="-122"/>
                <a:cs typeface="Calibri" pitchFamily="34" charset="-120"/>
              </a:rPr>
              <a:t>Named dependencies</a:t>
            </a:r>
            <a:endParaRPr lang="en-US" sz="1700" dirty="0"/>
          </a:p>
        </p:txBody>
      </p:sp>
      <p:sp>
        <p:nvSpPr>
          <p:cNvPr id="15" name="Text 13"/>
          <p:cNvSpPr txBox="1"/>
          <p:nvPr/>
        </p:nvSpPr>
        <p:spPr>
          <a:xfrm>
            <a:off x="1417320" y="3959352"/>
            <a:ext cx="9966960" cy="457200"/>
          </a:xfrm>
          <a:prstGeom prst="rect">
            <a:avLst/>
          </a:prstGeom>
          <a:noFill/>
          <a:ln/>
        </p:spPr>
        <p:txBody>
          <a:bodyPr wrap="square" lIns="0" tIns="0" rIns="0" bIns="0" rtlCol="0" anchor="ctr"/>
          <a:lstStyle/>
          <a:p>
            <a:pPr marL="0" indent="0">
              <a:buNone/>
            </a:pPr>
            <a:r>
              <a:rPr lang="en-US" sz="1350" dirty="0">
                <a:solidFill>
                  <a:srgbClr val="5B6472"/>
                </a:solidFill>
                <a:latin typeface="Calibri" pitchFamily="34" charset="0"/>
                <a:ea typeface="Calibri" pitchFamily="34" charset="-122"/>
                <a:cs typeface="Calibri" pitchFamily="34" charset="-120"/>
              </a:rPr>
              <a:t>What must exist first, and what this blocks.</a:t>
            </a:r>
            <a:endParaRPr lang="en-US" sz="1350" dirty="0"/>
          </a:p>
        </p:txBody>
      </p:sp>
      <p:sp>
        <p:nvSpPr>
          <p:cNvPr id="16" name="Shape 14"/>
          <p:cNvSpPr/>
          <p:nvPr/>
        </p:nvSpPr>
        <p:spPr>
          <a:xfrm>
            <a:off x="640080" y="4754880"/>
            <a:ext cx="502920" cy="502920"/>
          </a:xfrm>
          <a:prstGeom prst="ellipse">
            <a:avLst/>
          </a:prstGeom>
          <a:solidFill>
            <a:srgbClr val="1E2761"/>
          </a:solidFill>
          <a:ln/>
        </p:spPr>
        <p:txBody>
          <a:bodyPr/>
          <a:lstStyle/>
          <a:p>
            <a:endParaRPr lang="en-US"/>
          </a:p>
        </p:txBody>
      </p:sp>
      <p:sp>
        <p:nvSpPr>
          <p:cNvPr id="17" name="Text 15"/>
          <p:cNvSpPr txBox="1"/>
          <p:nvPr/>
        </p:nvSpPr>
        <p:spPr>
          <a:xfrm>
            <a:off x="640080" y="475488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8" name="Text 16"/>
          <p:cNvSpPr txBox="1"/>
          <p:nvPr/>
        </p:nvSpPr>
        <p:spPr>
          <a:xfrm>
            <a:off x="1417320" y="4681728"/>
            <a:ext cx="9875520" cy="365760"/>
          </a:xfrm>
          <a:prstGeom prst="rect">
            <a:avLst/>
          </a:prstGeom>
          <a:noFill/>
          <a:ln/>
        </p:spPr>
        <p:txBody>
          <a:bodyPr wrap="square" lIns="0" tIns="0" rIns="0" bIns="0" rtlCol="0" anchor="ctr"/>
          <a:lstStyle/>
          <a:p>
            <a:pPr marL="0" indent="0">
              <a:buNone/>
            </a:pPr>
            <a:r>
              <a:rPr lang="en-US" sz="1700" b="1" dirty="0">
                <a:solidFill>
                  <a:srgbClr val="1B1B2A"/>
                </a:solidFill>
                <a:latin typeface="Calibri" pitchFamily="34" charset="0"/>
                <a:ea typeface="Calibri" pitchFamily="34" charset="-122"/>
                <a:cs typeface="Calibri" pitchFamily="34" charset="-120"/>
              </a:rPr>
              <a:t>A verification step</a:t>
            </a:r>
            <a:endParaRPr lang="en-US" sz="1700" dirty="0"/>
          </a:p>
        </p:txBody>
      </p:sp>
      <p:sp>
        <p:nvSpPr>
          <p:cNvPr id="19" name="Text 17"/>
          <p:cNvSpPr txBox="1"/>
          <p:nvPr/>
        </p:nvSpPr>
        <p:spPr>
          <a:xfrm>
            <a:off x="1417320" y="5010912"/>
            <a:ext cx="9966960" cy="457200"/>
          </a:xfrm>
          <a:prstGeom prst="rect">
            <a:avLst/>
          </a:prstGeom>
          <a:noFill/>
          <a:ln/>
        </p:spPr>
        <p:txBody>
          <a:bodyPr wrap="square" lIns="0" tIns="0" rIns="0" bIns="0" rtlCol="0" anchor="ctr"/>
          <a:lstStyle/>
          <a:p>
            <a:pPr marL="0" indent="0">
              <a:buNone/>
            </a:pPr>
            <a:r>
              <a:rPr lang="en-US" sz="1350" dirty="0">
                <a:solidFill>
                  <a:srgbClr val="5B6472"/>
                </a:solidFill>
                <a:latin typeface="Calibri" pitchFamily="34" charset="0"/>
                <a:ea typeface="Calibri" pitchFamily="34" charset="-122"/>
                <a:cs typeface="Calibri" pitchFamily="34" charset="-120"/>
              </a:rPr>
              <a:t>A test, a curl, a page you can look at.</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7315200" cy="365760"/>
          </a:xfrm>
          <a:prstGeom prst="rect">
            <a:avLst/>
          </a:prstGeom>
          <a:noFill/>
          <a:ln/>
        </p:spPr>
        <p:txBody>
          <a:bodyPr wrap="square" lIns="0" tIns="0" rIns="0" bIns="0" rtlCol="0" anchor="ctr"/>
          <a:lstStyle/>
          <a:p>
            <a:pPr marL="0" indent="0">
              <a:buNone/>
            </a:pPr>
            <a:r>
              <a:rPr lang="en-US" sz="1200" b="1" kern="0" spc="200" dirty="0">
                <a:solidFill>
                  <a:srgbClr val="1E2761"/>
                </a:solidFill>
                <a:latin typeface="Calibri" pitchFamily="34" charset="0"/>
                <a:ea typeface="Calibri" pitchFamily="34" charset="-122"/>
                <a:cs typeface="Calibri" pitchFamily="34" charset="-120"/>
              </a:rPr>
              <a:t>MODULE 1 — AGENT-READY, STEP 1 OF 4</a:t>
            </a:r>
            <a:endParaRPr lang="en-US" sz="1200" dirty="0"/>
          </a:p>
        </p:txBody>
      </p:sp>
      <p:sp>
        <p:nvSpPr>
          <p:cNvPr id="3" name="Text 1"/>
          <p:cNvSpPr txBox="1"/>
          <p:nvPr/>
        </p:nvSpPr>
        <p:spPr>
          <a:xfrm>
            <a:off x="548640" y="685800"/>
            <a:ext cx="10515600" cy="640080"/>
          </a:xfrm>
          <a:prstGeom prst="rect">
            <a:avLst/>
          </a:prstGeom>
          <a:noFill/>
          <a:ln/>
        </p:spPr>
        <p:txBody>
          <a:bodyPr wrap="square" lIns="0" tIns="0" rIns="0" bIns="0" rtlCol="0" anchor="ctr"/>
          <a:lstStyle/>
          <a:p>
            <a:pPr marL="0" indent="0">
              <a:buNone/>
            </a:pPr>
            <a:r>
              <a:rPr lang="en-US" sz="3000" b="1" dirty="0">
                <a:solidFill>
                  <a:srgbClr val="1B1B2A"/>
                </a:solidFill>
                <a:latin typeface="Cambria" pitchFamily="34" charset="0"/>
                <a:ea typeface="Cambria" pitchFamily="34" charset="-122"/>
                <a:cs typeface="Cambria" pitchFamily="34" charset="-120"/>
              </a:rPr>
              <a:t>Description (with a carefully bounded scope)</a:t>
            </a:r>
            <a:endParaRPr lang="en-US" sz="3000" dirty="0"/>
          </a:p>
        </p:txBody>
      </p:sp>
      <p:sp>
        <p:nvSpPr>
          <p:cNvPr id="4" name="Text 2"/>
          <p:cNvSpPr txBox="1"/>
          <p:nvPr/>
        </p:nvSpPr>
        <p:spPr>
          <a:xfrm>
            <a:off x="548640" y="1325880"/>
            <a:ext cx="10972800" cy="457200"/>
          </a:xfrm>
          <a:prstGeom prst="rect">
            <a:avLst/>
          </a:prstGeom>
          <a:noFill/>
          <a:ln/>
        </p:spPr>
        <p:txBody>
          <a:bodyPr wrap="square" lIns="0" tIns="0" rIns="0" bIns="0" rtlCol="0" anchor="ctr"/>
          <a:lstStyle/>
          <a:p>
            <a:pPr marL="0" indent="0">
              <a:buNone/>
            </a:pPr>
            <a:r>
              <a:rPr lang="en-US" sz="1600" i="1" dirty="0">
                <a:solidFill>
                  <a:srgbClr val="5B6472"/>
                </a:solidFill>
                <a:latin typeface="Calibri" pitchFamily="34" charset="0"/>
                <a:ea typeface="Calibri" pitchFamily="34" charset="-122"/>
                <a:cs typeface="Calibri" pitchFamily="34" charset="-120"/>
              </a:rPr>
              <a:t>A coherent change to a small set of files you can name before the agent starts.</a:t>
            </a:r>
            <a:endParaRPr lang="en-US" sz="1600" dirty="0"/>
          </a:p>
        </p:txBody>
      </p:sp>
      <p:sp>
        <p:nvSpPr>
          <p:cNvPr id="5" name="Text 3"/>
          <p:cNvSpPr txBox="1"/>
          <p:nvPr/>
        </p:nvSpPr>
        <p:spPr>
          <a:xfrm>
            <a:off x="548640" y="1965960"/>
            <a:ext cx="4572000" cy="274320"/>
          </a:xfrm>
          <a:prstGeom prst="rect">
            <a:avLst/>
          </a:prstGeom>
          <a:noFill/>
          <a:ln/>
        </p:spPr>
        <p:txBody>
          <a:bodyPr wrap="square" lIns="0" tIns="0" rIns="0" bIns="0" rtlCol="0" anchor="ctr"/>
          <a:lstStyle/>
          <a:p>
            <a:pPr marL="0" indent="0">
              <a:buNone/>
            </a:pPr>
            <a:r>
              <a:rPr lang="en-US" sz="1100" b="1" kern="0" spc="200" dirty="0">
                <a:solidFill>
                  <a:srgbClr val="1E2761"/>
                </a:solidFill>
                <a:latin typeface="Calibri" pitchFamily="34" charset="0"/>
                <a:ea typeface="Calibri" pitchFamily="34" charset="-122"/>
                <a:cs typeface="Calibri" pitchFamily="34" charset="-120"/>
              </a:rPr>
              <a:t>HOW TO WRITE IT</a:t>
            </a:r>
            <a:endParaRPr lang="en-US" sz="1100" dirty="0"/>
          </a:p>
        </p:txBody>
      </p:sp>
      <p:sp>
        <p:nvSpPr>
          <p:cNvPr id="6" name="Text 4"/>
          <p:cNvSpPr txBox="1"/>
          <p:nvPr/>
        </p:nvSpPr>
        <p:spPr>
          <a:xfrm>
            <a:off x="5852160" y="1965960"/>
            <a:ext cx="4572000" cy="274320"/>
          </a:xfrm>
          <a:prstGeom prst="rect">
            <a:avLst/>
          </a:prstGeom>
          <a:noFill/>
          <a:ln/>
        </p:spPr>
        <p:txBody>
          <a:bodyPr wrap="square" lIns="0" tIns="0" rIns="0" bIns="0" rtlCol="0" anchor="ctr"/>
          <a:lstStyle/>
          <a:p>
            <a:pPr marL="0" indent="0">
              <a:buNone/>
            </a:pPr>
            <a:r>
              <a:rPr lang="en-US" sz="1100" b="1" kern="0" spc="200" dirty="0">
                <a:solidFill>
                  <a:srgbClr val="1E2761"/>
                </a:solidFill>
                <a:latin typeface="Calibri" pitchFamily="34" charset="0"/>
                <a:ea typeface="Calibri" pitchFamily="34" charset="-122"/>
                <a:cs typeface="Calibri" pitchFamily="34" charset="-120"/>
              </a:rPr>
              <a:t>EXAMPLES</a:t>
            </a:r>
            <a:endParaRPr lang="en-US" sz="1100" dirty="0"/>
          </a:p>
        </p:txBody>
      </p:sp>
      <p:sp>
        <p:nvSpPr>
          <p:cNvPr id="7" name="Shape 5"/>
          <p:cNvSpPr/>
          <p:nvPr/>
        </p:nvSpPr>
        <p:spPr>
          <a:xfrm>
            <a:off x="548640" y="2414016"/>
            <a:ext cx="347472" cy="347472"/>
          </a:xfrm>
          <a:prstGeom prst="ellipse">
            <a:avLst/>
          </a:prstGeom>
          <a:solidFill>
            <a:srgbClr val="1E2761"/>
          </a:solidFill>
          <a:ln w="12700">
            <a:solidFill>
              <a:srgbClr val="1E2761"/>
            </a:solidFill>
            <a:prstDash val="solid"/>
          </a:ln>
        </p:spPr>
        <p:txBody>
          <a:bodyPr/>
          <a:lstStyle/>
          <a:p>
            <a:endParaRPr lang="en-US"/>
          </a:p>
        </p:txBody>
      </p:sp>
      <p:sp>
        <p:nvSpPr>
          <p:cNvPr id="8" name="Text 6"/>
          <p:cNvSpPr txBox="1"/>
          <p:nvPr/>
        </p:nvSpPr>
        <p:spPr>
          <a:xfrm>
            <a:off x="548640" y="2414016"/>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txBox="1"/>
          <p:nvPr/>
        </p:nvSpPr>
        <p:spPr>
          <a:xfrm>
            <a:off x="1097280" y="2468880"/>
            <a:ext cx="4343400" cy="777240"/>
          </a:xfrm>
          <a:prstGeom prst="rect">
            <a:avLst/>
          </a:prstGeom>
          <a:noFill/>
          <a:ln/>
        </p:spPr>
        <p:txBody>
          <a:bodyPr wrap="square" lIns="0" tIns="0" rIns="0" bIns="0" rtlCol="0" anchor="t"/>
          <a:lstStyle/>
          <a:p>
            <a:pPr marL="0" indent="0">
              <a:buNone/>
            </a:pPr>
            <a:r>
              <a:rPr lang="en-US" sz="1400" dirty="0">
                <a:solidFill>
                  <a:srgbClr val="1B1B2A"/>
                </a:solidFill>
                <a:latin typeface="Calibri" pitchFamily="34" charset="0"/>
                <a:ea typeface="Calibri" pitchFamily="34" charset="-122"/>
                <a:cs typeface="Calibri" pitchFamily="34" charset="-120"/>
              </a:rPr>
              <a:t>List the files it will touch, and the ones it must not.</a:t>
            </a:r>
            <a:endParaRPr lang="en-US" sz="1400" dirty="0"/>
          </a:p>
        </p:txBody>
      </p:sp>
      <p:sp>
        <p:nvSpPr>
          <p:cNvPr id="10" name="Shape 8"/>
          <p:cNvSpPr/>
          <p:nvPr/>
        </p:nvSpPr>
        <p:spPr>
          <a:xfrm>
            <a:off x="548640" y="3374136"/>
            <a:ext cx="347472" cy="347472"/>
          </a:xfrm>
          <a:prstGeom prst="ellipse">
            <a:avLst/>
          </a:prstGeom>
          <a:solidFill>
            <a:srgbClr val="1E2761"/>
          </a:solidFill>
          <a:ln w="12700">
            <a:solidFill>
              <a:srgbClr val="1E2761"/>
            </a:solidFill>
            <a:prstDash val="solid"/>
          </a:ln>
        </p:spPr>
        <p:txBody>
          <a:bodyPr/>
          <a:lstStyle/>
          <a:p>
            <a:endParaRPr lang="en-US"/>
          </a:p>
        </p:txBody>
      </p:sp>
      <p:sp>
        <p:nvSpPr>
          <p:cNvPr id="11" name="Text 9"/>
          <p:cNvSpPr txBox="1"/>
          <p:nvPr/>
        </p:nvSpPr>
        <p:spPr>
          <a:xfrm>
            <a:off x="548640" y="3374136"/>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1097280" y="3429000"/>
            <a:ext cx="4343400" cy="777240"/>
          </a:xfrm>
          <a:prstGeom prst="rect">
            <a:avLst/>
          </a:prstGeom>
          <a:noFill/>
          <a:ln/>
        </p:spPr>
        <p:txBody>
          <a:bodyPr wrap="square" lIns="0" tIns="0" rIns="0" bIns="0" rtlCol="0" anchor="t"/>
          <a:lstStyle/>
          <a:p>
            <a:pPr marL="0" indent="0">
              <a:buNone/>
            </a:pPr>
            <a:r>
              <a:rPr lang="en-US" sz="1400" dirty="0">
                <a:solidFill>
                  <a:srgbClr val="1B1B2A"/>
                </a:solidFill>
                <a:latin typeface="Calibri" pitchFamily="34" charset="0"/>
                <a:ea typeface="Calibri" pitchFamily="34" charset="-122"/>
                <a:cs typeface="Calibri" pitchFamily="34" charset="-120"/>
              </a:rPr>
              <a:t>State the outcome in one sentence. If you need the word “and,” split it.</a:t>
            </a:r>
            <a:endParaRPr lang="en-US" sz="1400" dirty="0"/>
          </a:p>
        </p:txBody>
      </p:sp>
      <p:sp>
        <p:nvSpPr>
          <p:cNvPr id="13" name="Shape 11"/>
          <p:cNvSpPr/>
          <p:nvPr/>
        </p:nvSpPr>
        <p:spPr>
          <a:xfrm>
            <a:off x="548640" y="4334256"/>
            <a:ext cx="347472" cy="347472"/>
          </a:xfrm>
          <a:prstGeom prst="ellipse">
            <a:avLst/>
          </a:prstGeom>
          <a:solidFill>
            <a:srgbClr val="1E2761"/>
          </a:solidFill>
          <a:ln w="12700">
            <a:solidFill>
              <a:srgbClr val="1E2761"/>
            </a:solidFill>
            <a:prstDash val="solid"/>
          </a:ln>
        </p:spPr>
        <p:txBody>
          <a:bodyPr/>
          <a:lstStyle/>
          <a:p>
            <a:endParaRPr lang="en-US"/>
          </a:p>
        </p:txBody>
      </p:sp>
      <p:sp>
        <p:nvSpPr>
          <p:cNvPr id="14" name="Text 12"/>
          <p:cNvSpPr txBox="1"/>
          <p:nvPr/>
        </p:nvSpPr>
        <p:spPr>
          <a:xfrm>
            <a:off x="548640" y="4334256"/>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3"/>
          <p:cNvSpPr txBox="1"/>
          <p:nvPr/>
        </p:nvSpPr>
        <p:spPr>
          <a:xfrm>
            <a:off x="1097280" y="4389120"/>
            <a:ext cx="4343400" cy="777240"/>
          </a:xfrm>
          <a:prstGeom prst="rect">
            <a:avLst/>
          </a:prstGeom>
          <a:noFill/>
          <a:ln/>
        </p:spPr>
        <p:txBody>
          <a:bodyPr wrap="square" lIns="0" tIns="0" rIns="0" bIns="0" rtlCol="0" anchor="t"/>
          <a:lstStyle/>
          <a:p>
            <a:pPr marL="0" indent="0">
              <a:buNone/>
            </a:pPr>
            <a:r>
              <a:rPr lang="en-US" sz="1400" dirty="0">
                <a:solidFill>
                  <a:srgbClr val="1B1B2A"/>
                </a:solidFill>
                <a:latin typeface="Calibri" pitchFamily="34" charset="0"/>
                <a:ea typeface="Calibri" pitchFamily="34" charset="-122"/>
                <a:cs typeface="Calibri" pitchFamily="34" charset="-120"/>
              </a:rPr>
              <a:t>Point at an existing pattern to copy: “follow how orders.py does it.”</a:t>
            </a:r>
            <a:endParaRPr lang="en-US" sz="1400" dirty="0"/>
          </a:p>
        </p:txBody>
      </p:sp>
      <p:sp>
        <p:nvSpPr>
          <p:cNvPr id="16" name="Shape 14"/>
          <p:cNvSpPr/>
          <p:nvPr/>
        </p:nvSpPr>
        <p:spPr>
          <a:xfrm>
            <a:off x="548640" y="5294376"/>
            <a:ext cx="347472" cy="347472"/>
          </a:xfrm>
          <a:prstGeom prst="ellipse">
            <a:avLst/>
          </a:prstGeom>
          <a:solidFill>
            <a:srgbClr val="1E2761"/>
          </a:solidFill>
          <a:ln w="12700">
            <a:solidFill>
              <a:srgbClr val="1E2761"/>
            </a:solidFill>
            <a:prstDash val="solid"/>
          </a:ln>
        </p:spPr>
        <p:txBody>
          <a:bodyPr/>
          <a:lstStyle/>
          <a:p>
            <a:endParaRPr lang="en-US"/>
          </a:p>
        </p:txBody>
      </p:sp>
      <p:sp>
        <p:nvSpPr>
          <p:cNvPr id="17" name="Text 15"/>
          <p:cNvSpPr txBox="1"/>
          <p:nvPr/>
        </p:nvSpPr>
        <p:spPr>
          <a:xfrm>
            <a:off x="548640" y="5294376"/>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8" name="Text 16"/>
          <p:cNvSpPr txBox="1"/>
          <p:nvPr/>
        </p:nvSpPr>
        <p:spPr>
          <a:xfrm>
            <a:off x="1097280" y="5349240"/>
            <a:ext cx="4343400" cy="777240"/>
          </a:xfrm>
          <a:prstGeom prst="rect">
            <a:avLst/>
          </a:prstGeom>
          <a:noFill/>
          <a:ln/>
        </p:spPr>
        <p:txBody>
          <a:bodyPr wrap="square" lIns="0" tIns="0" rIns="0" bIns="0" rtlCol="0" anchor="t"/>
          <a:lstStyle/>
          <a:p>
            <a:pPr marL="0" indent="0">
              <a:buNone/>
            </a:pPr>
            <a:r>
              <a:rPr lang="en-US" sz="1400" dirty="0">
                <a:solidFill>
                  <a:srgbClr val="1B1B2A"/>
                </a:solidFill>
                <a:latin typeface="Calibri" pitchFamily="34" charset="0"/>
                <a:ea typeface="Calibri" pitchFamily="34" charset="-122"/>
                <a:cs typeface="Calibri" pitchFamily="34" charset="-120"/>
              </a:rPr>
              <a:t>Size it so the diff can be reviewed in one sitting.</a:t>
            </a:r>
            <a:endParaRPr lang="en-US" sz="1400" dirty="0"/>
          </a:p>
        </p:txBody>
      </p:sp>
      <p:sp>
        <p:nvSpPr>
          <p:cNvPr id="19" name="Shape 17"/>
          <p:cNvSpPr/>
          <p:nvPr/>
        </p:nvSpPr>
        <p:spPr>
          <a:xfrm>
            <a:off x="5852160" y="2377440"/>
            <a:ext cx="2240280" cy="1115568"/>
          </a:xfrm>
          <a:prstGeom prst="roundRect">
            <a:avLst>
              <a:gd name="adj" fmla="val 4918"/>
            </a:avLst>
          </a:prstGeom>
          <a:solidFill>
            <a:srgbClr val="F4F6FB"/>
          </a:solidFill>
          <a:ln w="12700">
            <a:solidFill>
              <a:srgbClr val="F4F6FB"/>
            </a:solidFill>
            <a:prstDash val="solid"/>
          </a:ln>
        </p:spPr>
        <p:txBody>
          <a:bodyPr/>
          <a:lstStyle/>
          <a:p>
            <a:endParaRPr lang="en-US"/>
          </a:p>
        </p:txBody>
      </p:sp>
      <p:sp>
        <p:nvSpPr>
          <p:cNvPr id="20" name="Text 18"/>
          <p:cNvSpPr txBox="1"/>
          <p:nvPr/>
        </p:nvSpPr>
        <p:spPr>
          <a:xfrm>
            <a:off x="6016752" y="2487168"/>
            <a:ext cx="1920240" cy="228600"/>
          </a:xfrm>
          <a:prstGeom prst="rect">
            <a:avLst/>
          </a:prstGeom>
          <a:noFill/>
          <a:ln/>
        </p:spPr>
        <p:txBody>
          <a:bodyPr wrap="square" lIns="0" tIns="0" rIns="0" bIns="0" rtlCol="0" anchor="ctr"/>
          <a:lstStyle/>
          <a:p>
            <a:pPr marL="0" indent="0">
              <a:buNone/>
            </a:pPr>
            <a:r>
              <a:rPr lang="en-US" sz="1000" b="1" kern="0" spc="100" dirty="0">
                <a:solidFill>
                  <a:srgbClr val="B23A3A"/>
                </a:solidFill>
                <a:latin typeface="Calibri" pitchFamily="34" charset="0"/>
                <a:ea typeface="Calibri" pitchFamily="34" charset="-122"/>
                <a:cs typeface="Calibri" pitchFamily="34" charset="-120"/>
              </a:rPr>
              <a:t>TOO BROAD</a:t>
            </a:r>
            <a:endParaRPr lang="en-US" sz="1000" dirty="0"/>
          </a:p>
        </p:txBody>
      </p:sp>
      <p:sp>
        <p:nvSpPr>
          <p:cNvPr id="21" name="Text 19"/>
          <p:cNvSpPr txBox="1"/>
          <p:nvPr/>
        </p:nvSpPr>
        <p:spPr>
          <a:xfrm>
            <a:off x="6016752" y="2743200"/>
            <a:ext cx="1965960" cy="658368"/>
          </a:xfrm>
          <a:prstGeom prst="rect">
            <a:avLst/>
          </a:prstGeom>
          <a:noFill/>
          <a:ln/>
        </p:spPr>
        <p:txBody>
          <a:bodyPr wrap="square" lIns="0" tIns="0" rIns="0" bIns="0" rtlCol="0" anchor="t"/>
          <a:lstStyle/>
          <a:p>
            <a:pPr marL="0" indent="0">
              <a:buNone/>
            </a:pPr>
            <a:r>
              <a:rPr lang="en-US" sz="1300" i="1" dirty="0">
                <a:solidFill>
                  <a:srgbClr val="1B1B2A"/>
                </a:solidFill>
                <a:latin typeface="Calibri" pitchFamily="34" charset="0"/>
                <a:ea typeface="Calibri" pitchFamily="34" charset="-122"/>
                <a:cs typeface="Calibri" pitchFamily="34" charset="-120"/>
              </a:rPr>
              <a:t>“Add search to the store.”</a:t>
            </a:r>
            <a:endParaRPr lang="en-US" sz="1300" dirty="0"/>
          </a:p>
        </p:txBody>
      </p:sp>
      <p:sp>
        <p:nvSpPr>
          <p:cNvPr id="22" name="Shape 20"/>
          <p:cNvSpPr/>
          <p:nvPr/>
        </p:nvSpPr>
        <p:spPr>
          <a:xfrm>
            <a:off x="8229600" y="2377440"/>
            <a:ext cx="3410712" cy="1115568"/>
          </a:xfrm>
          <a:prstGeom prst="roundRect">
            <a:avLst>
              <a:gd name="adj" fmla="val 4918"/>
            </a:avLst>
          </a:prstGeom>
          <a:solidFill>
            <a:srgbClr val="1E2761"/>
          </a:solidFill>
          <a:ln w="12700">
            <a:solidFill>
              <a:srgbClr val="1E2761"/>
            </a:solidFill>
            <a:prstDash val="solid"/>
          </a:ln>
        </p:spPr>
        <p:txBody>
          <a:bodyPr/>
          <a:lstStyle/>
          <a:p>
            <a:endParaRPr lang="en-US"/>
          </a:p>
        </p:txBody>
      </p:sp>
      <p:sp>
        <p:nvSpPr>
          <p:cNvPr id="23" name="Text 21"/>
          <p:cNvSpPr txBox="1"/>
          <p:nvPr/>
        </p:nvSpPr>
        <p:spPr>
          <a:xfrm>
            <a:off x="8394192" y="2487168"/>
            <a:ext cx="3108960" cy="228600"/>
          </a:xfrm>
          <a:prstGeom prst="rect">
            <a:avLst/>
          </a:prstGeom>
          <a:noFill/>
          <a:ln/>
        </p:spPr>
        <p:txBody>
          <a:bodyPr wrap="square" lIns="0" tIns="0" rIns="0" bIns="0" rtlCol="0" anchor="ctr"/>
          <a:lstStyle/>
          <a:p>
            <a:pPr marL="0" indent="0">
              <a:buNone/>
            </a:pPr>
            <a:r>
              <a:rPr lang="en-US" sz="1000" b="1" kern="0" spc="100" dirty="0">
                <a:solidFill>
                  <a:srgbClr val="7CFC9C"/>
                </a:solidFill>
                <a:latin typeface="Calibri" pitchFamily="34" charset="0"/>
                <a:ea typeface="Calibri" pitchFamily="34" charset="-122"/>
                <a:cs typeface="Calibri" pitchFamily="34" charset="-120"/>
              </a:rPr>
              <a:t>BOUNDED</a:t>
            </a:r>
            <a:endParaRPr lang="en-US" sz="1000" dirty="0"/>
          </a:p>
        </p:txBody>
      </p:sp>
      <p:sp>
        <p:nvSpPr>
          <p:cNvPr id="24" name="Text 22"/>
          <p:cNvSpPr txBox="1"/>
          <p:nvPr/>
        </p:nvSpPr>
        <p:spPr>
          <a:xfrm>
            <a:off x="8394192" y="2743200"/>
            <a:ext cx="3108960" cy="685800"/>
          </a:xfrm>
          <a:prstGeom prst="rect">
            <a:avLst/>
          </a:prstGeom>
          <a:noFill/>
          <a:ln/>
        </p:spPr>
        <p:txBody>
          <a:bodyPr wrap="square" lIns="0" tIns="0" rIns="0" bIns="0" rtlCol="0" anchor="t"/>
          <a:lstStyle/>
          <a:p>
            <a:pPr marL="0" indent="0">
              <a:buNone/>
            </a:pPr>
            <a:r>
              <a:rPr lang="en-US" sz="1250" dirty="0">
                <a:solidFill>
                  <a:srgbClr val="FFFFFF"/>
                </a:solidFill>
                <a:latin typeface="Calibri" pitchFamily="34" charset="0"/>
                <a:ea typeface="Calibri" pitchFamily="34" charset="-122"/>
                <a:cs typeface="Calibri" pitchFamily="34" charset="-120"/>
              </a:rPr>
              <a:t>Add GET /products/search?q= in api/products.py: case-insensitive match on product name. No UI changes.</a:t>
            </a:r>
            <a:endParaRPr lang="en-US" sz="1250" dirty="0"/>
          </a:p>
        </p:txBody>
      </p:sp>
      <p:sp>
        <p:nvSpPr>
          <p:cNvPr id="25" name="Shape 23"/>
          <p:cNvSpPr/>
          <p:nvPr/>
        </p:nvSpPr>
        <p:spPr>
          <a:xfrm>
            <a:off x="5852160" y="3657600"/>
            <a:ext cx="2240280" cy="1115568"/>
          </a:xfrm>
          <a:prstGeom prst="roundRect">
            <a:avLst>
              <a:gd name="adj" fmla="val 4918"/>
            </a:avLst>
          </a:prstGeom>
          <a:solidFill>
            <a:srgbClr val="F4F6FB"/>
          </a:solidFill>
          <a:ln w="12700">
            <a:solidFill>
              <a:srgbClr val="F4F6FB"/>
            </a:solidFill>
            <a:prstDash val="solid"/>
          </a:ln>
        </p:spPr>
        <p:txBody>
          <a:bodyPr/>
          <a:lstStyle/>
          <a:p>
            <a:endParaRPr lang="en-US"/>
          </a:p>
        </p:txBody>
      </p:sp>
      <p:sp>
        <p:nvSpPr>
          <p:cNvPr id="26" name="Text 24"/>
          <p:cNvSpPr txBox="1"/>
          <p:nvPr/>
        </p:nvSpPr>
        <p:spPr>
          <a:xfrm>
            <a:off x="6016752" y="3767328"/>
            <a:ext cx="1920240" cy="228600"/>
          </a:xfrm>
          <a:prstGeom prst="rect">
            <a:avLst/>
          </a:prstGeom>
          <a:noFill/>
          <a:ln/>
        </p:spPr>
        <p:txBody>
          <a:bodyPr wrap="square" lIns="0" tIns="0" rIns="0" bIns="0" rtlCol="0" anchor="ctr"/>
          <a:lstStyle/>
          <a:p>
            <a:pPr marL="0" indent="0">
              <a:buNone/>
            </a:pPr>
            <a:r>
              <a:rPr lang="en-US" sz="1000" b="1" kern="0" spc="100" dirty="0">
                <a:solidFill>
                  <a:srgbClr val="B23A3A"/>
                </a:solidFill>
                <a:latin typeface="Calibri" pitchFamily="34" charset="0"/>
                <a:ea typeface="Calibri" pitchFamily="34" charset="-122"/>
                <a:cs typeface="Calibri" pitchFamily="34" charset="-120"/>
              </a:rPr>
              <a:t>TOO BROAD</a:t>
            </a:r>
            <a:endParaRPr lang="en-US" sz="1000" dirty="0"/>
          </a:p>
        </p:txBody>
      </p:sp>
      <p:sp>
        <p:nvSpPr>
          <p:cNvPr id="27" name="Text 25"/>
          <p:cNvSpPr txBox="1"/>
          <p:nvPr/>
        </p:nvSpPr>
        <p:spPr>
          <a:xfrm>
            <a:off x="6016752" y="4023360"/>
            <a:ext cx="1965960" cy="658368"/>
          </a:xfrm>
          <a:prstGeom prst="rect">
            <a:avLst/>
          </a:prstGeom>
          <a:noFill/>
          <a:ln/>
        </p:spPr>
        <p:txBody>
          <a:bodyPr wrap="square" lIns="0" tIns="0" rIns="0" bIns="0" rtlCol="0" anchor="t"/>
          <a:lstStyle/>
          <a:p>
            <a:pPr marL="0" indent="0">
              <a:buNone/>
            </a:pPr>
            <a:r>
              <a:rPr lang="en-US" sz="1300" i="1" dirty="0">
                <a:solidFill>
                  <a:srgbClr val="1B1B2A"/>
                </a:solidFill>
                <a:latin typeface="Calibri" pitchFamily="34" charset="0"/>
                <a:ea typeface="Calibri" pitchFamily="34" charset="-122"/>
                <a:cs typeface="Calibri" pitchFamily="34" charset="-120"/>
              </a:rPr>
              <a:t>“Improve login security.”</a:t>
            </a:r>
            <a:endParaRPr lang="en-US" sz="1300" dirty="0"/>
          </a:p>
        </p:txBody>
      </p:sp>
      <p:sp>
        <p:nvSpPr>
          <p:cNvPr id="28" name="Shape 26"/>
          <p:cNvSpPr/>
          <p:nvPr/>
        </p:nvSpPr>
        <p:spPr>
          <a:xfrm>
            <a:off x="8229600" y="3657600"/>
            <a:ext cx="3410712" cy="1115568"/>
          </a:xfrm>
          <a:prstGeom prst="roundRect">
            <a:avLst>
              <a:gd name="adj" fmla="val 4918"/>
            </a:avLst>
          </a:prstGeom>
          <a:solidFill>
            <a:srgbClr val="1E2761"/>
          </a:solidFill>
          <a:ln w="12700">
            <a:solidFill>
              <a:srgbClr val="1E2761"/>
            </a:solidFill>
            <a:prstDash val="solid"/>
          </a:ln>
        </p:spPr>
        <p:txBody>
          <a:bodyPr/>
          <a:lstStyle/>
          <a:p>
            <a:endParaRPr lang="en-US"/>
          </a:p>
        </p:txBody>
      </p:sp>
      <p:sp>
        <p:nvSpPr>
          <p:cNvPr id="29" name="Text 27"/>
          <p:cNvSpPr txBox="1"/>
          <p:nvPr/>
        </p:nvSpPr>
        <p:spPr>
          <a:xfrm>
            <a:off x="8394192" y="3767328"/>
            <a:ext cx="3108960" cy="228600"/>
          </a:xfrm>
          <a:prstGeom prst="rect">
            <a:avLst/>
          </a:prstGeom>
          <a:noFill/>
          <a:ln/>
        </p:spPr>
        <p:txBody>
          <a:bodyPr wrap="square" lIns="0" tIns="0" rIns="0" bIns="0" rtlCol="0" anchor="ctr"/>
          <a:lstStyle/>
          <a:p>
            <a:pPr marL="0" indent="0">
              <a:buNone/>
            </a:pPr>
            <a:r>
              <a:rPr lang="en-US" sz="1000" b="1" kern="0" spc="100" dirty="0">
                <a:solidFill>
                  <a:srgbClr val="7CFC9C"/>
                </a:solidFill>
                <a:latin typeface="Calibri" pitchFamily="34" charset="0"/>
                <a:ea typeface="Calibri" pitchFamily="34" charset="-122"/>
                <a:cs typeface="Calibri" pitchFamily="34" charset="-120"/>
              </a:rPr>
              <a:t>BOUNDED</a:t>
            </a:r>
            <a:endParaRPr lang="en-US" sz="1000" dirty="0"/>
          </a:p>
        </p:txBody>
      </p:sp>
      <p:sp>
        <p:nvSpPr>
          <p:cNvPr id="30" name="Text 28"/>
          <p:cNvSpPr txBox="1"/>
          <p:nvPr/>
        </p:nvSpPr>
        <p:spPr>
          <a:xfrm>
            <a:off x="8394192" y="4023360"/>
            <a:ext cx="3108960" cy="685800"/>
          </a:xfrm>
          <a:prstGeom prst="rect">
            <a:avLst/>
          </a:prstGeom>
          <a:noFill/>
          <a:ln/>
        </p:spPr>
        <p:txBody>
          <a:bodyPr wrap="square" lIns="0" tIns="0" rIns="0" bIns="0" rtlCol="0" anchor="t"/>
          <a:lstStyle/>
          <a:p>
            <a:pPr marL="0" indent="0">
              <a:buNone/>
            </a:pPr>
            <a:r>
              <a:rPr lang="en-US" sz="1250" dirty="0">
                <a:solidFill>
                  <a:srgbClr val="FFFFFF"/>
                </a:solidFill>
                <a:latin typeface="Calibri" pitchFamily="34" charset="0"/>
                <a:ea typeface="Calibri" pitchFamily="34" charset="-122"/>
                <a:cs typeface="Calibri" pitchFamily="34" charset="-120"/>
              </a:rPr>
              <a:t>Lock an account for 15 minutes after 5 failed logins. Changes limited to auth/login.py and the users table.</a:t>
            </a:r>
            <a:endParaRPr lang="en-US" sz="1250" dirty="0"/>
          </a:p>
        </p:txBody>
      </p:sp>
      <p:sp>
        <p:nvSpPr>
          <p:cNvPr id="31" name="Shape 29"/>
          <p:cNvSpPr/>
          <p:nvPr/>
        </p:nvSpPr>
        <p:spPr>
          <a:xfrm>
            <a:off x="5852160" y="4937760"/>
            <a:ext cx="2240280" cy="1115568"/>
          </a:xfrm>
          <a:prstGeom prst="roundRect">
            <a:avLst>
              <a:gd name="adj" fmla="val 4918"/>
            </a:avLst>
          </a:prstGeom>
          <a:solidFill>
            <a:srgbClr val="F4F6FB"/>
          </a:solidFill>
          <a:ln w="12700">
            <a:solidFill>
              <a:srgbClr val="F4F6FB"/>
            </a:solidFill>
            <a:prstDash val="solid"/>
          </a:ln>
        </p:spPr>
        <p:txBody>
          <a:bodyPr/>
          <a:lstStyle/>
          <a:p>
            <a:endParaRPr lang="en-US"/>
          </a:p>
        </p:txBody>
      </p:sp>
      <p:sp>
        <p:nvSpPr>
          <p:cNvPr id="32" name="Text 30"/>
          <p:cNvSpPr txBox="1"/>
          <p:nvPr/>
        </p:nvSpPr>
        <p:spPr>
          <a:xfrm>
            <a:off x="6016752" y="5047488"/>
            <a:ext cx="1920240" cy="228600"/>
          </a:xfrm>
          <a:prstGeom prst="rect">
            <a:avLst/>
          </a:prstGeom>
          <a:noFill/>
          <a:ln/>
        </p:spPr>
        <p:txBody>
          <a:bodyPr wrap="square" lIns="0" tIns="0" rIns="0" bIns="0" rtlCol="0" anchor="ctr"/>
          <a:lstStyle/>
          <a:p>
            <a:pPr marL="0" indent="0">
              <a:buNone/>
            </a:pPr>
            <a:r>
              <a:rPr lang="en-US" sz="1000" b="1" kern="0" spc="100" dirty="0">
                <a:solidFill>
                  <a:srgbClr val="B23A3A"/>
                </a:solidFill>
                <a:latin typeface="Calibri" pitchFamily="34" charset="0"/>
                <a:ea typeface="Calibri" pitchFamily="34" charset="-122"/>
                <a:cs typeface="Calibri" pitchFamily="34" charset="-120"/>
              </a:rPr>
              <a:t>TOO BROAD</a:t>
            </a:r>
            <a:endParaRPr lang="en-US" sz="1000" dirty="0"/>
          </a:p>
        </p:txBody>
      </p:sp>
      <p:sp>
        <p:nvSpPr>
          <p:cNvPr id="33" name="Text 31"/>
          <p:cNvSpPr txBox="1"/>
          <p:nvPr/>
        </p:nvSpPr>
        <p:spPr>
          <a:xfrm>
            <a:off x="6016752" y="5303520"/>
            <a:ext cx="1965960" cy="658368"/>
          </a:xfrm>
          <a:prstGeom prst="rect">
            <a:avLst/>
          </a:prstGeom>
          <a:noFill/>
          <a:ln/>
        </p:spPr>
        <p:txBody>
          <a:bodyPr wrap="square" lIns="0" tIns="0" rIns="0" bIns="0" rtlCol="0" anchor="t"/>
          <a:lstStyle/>
          <a:p>
            <a:pPr marL="0" indent="0">
              <a:buNone/>
            </a:pPr>
            <a:r>
              <a:rPr lang="en-US" sz="1300" i="1" dirty="0">
                <a:solidFill>
                  <a:srgbClr val="1B1B2A"/>
                </a:solidFill>
                <a:latin typeface="Calibri" pitchFamily="34" charset="0"/>
                <a:ea typeface="Calibri" pitchFamily="34" charset="-122"/>
                <a:cs typeface="Calibri" pitchFamily="34" charset="-120"/>
              </a:rPr>
              <a:t>“Clean up the billing code.”</a:t>
            </a:r>
            <a:endParaRPr lang="en-US" sz="1300" dirty="0"/>
          </a:p>
        </p:txBody>
      </p:sp>
      <p:sp>
        <p:nvSpPr>
          <p:cNvPr id="34" name="Shape 32"/>
          <p:cNvSpPr/>
          <p:nvPr/>
        </p:nvSpPr>
        <p:spPr>
          <a:xfrm>
            <a:off x="8229600" y="4937760"/>
            <a:ext cx="3410712" cy="1115568"/>
          </a:xfrm>
          <a:prstGeom prst="roundRect">
            <a:avLst>
              <a:gd name="adj" fmla="val 4918"/>
            </a:avLst>
          </a:prstGeom>
          <a:solidFill>
            <a:srgbClr val="1E2761"/>
          </a:solidFill>
          <a:ln w="12700">
            <a:solidFill>
              <a:srgbClr val="1E2761"/>
            </a:solidFill>
            <a:prstDash val="solid"/>
          </a:ln>
        </p:spPr>
        <p:txBody>
          <a:bodyPr/>
          <a:lstStyle/>
          <a:p>
            <a:endParaRPr lang="en-US"/>
          </a:p>
        </p:txBody>
      </p:sp>
      <p:sp>
        <p:nvSpPr>
          <p:cNvPr id="35" name="Text 33"/>
          <p:cNvSpPr txBox="1"/>
          <p:nvPr/>
        </p:nvSpPr>
        <p:spPr>
          <a:xfrm>
            <a:off x="8394192" y="5047488"/>
            <a:ext cx="3108960" cy="228600"/>
          </a:xfrm>
          <a:prstGeom prst="rect">
            <a:avLst/>
          </a:prstGeom>
          <a:noFill/>
          <a:ln/>
        </p:spPr>
        <p:txBody>
          <a:bodyPr wrap="square" lIns="0" tIns="0" rIns="0" bIns="0" rtlCol="0" anchor="ctr"/>
          <a:lstStyle/>
          <a:p>
            <a:pPr marL="0" indent="0">
              <a:buNone/>
            </a:pPr>
            <a:r>
              <a:rPr lang="en-US" sz="1000" b="1" kern="0" spc="100" dirty="0">
                <a:solidFill>
                  <a:srgbClr val="7CFC9C"/>
                </a:solidFill>
                <a:latin typeface="Calibri" pitchFamily="34" charset="0"/>
                <a:ea typeface="Calibri" pitchFamily="34" charset="-122"/>
                <a:cs typeface="Calibri" pitchFamily="34" charset="-120"/>
              </a:rPr>
              <a:t>BOUNDED</a:t>
            </a:r>
            <a:endParaRPr lang="en-US" sz="1000" dirty="0"/>
          </a:p>
        </p:txBody>
      </p:sp>
      <p:sp>
        <p:nvSpPr>
          <p:cNvPr id="36" name="Text 34"/>
          <p:cNvSpPr txBox="1"/>
          <p:nvPr/>
        </p:nvSpPr>
        <p:spPr>
          <a:xfrm>
            <a:off x="8394192" y="5303520"/>
            <a:ext cx="3108960" cy="685800"/>
          </a:xfrm>
          <a:prstGeom prst="rect">
            <a:avLst/>
          </a:prstGeom>
          <a:noFill/>
          <a:ln/>
        </p:spPr>
        <p:txBody>
          <a:bodyPr wrap="square" lIns="0" tIns="0" rIns="0" bIns="0" rtlCol="0" anchor="t"/>
          <a:lstStyle/>
          <a:p>
            <a:pPr marL="0" indent="0">
              <a:buNone/>
            </a:pPr>
            <a:r>
              <a:rPr lang="en-US" sz="1250" dirty="0">
                <a:solidFill>
                  <a:srgbClr val="FFFFFF"/>
                </a:solidFill>
                <a:latin typeface="Calibri" pitchFamily="34" charset="0"/>
                <a:ea typeface="Calibri" pitchFamily="34" charset="-122"/>
                <a:cs typeface="Calibri" pitchFamily="34" charset="-120"/>
              </a:rPr>
              <a:t>Move the tax math in invoice.py into calculate_tax(subtotal, region). No change in behavior.</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7315200" cy="365760"/>
          </a:xfrm>
          <a:prstGeom prst="rect">
            <a:avLst/>
          </a:prstGeom>
          <a:noFill/>
          <a:ln/>
        </p:spPr>
        <p:txBody>
          <a:bodyPr wrap="square" lIns="0" tIns="0" rIns="0" bIns="0" rtlCol="0" anchor="ctr"/>
          <a:lstStyle/>
          <a:p>
            <a:pPr marL="0" indent="0">
              <a:buNone/>
            </a:pPr>
            <a:r>
              <a:rPr lang="en-US" sz="1200" b="1" kern="0" spc="200" dirty="0">
                <a:solidFill>
                  <a:srgbClr val="1E2761"/>
                </a:solidFill>
                <a:latin typeface="Calibri" pitchFamily="34" charset="0"/>
                <a:ea typeface="Calibri" pitchFamily="34" charset="-122"/>
                <a:cs typeface="Calibri" pitchFamily="34" charset="-120"/>
              </a:rPr>
              <a:t>MODULE 1 — AGENT-READY, STEP 2 OF 4</a:t>
            </a:r>
            <a:endParaRPr lang="en-US" sz="1200" dirty="0"/>
          </a:p>
        </p:txBody>
      </p:sp>
      <p:sp>
        <p:nvSpPr>
          <p:cNvPr id="3" name="Text 1"/>
          <p:cNvSpPr txBox="1"/>
          <p:nvPr/>
        </p:nvSpPr>
        <p:spPr>
          <a:xfrm>
            <a:off x="548640" y="685800"/>
            <a:ext cx="10515600" cy="640080"/>
          </a:xfrm>
          <a:prstGeom prst="rect">
            <a:avLst/>
          </a:prstGeom>
          <a:noFill/>
          <a:ln/>
        </p:spPr>
        <p:txBody>
          <a:bodyPr wrap="square" lIns="0" tIns="0" rIns="0" bIns="0" rtlCol="0" anchor="ctr"/>
          <a:lstStyle/>
          <a:p>
            <a:pPr marL="0" indent="0">
              <a:buNone/>
            </a:pPr>
            <a:r>
              <a:rPr lang="en-US" sz="3000" b="1" dirty="0">
                <a:solidFill>
                  <a:srgbClr val="1B1B2A"/>
                </a:solidFill>
                <a:latin typeface="Cambria" pitchFamily="34" charset="0"/>
                <a:ea typeface="Cambria" pitchFamily="34" charset="-122"/>
                <a:cs typeface="Cambria" pitchFamily="34" charset="-120"/>
              </a:rPr>
              <a:t>Acceptance Criteria</a:t>
            </a:r>
            <a:endParaRPr lang="en-US" sz="3000" dirty="0"/>
          </a:p>
        </p:txBody>
      </p:sp>
      <p:sp>
        <p:nvSpPr>
          <p:cNvPr id="4" name="Text 2"/>
          <p:cNvSpPr txBox="1"/>
          <p:nvPr/>
        </p:nvSpPr>
        <p:spPr>
          <a:xfrm>
            <a:off x="548640" y="1325880"/>
            <a:ext cx="10972800" cy="457200"/>
          </a:xfrm>
          <a:prstGeom prst="rect">
            <a:avLst/>
          </a:prstGeom>
          <a:noFill/>
          <a:ln/>
        </p:spPr>
        <p:txBody>
          <a:bodyPr wrap="square" lIns="0" tIns="0" rIns="0" bIns="0" rtlCol="0" anchor="ctr"/>
          <a:lstStyle/>
          <a:p>
            <a:pPr marL="0" indent="0">
              <a:buNone/>
            </a:pPr>
            <a:r>
              <a:rPr lang="en-US" sz="1600" i="1" dirty="0">
                <a:solidFill>
                  <a:srgbClr val="5B6472"/>
                </a:solidFill>
                <a:latin typeface="Calibri" pitchFamily="34" charset="0"/>
                <a:ea typeface="Calibri" pitchFamily="34" charset="-122"/>
                <a:cs typeface="Calibri" pitchFamily="34" charset="-120"/>
              </a:rPr>
              <a:t>A pass/fail checklist the agent can check itself against, and you can confirm without reading every line.</a:t>
            </a:r>
            <a:endParaRPr lang="en-US" sz="1600" dirty="0"/>
          </a:p>
        </p:txBody>
      </p:sp>
      <p:sp>
        <p:nvSpPr>
          <p:cNvPr id="5" name="Text 3"/>
          <p:cNvSpPr txBox="1"/>
          <p:nvPr/>
        </p:nvSpPr>
        <p:spPr>
          <a:xfrm>
            <a:off x="548640" y="1965960"/>
            <a:ext cx="4572000" cy="274320"/>
          </a:xfrm>
          <a:prstGeom prst="rect">
            <a:avLst/>
          </a:prstGeom>
          <a:noFill/>
          <a:ln/>
        </p:spPr>
        <p:txBody>
          <a:bodyPr wrap="square" lIns="0" tIns="0" rIns="0" bIns="0" rtlCol="0" anchor="ctr"/>
          <a:lstStyle/>
          <a:p>
            <a:pPr marL="0" indent="0">
              <a:buNone/>
            </a:pPr>
            <a:r>
              <a:rPr lang="en-US" sz="1100" b="1" kern="0" spc="200" dirty="0">
                <a:solidFill>
                  <a:srgbClr val="1E2761"/>
                </a:solidFill>
                <a:latin typeface="Calibri" pitchFamily="34" charset="0"/>
                <a:ea typeface="Calibri" pitchFamily="34" charset="-122"/>
                <a:cs typeface="Calibri" pitchFamily="34" charset="-120"/>
              </a:rPr>
              <a:t>HOW TO WRITE IT</a:t>
            </a:r>
            <a:endParaRPr lang="en-US" sz="1100" dirty="0"/>
          </a:p>
        </p:txBody>
      </p:sp>
      <p:sp>
        <p:nvSpPr>
          <p:cNvPr id="6" name="Text 4"/>
          <p:cNvSpPr txBox="1"/>
          <p:nvPr/>
        </p:nvSpPr>
        <p:spPr>
          <a:xfrm>
            <a:off x="5852160" y="1965960"/>
            <a:ext cx="4572000" cy="274320"/>
          </a:xfrm>
          <a:prstGeom prst="rect">
            <a:avLst/>
          </a:prstGeom>
          <a:noFill/>
          <a:ln/>
        </p:spPr>
        <p:txBody>
          <a:bodyPr wrap="square" lIns="0" tIns="0" rIns="0" bIns="0" rtlCol="0" anchor="ctr"/>
          <a:lstStyle/>
          <a:p>
            <a:pPr marL="0" indent="0">
              <a:buNone/>
            </a:pPr>
            <a:r>
              <a:rPr lang="en-US" sz="1100" b="1" kern="0" spc="200" dirty="0">
                <a:solidFill>
                  <a:srgbClr val="1E2761"/>
                </a:solidFill>
                <a:latin typeface="Calibri" pitchFamily="34" charset="0"/>
                <a:ea typeface="Calibri" pitchFamily="34" charset="-122"/>
                <a:cs typeface="Calibri" pitchFamily="34" charset="-120"/>
              </a:rPr>
              <a:t>EXAMPLES</a:t>
            </a:r>
            <a:endParaRPr lang="en-US" sz="1100" dirty="0"/>
          </a:p>
        </p:txBody>
      </p:sp>
      <p:sp>
        <p:nvSpPr>
          <p:cNvPr id="7" name="Shape 5"/>
          <p:cNvSpPr/>
          <p:nvPr/>
        </p:nvSpPr>
        <p:spPr>
          <a:xfrm>
            <a:off x="548640" y="2414016"/>
            <a:ext cx="347472" cy="347472"/>
          </a:xfrm>
          <a:prstGeom prst="ellipse">
            <a:avLst/>
          </a:prstGeom>
          <a:solidFill>
            <a:srgbClr val="1E2761"/>
          </a:solidFill>
          <a:ln w="12700">
            <a:solidFill>
              <a:srgbClr val="1E2761"/>
            </a:solidFill>
            <a:prstDash val="solid"/>
          </a:ln>
        </p:spPr>
        <p:txBody>
          <a:bodyPr/>
          <a:lstStyle/>
          <a:p>
            <a:endParaRPr lang="en-US"/>
          </a:p>
        </p:txBody>
      </p:sp>
      <p:sp>
        <p:nvSpPr>
          <p:cNvPr id="8" name="Text 6"/>
          <p:cNvSpPr txBox="1"/>
          <p:nvPr/>
        </p:nvSpPr>
        <p:spPr>
          <a:xfrm>
            <a:off x="548640" y="2414016"/>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txBox="1"/>
          <p:nvPr/>
        </p:nvSpPr>
        <p:spPr>
          <a:xfrm>
            <a:off x="1097280" y="2468880"/>
            <a:ext cx="4343400" cy="777240"/>
          </a:xfrm>
          <a:prstGeom prst="rect">
            <a:avLst/>
          </a:prstGeom>
          <a:noFill/>
          <a:ln/>
        </p:spPr>
        <p:txBody>
          <a:bodyPr wrap="square" lIns="0" tIns="0" rIns="0" bIns="0" rtlCol="0" anchor="t"/>
          <a:lstStyle/>
          <a:p>
            <a:pPr marL="0" indent="0">
              <a:buNone/>
            </a:pPr>
            <a:r>
              <a:rPr lang="en-US" sz="1400" dirty="0">
                <a:solidFill>
                  <a:srgbClr val="1B1B2A"/>
                </a:solidFill>
                <a:latin typeface="Calibri" pitchFamily="34" charset="0"/>
                <a:ea typeface="Calibri" pitchFamily="34" charset="-122"/>
                <a:cs typeface="Calibri" pitchFamily="34" charset="-120"/>
              </a:rPr>
              <a:t>Write 3–5 criteria. Each one is clearly true or false.</a:t>
            </a:r>
            <a:endParaRPr lang="en-US" sz="1400" dirty="0"/>
          </a:p>
        </p:txBody>
      </p:sp>
      <p:sp>
        <p:nvSpPr>
          <p:cNvPr id="10" name="Shape 8"/>
          <p:cNvSpPr/>
          <p:nvPr/>
        </p:nvSpPr>
        <p:spPr>
          <a:xfrm>
            <a:off x="548640" y="3374136"/>
            <a:ext cx="347472" cy="347472"/>
          </a:xfrm>
          <a:prstGeom prst="ellipse">
            <a:avLst/>
          </a:prstGeom>
          <a:solidFill>
            <a:srgbClr val="1E2761"/>
          </a:solidFill>
          <a:ln w="12700">
            <a:solidFill>
              <a:srgbClr val="1E2761"/>
            </a:solidFill>
            <a:prstDash val="solid"/>
          </a:ln>
        </p:spPr>
        <p:txBody>
          <a:bodyPr/>
          <a:lstStyle/>
          <a:p>
            <a:endParaRPr lang="en-US"/>
          </a:p>
        </p:txBody>
      </p:sp>
      <p:sp>
        <p:nvSpPr>
          <p:cNvPr id="11" name="Text 9"/>
          <p:cNvSpPr txBox="1"/>
          <p:nvPr/>
        </p:nvSpPr>
        <p:spPr>
          <a:xfrm>
            <a:off x="548640" y="3374136"/>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1097280" y="3429000"/>
            <a:ext cx="4343400" cy="777240"/>
          </a:xfrm>
          <a:prstGeom prst="rect">
            <a:avLst/>
          </a:prstGeom>
          <a:noFill/>
          <a:ln/>
        </p:spPr>
        <p:txBody>
          <a:bodyPr wrap="square" lIns="0" tIns="0" rIns="0" bIns="0" rtlCol="0" anchor="t"/>
          <a:lstStyle/>
          <a:p>
            <a:pPr marL="0" indent="0">
              <a:buNone/>
            </a:pPr>
            <a:r>
              <a:rPr lang="en-US" sz="1400" dirty="0">
                <a:solidFill>
                  <a:srgbClr val="1B1B2A"/>
                </a:solidFill>
                <a:latin typeface="Calibri" pitchFamily="34" charset="0"/>
                <a:ea typeface="Calibri" pitchFamily="34" charset="-122"/>
                <a:cs typeface="Calibri" pitchFamily="34" charset="-120"/>
              </a:rPr>
              <a:t>Describe observable behavior: return values, status codes, function names.</a:t>
            </a:r>
            <a:endParaRPr lang="en-US" sz="1400" dirty="0"/>
          </a:p>
        </p:txBody>
      </p:sp>
      <p:sp>
        <p:nvSpPr>
          <p:cNvPr id="13" name="Shape 11"/>
          <p:cNvSpPr/>
          <p:nvPr/>
        </p:nvSpPr>
        <p:spPr>
          <a:xfrm>
            <a:off x="548640" y="4334256"/>
            <a:ext cx="347472" cy="347472"/>
          </a:xfrm>
          <a:prstGeom prst="ellipse">
            <a:avLst/>
          </a:prstGeom>
          <a:solidFill>
            <a:srgbClr val="1E2761"/>
          </a:solidFill>
          <a:ln w="12700">
            <a:solidFill>
              <a:srgbClr val="1E2761"/>
            </a:solidFill>
            <a:prstDash val="solid"/>
          </a:ln>
        </p:spPr>
        <p:txBody>
          <a:bodyPr/>
          <a:lstStyle/>
          <a:p>
            <a:endParaRPr lang="en-US"/>
          </a:p>
        </p:txBody>
      </p:sp>
      <p:sp>
        <p:nvSpPr>
          <p:cNvPr id="14" name="Text 12"/>
          <p:cNvSpPr txBox="1"/>
          <p:nvPr/>
        </p:nvSpPr>
        <p:spPr>
          <a:xfrm>
            <a:off x="548640" y="4334256"/>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3"/>
          <p:cNvSpPr txBox="1"/>
          <p:nvPr/>
        </p:nvSpPr>
        <p:spPr>
          <a:xfrm>
            <a:off x="1097280" y="4389120"/>
            <a:ext cx="4343400" cy="777240"/>
          </a:xfrm>
          <a:prstGeom prst="rect">
            <a:avLst/>
          </a:prstGeom>
          <a:noFill/>
          <a:ln/>
        </p:spPr>
        <p:txBody>
          <a:bodyPr wrap="square" lIns="0" tIns="0" rIns="0" bIns="0" rtlCol="0" anchor="t"/>
          <a:lstStyle/>
          <a:p>
            <a:pPr marL="0" indent="0">
              <a:buNone/>
            </a:pPr>
            <a:r>
              <a:rPr lang="en-US" sz="1400" dirty="0">
                <a:solidFill>
                  <a:srgbClr val="1B1B2A"/>
                </a:solidFill>
                <a:latin typeface="Calibri" pitchFamily="34" charset="0"/>
                <a:ea typeface="Calibri" pitchFamily="34" charset="-122"/>
                <a:cs typeface="Calibri" pitchFamily="34" charset="-120"/>
              </a:rPr>
              <a:t>Always include “existing tests still pass, unmodified.”</a:t>
            </a:r>
            <a:endParaRPr lang="en-US" sz="1400" dirty="0"/>
          </a:p>
        </p:txBody>
      </p:sp>
      <p:sp>
        <p:nvSpPr>
          <p:cNvPr id="16" name="Shape 14"/>
          <p:cNvSpPr/>
          <p:nvPr/>
        </p:nvSpPr>
        <p:spPr>
          <a:xfrm>
            <a:off x="548640" y="5294376"/>
            <a:ext cx="347472" cy="347472"/>
          </a:xfrm>
          <a:prstGeom prst="ellipse">
            <a:avLst/>
          </a:prstGeom>
          <a:solidFill>
            <a:srgbClr val="1E2761"/>
          </a:solidFill>
          <a:ln w="12700">
            <a:solidFill>
              <a:srgbClr val="1E2761"/>
            </a:solidFill>
            <a:prstDash val="solid"/>
          </a:ln>
        </p:spPr>
        <p:txBody>
          <a:bodyPr/>
          <a:lstStyle/>
          <a:p>
            <a:endParaRPr lang="en-US"/>
          </a:p>
        </p:txBody>
      </p:sp>
      <p:sp>
        <p:nvSpPr>
          <p:cNvPr id="17" name="Text 15"/>
          <p:cNvSpPr txBox="1"/>
          <p:nvPr/>
        </p:nvSpPr>
        <p:spPr>
          <a:xfrm>
            <a:off x="548640" y="5294376"/>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8" name="Text 16"/>
          <p:cNvSpPr txBox="1"/>
          <p:nvPr/>
        </p:nvSpPr>
        <p:spPr>
          <a:xfrm>
            <a:off x="1097280" y="5349240"/>
            <a:ext cx="4343400" cy="777240"/>
          </a:xfrm>
          <a:prstGeom prst="rect">
            <a:avLst/>
          </a:prstGeom>
          <a:noFill/>
          <a:ln/>
        </p:spPr>
        <p:txBody>
          <a:bodyPr wrap="square" lIns="0" tIns="0" rIns="0" bIns="0" rtlCol="0" anchor="t"/>
          <a:lstStyle/>
          <a:p>
            <a:pPr marL="0" indent="0">
              <a:buNone/>
            </a:pPr>
            <a:r>
              <a:rPr lang="en-US" sz="1400" dirty="0">
                <a:solidFill>
                  <a:srgbClr val="1B1B2A"/>
                </a:solidFill>
                <a:latin typeface="Calibri" pitchFamily="34" charset="0"/>
                <a:ea typeface="Calibri" pitchFamily="34" charset="-122"/>
                <a:cs typeface="Calibri" pitchFamily="34" charset="-120"/>
              </a:rPr>
              <a:t>Cut adjectives. “Clean,” “robust,” and “fast” can’t be checked.</a:t>
            </a:r>
            <a:endParaRPr lang="en-US" sz="1400" dirty="0"/>
          </a:p>
        </p:txBody>
      </p:sp>
      <p:sp>
        <p:nvSpPr>
          <p:cNvPr id="19" name="Shape 17"/>
          <p:cNvSpPr/>
          <p:nvPr/>
        </p:nvSpPr>
        <p:spPr>
          <a:xfrm>
            <a:off x="5852160" y="2377440"/>
            <a:ext cx="2240280" cy="1115568"/>
          </a:xfrm>
          <a:prstGeom prst="roundRect">
            <a:avLst>
              <a:gd name="adj" fmla="val 4918"/>
            </a:avLst>
          </a:prstGeom>
          <a:solidFill>
            <a:srgbClr val="F4F6FB"/>
          </a:solidFill>
          <a:ln w="12700">
            <a:solidFill>
              <a:srgbClr val="F4F6FB"/>
            </a:solidFill>
            <a:prstDash val="solid"/>
          </a:ln>
        </p:spPr>
        <p:txBody>
          <a:bodyPr/>
          <a:lstStyle/>
          <a:p>
            <a:endParaRPr lang="en-US"/>
          </a:p>
        </p:txBody>
      </p:sp>
      <p:sp>
        <p:nvSpPr>
          <p:cNvPr id="20" name="Text 18"/>
          <p:cNvSpPr txBox="1"/>
          <p:nvPr/>
        </p:nvSpPr>
        <p:spPr>
          <a:xfrm>
            <a:off x="6016752" y="2487168"/>
            <a:ext cx="1920240" cy="228600"/>
          </a:xfrm>
          <a:prstGeom prst="rect">
            <a:avLst/>
          </a:prstGeom>
          <a:noFill/>
          <a:ln/>
        </p:spPr>
        <p:txBody>
          <a:bodyPr wrap="square" lIns="0" tIns="0" rIns="0" bIns="0" rtlCol="0" anchor="ctr"/>
          <a:lstStyle/>
          <a:p>
            <a:pPr marL="0" indent="0">
              <a:buNone/>
            </a:pPr>
            <a:r>
              <a:rPr lang="en-US" sz="1000" b="1" kern="0" spc="100" dirty="0">
                <a:solidFill>
                  <a:srgbClr val="B23A3A"/>
                </a:solidFill>
                <a:latin typeface="Calibri" pitchFamily="34" charset="0"/>
                <a:ea typeface="Calibri" pitchFamily="34" charset="-122"/>
                <a:cs typeface="Calibri" pitchFamily="34" charset="-120"/>
              </a:rPr>
              <a:t>VAGUE</a:t>
            </a:r>
            <a:endParaRPr lang="en-US" sz="1000" dirty="0"/>
          </a:p>
        </p:txBody>
      </p:sp>
      <p:sp>
        <p:nvSpPr>
          <p:cNvPr id="21" name="Text 19"/>
          <p:cNvSpPr txBox="1"/>
          <p:nvPr/>
        </p:nvSpPr>
        <p:spPr>
          <a:xfrm>
            <a:off x="6016752" y="2743200"/>
            <a:ext cx="1965960" cy="658368"/>
          </a:xfrm>
          <a:prstGeom prst="rect">
            <a:avLst/>
          </a:prstGeom>
          <a:noFill/>
          <a:ln/>
        </p:spPr>
        <p:txBody>
          <a:bodyPr wrap="square" lIns="0" tIns="0" rIns="0" bIns="0" rtlCol="0" anchor="t"/>
          <a:lstStyle/>
          <a:p>
            <a:pPr marL="0" indent="0">
              <a:buNone/>
            </a:pPr>
            <a:r>
              <a:rPr lang="en-US" sz="1300" i="1" dirty="0">
                <a:solidFill>
                  <a:srgbClr val="1B1B2A"/>
                </a:solidFill>
                <a:latin typeface="Calibri" pitchFamily="34" charset="0"/>
                <a:ea typeface="Calibri" pitchFamily="34" charset="-122"/>
                <a:cs typeface="Calibri" pitchFamily="34" charset="-120"/>
              </a:rPr>
              <a:t>“Search works well.”</a:t>
            </a:r>
            <a:endParaRPr lang="en-US" sz="1300" dirty="0"/>
          </a:p>
        </p:txBody>
      </p:sp>
      <p:sp>
        <p:nvSpPr>
          <p:cNvPr id="22" name="Shape 20"/>
          <p:cNvSpPr/>
          <p:nvPr/>
        </p:nvSpPr>
        <p:spPr>
          <a:xfrm>
            <a:off x="8229600" y="2377440"/>
            <a:ext cx="3410712" cy="1115568"/>
          </a:xfrm>
          <a:prstGeom prst="roundRect">
            <a:avLst>
              <a:gd name="adj" fmla="val 4918"/>
            </a:avLst>
          </a:prstGeom>
          <a:solidFill>
            <a:srgbClr val="1E2761"/>
          </a:solidFill>
          <a:ln w="12700">
            <a:solidFill>
              <a:srgbClr val="1E2761"/>
            </a:solidFill>
            <a:prstDash val="solid"/>
          </a:ln>
        </p:spPr>
        <p:txBody>
          <a:bodyPr/>
          <a:lstStyle/>
          <a:p>
            <a:endParaRPr lang="en-US"/>
          </a:p>
        </p:txBody>
      </p:sp>
      <p:sp>
        <p:nvSpPr>
          <p:cNvPr id="23" name="Text 21"/>
          <p:cNvSpPr txBox="1"/>
          <p:nvPr/>
        </p:nvSpPr>
        <p:spPr>
          <a:xfrm>
            <a:off x="8394192" y="2487168"/>
            <a:ext cx="3108960" cy="228600"/>
          </a:xfrm>
          <a:prstGeom prst="rect">
            <a:avLst/>
          </a:prstGeom>
          <a:noFill/>
          <a:ln/>
        </p:spPr>
        <p:txBody>
          <a:bodyPr wrap="square" lIns="0" tIns="0" rIns="0" bIns="0" rtlCol="0" anchor="ctr"/>
          <a:lstStyle/>
          <a:p>
            <a:pPr marL="0" indent="0">
              <a:buNone/>
            </a:pPr>
            <a:r>
              <a:rPr lang="en-US" sz="1000" b="1" kern="0" spc="100" dirty="0">
                <a:solidFill>
                  <a:srgbClr val="7CFC9C"/>
                </a:solidFill>
                <a:latin typeface="Calibri" pitchFamily="34" charset="0"/>
                <a:ea typeface="Calibri" pitchFamily="34" charset="-122"/>
                <a:cs typeface="Calibri" pitchFamily="34" charset="-120"/>
              </a:rPr>
              <a:t>CHECKABLE</a:t>
            </a:r>
            <a:endParaRPr lang="en-US" sz="1000" dirty="0"/>
          </a:p>
        </p:txBody>
      </p:sp>
      <p:sp>
        <p:nvSpPr>
          <p:cNvPr id="24" name="Text 22"/>
          <p:cNvSpPr txBox="1"/>
          <p:nvPr/>
        </p:nvSpPr>
        <p:spPr>
          <a:xfrm>
            <a:off x="8394192" y="2743200"/>
            <a:ext cx="3108960" cy="685800"/>
          </a:xfrm>
          <a:prstGeom prst="rect">
            <a:avLst/>
          </a:prstGeom>
          <a:noFill/>
          <a:ln/>
        </p:spPr>
        <p:txBody>
          <a:bodyPr wrap="square" lIns="0" tIns="0" rIns="0" bIns="0" rtlCol="0" anchor="t"/>
          <a:lstStyle/>
          <a:p>
            <a:pPr marL="0" indent="0">
              <a:buNone/>
            </a:pPr>
            <a:r>
              <a:rPr lang="en-US" sz="1250" dirty="0">
                <a:solidFill>
                  <a:srgbClr val="FFFFFF"/>
                </a:solidFill>
                <a:latin typeface="Calibri" pitchFamily="34" charset="0"/>
                <a:ea typeface="Calibri" pitchFamily="34" charset="-122"/>
                <a:cs typeface="Calibri" pitchFamily="34" charset="-120"/>
              </a:rPr>
              <a:t>q=lamp returns every product with “lamp” in its name, in any case. An empty q returns 400.</a:t>
            </a:r>
            <a:endParaRPr lang="en-US" sz="1250" dirty="0"/>
          </a:p>
        </p:txBody>
      </p:sp>
      <p:sp>
        <p:nvSpPr>
          <p:cNvPr id="25" name="Shape 23"/>
          <p:cNvSpPr/>
          <p:nvPr/>
        </p:nvSpPr>
        <p:spPr>
          <a:xfrm>
            <a:off x="5852160" y="3657600"/>
            <a:ext cx="2240280" cy="1115568"/>
          </a:xfrm>
          <a:prstGeom prst="roundRect">
            <a:avLst>
              <a:gd name="adj" fmla="val 4918"/>
            </a:avLst>
          </a:prstGeom>
          <a:solidFill>
            <a:srgbClr val="F4F6FB"/>
          </a:solidFill>
          <a:ln w="12700">
            <a:solidFill>
              <a:srgbClr val="F4F6FB"/>
            </a:solidFill>
            <a:prstDash val="solid"/>
          </a:ln>
        </p:spPr>
        <p:txBody>
          <a:bodyPr/>
          <a:lstStyle/>
          <a:p>
            <a:endParaRPr lang="en-US"/>
          </a:p>
        </p:txBody>
      </p:sp>
      <p:sp>
        <p:nvSpPr>
          <p:cNvPr id="26" name="Text 24"/>
          <p:cNvSpPr txBox="1"/>
          <p:nvPr/>
        </p:nvSpPr>
        <p:spPr>
          <a:xfrm>
            <a:off x="6016752" y="3767328"/>
            <a:ext cx="1920240" cy="228600"/>
          </a:xfrm>
          <a:prstGeom prst="rect">
            <a:avLst/>
          </a:prstGeom>
          <a:noFill/>
          <a:ln/>
        </p:spPr>
        <p:txBody>
          <a:bodyPr wrap="square" lIns="0" tIns="0" rIns="0" bIns="0" rtlCol="0" anchor="ctr"/>
          <a:lstStyle/>
          <a:p>
            <a:pPr marL="0" indent="0">
              <a:buNone/>
            </a:pPr>
            <a:r>
              <a:rPr lang="en-US" sz="1000" b="1" kern="0" spc="100" dirty="0">
                <a:solidFill>
                  <a:srgbClr val="B23A3A"/>
                </a:solidFill>
                <a:latin typeface="Calibri" pitchFamily="34" charset="0"/>
                <a:ea typeface="Calibri" pitchFamily="34" charset="-122"/>
                <a:cs typeface="Calibri" pitchFamily="34" charset="-120"/>
              </a:rPr>
              <a:t>VAGUE</a:t>
            </a:r>
            <a:endParaRPr lang="en-US" sz="1000" dirty="0"/>
          </a:p>
        </p:txBody>
      </p:sp>
      <p:sp>
        <p:nvSpPr>
          <p:cNvPr id="27" name="Text 25"/>
          <p:cNvSpPr txBox="1"/>
          <p:nvPr/>
        </p:nvSpPr>
        <p:spPr>
          <a:xfrm>
            <a:off x="6016752" y="4023360"/>
            <a:ext cx="1965960" cy="658368"/>
          </a:xfrm>
          <a:prstGeom prst="rect">
            <a:avLst/>
          </a:prstGeom>
          <a:noFill/>
          <a:ln/>
        </p:spPr>
        <p:txBody>
          <a:bodyPr wrap="square" lIns="0" tIns="0" rIns="0" bIns="0" rtlCol="0" anchor="t"/>
          <a:lstStyle/>
          <a:p>
            <a:pPr marL="0" indent="0">
              <a:buNone/>
            </a:pPr>
            <a:r>
              <a:rPr lang="en-US" sz="1300" i="1" dirty="0">
                <a:solidFill>
                  <a:srgbClr val="1B1B2A"/>
                </a:solidFill>
                <a:latin typeface="Calibri" pitchFamily="34" charset="0"/>
                <a:ea typeface="Calibri" pitchFamily="34" charset="-122"/>
                <a:cs typeface="Calibri" pitchFamily="34" charset="-120"/>
              </a:rPr>
              <a:t>“Handle lockouts properly.”</a:t>
            </a:r>
            <a:endParaRPr lang="en-US" sz="1300" dirty="0"/>
          </a:p>
        </p:txBody>
      </p:sp>
      <p:sp>
        <p:nvSpPr>
          <p:cNvPr id="28" name="Shape 26"/>
          <p:cNvSpPr/>
          <p:nvPr/>
        </p:nvSpPr>
        <p:spPr>
          <a:xfrm>
            <a:off x="8229600" y="3657600"/>
            <a:ext cx="3410712" cy="1115568"/>
          </a:xfrm>
          <a:prstGeom prst="roundRect">
            <a:avLst>
              <a:gd name="adj" fmla="val 4918"/>
            </a:avLst>
          </a:prstGeom>
          <a:solidFill>
            <a:srgbClr val="1E2761"/>
          </a:solidFill>
          <a:ln w="12700">
            <a:solidFill>
              <a:srgbClr val="1E2761"/>
            </a:solidFill>
            <a:prstDash val="solid"/>
          </a:ln>
        </p:spPr>
        <p:txBody>
          <a:bodyPr/>
          <a:lstStyle/>
          <a:p>
            <a:endParaRPr lang="en-US"/>
          </a:p>
        </p:txBody>
      </p:sp>
      <p:sp>
        <p:nvSpPr>
          <p:cNvPr id="29" name="Text 27"/>
          <p:cNvSpPr txBox="1"/>
          <p:nvPr/>
        </p:nvSpPr>
        <p:spPr>
          <a:xfrm>
            <a:off x="8394192" y="3767328"/>
            <a:ext cx="3108960" cy="228600"/>
          </a:xfrm>
          <a:prstGeom prst="rect">
            <a:avLst/>
          </a:prstGeom>
          <a:noFill/>
          <a:ln/>
        </p:spPr>
        <p:txBody>
          <a:bodyPr wrap="square" lIns="0" tIns="0" rIns="0" bIns="0" rtlCol="0" anchor="ctr"/>
          <a:lstStyle/>
          <a:p>
            <a:pPr marL="0" indent="0">
              <a:buNone/>
            </a:pPr>
            <a:r>
              <a:rPr lang="en-US" sz="1000" b="1" kern="0" spc="100" dirty="0">
                <a:solidFill>
                  <a:srgbClr val="7CFC9C"/>
                </a:solidFill>
                <a:latin typeface="Calibri" pitchFamily="34" charset="0"/>
                <a:ea typeface="Calibri" pitchFamily="34" charset="-122"/>
                <a:cs typeface="Calibri" pitchFamily="34" charset="-120"/>
              </a:rPr>
              <a:t>CHECKABLE</a:t>
            </a:r>
            <a:endParaRPr lang="en-US" sz="1000" dirty="0"/>
          </a:p>
        </p:txBody>
      </p:sp>
      <p:sp>
        <p:nvSpPr>
          <p:cNvPr id="30" name="Text 28"/>
          <p:cNvSpPr txBox="1"/>
          <p:nvPr/>
        </p:nvSpPr>
        <p:spPr>
          <a:xfrm>
            <a:off x="8394192" y="4023360"/>
            <a:ext cx="3108960" cy="685800"/>
          </a:xfrm>
          <a:prstGeom prst="rect">
            <a:avLst/>
          </a:prstGeom>
          <a:noFill/>
          <a:ln/>
        </p:spPr>
        <p:txBody>
          <a:bodyPr wrap="square" lIns="0" tIns="0" rIns="0" bIns="0" rtlCol="0" anchor="t"/>
          <a:lstStyle/>
          <a:p>
            <a:pPr marL="0" indent="0">
              <a:buNone/>
            </a:pPr>
            <a:r>
              <a:rPr lang="en-US" sz="1250" dirty="0">
                <a:solidFill>
                  <a:srgbClr val="FFFFFF"/>
                </a:solidFill>
                <a:latin typeface="Calibri" pitchFamily="34" charset="0"/>
                <a:ea typeface="Calibri" pitchFamily="34" charset="-122"/>
                <a:cs typeface="Calibri" pitchFamily="34" charset="-120"/>
              </a:rPr>
              <a:t>The 6th failed attempt within 15 minutes returns 423. A successful login resets the counter to 0.</a:t>
            </a:r>
            <a:endParaRPr lang="en-US" sz="1250" dirty="0"/>
          </a:p>
        </p:txBody>
      </p:sp>
      <p:sp>
        <p:nvSpPr>
          <p:cNvPr id="31" name="Shape 29"/>
          <p:cNvSpPr/>
          <p:nvPr/>
        </p:nvSpPr>
        <p:spPr>
          <a:xfrm>
            <a:off x="5852160" y="4937760"/>
            <a:ext cx="2240280" cy="1115568"/>
          </a:xfrm>
          <a:prstGeom prst="roundRect">
            <a:avLst>
              <a:gd name="adj" fmla="val 4918"/>
            </a:avLst>
          </a:prstGeom>
          <a:solidFill>
            <a:srgbClr val="F4F6FB"/>
          </a:solidFill>
          <a:ln w="12700">
            <a:solidFill>
              <a:srgbClr val="F4F6FB"/>
            </a:solidFill>
            <a:prstDash val="solid"/>
          </a:ln>
        </p:spPr>
        <p:txBody>
          <a:bodyPr/>
          <a:lstStyle/>
          <a:p>
            <a:endParaRPr lang="en-US"/>
          </a:p>
        </p:txBody>
      </p:sp>
      <p:sp>
        <p:nvSpPr>
          <p:cNvPr id="32" name="Text 30"/>
          <p:cNvSpPr txBox="1"/>
          <p:nvPr/>
        </p:nvSpPr>
        <p:spPr>
          <a:xfrm>
            <a:off x="6016752" y="5047488"/>
            <a:ext cx="1920240" cy="228600"/>
          </a:xfrm>
          <a:prstGeom prst="rect">
            <a:avLst/>
          </a:prstGeom>
          <a:noFill/>
          <a:ln/>
        </p:spPr>
        <p:txBody>
          <a:bodyPr wrap="square" lIns="0" tIns="0" rIns="0" bIns="0" rtlCol="0" anchor="ctr"/>
          <a:lstStyle/>
          <a:p>
            <a:pPr marL="0" indent="0">
              <a:buNone/>
            </a:pPr>
            <a:r>
              <a:rPr lang="en-US" sz="1000" b="1" kern="0" spc="100" dirty="0">
                <a:solidFill>
                  <a:srgbClr val="B23A3A"/>
                </a:solidFill>
                <a:latin typeface="Calibri" pitchFamily="34" charset="0"/>
                <a:ea typeface="Calibri" pitchFamily="34" charset="-122"/>
                <a:cs typeface="Calibri" pitchFamily="34" charset="-120"/>
              </a:rPr>
              <a:t>VAGUE</a:t>
            </a:r>
            <a:endParaRPr lang="en-US" sz="1000" dirty="0"/>
          </a:p>
        </p:txBody>
      </p:sp>
      <p:sp>
        <p:nvSpPr>
          <p:cNvPr id="33" name="Text 31"/>
          <p:cNvSpPr txBox="1"/>
          <p:nvPr/>
        </p:nvSpPr>
        <p:spPr>
          <a:xfrm>
            <a:off x="6016752" y="5303520"/>
            <a:ext cx="1965960" cy="658368"/>
          </a:xfrm>
          <a:prstGeom prst="rect">
            <a:avLst/>
          </a:prstGeom>
          <a:noFill/>
          <a:ln/>
        </p:spPr>
        <p:txBody>
          <a:bodyPr wrap="square" lIns="0" tIns="0" rIns="0" bIns="0" rtlCol="0" anchor="t"/>
          <a:lstStyle/>
          <a:p>
            <a:pPr marL="0" indent="0">
              <a:buNone/>
            </a:pPr>
            <a:r>
              <a:rPr lang="en-US" sz="1300" i="1" dirty="0">
                <a:solidFill>
                  <a:srgbClr val="1B1B2A"/>
                </a:solidFill>
                <a:latin typeface="Calibri" pitchFamily="34" charset="0"/>
                <a:ea typeface="Calibri" pitchFamily="34" charset="-122"/>
                <a:cs typeface="Calibri" pitchFamily="34" charset="-120"/>
              </a:rPr>
              <a:t>“The dashboard is fast.”</a:t>
            </a:r>
            <a:endParaRPr lang="en-US" sz="1300" dirty="0"/>
          </a:p>
        </p:txBody>
      </p:sp>
      <p:sp>
        <p:nvSpPr>
          <p:cNvPr id="34" name="Shape 32"/>
          <p:cNvSpPr/>
          <p:nvPr/>
        </p:nvSpPr>
        <p:spPr>
          <a:xfrm>
            <a:off x="8229600" y="4937760"/>
            <a:ext cx="3410712" cy="1115568"/>
          </a:xfrm>
          <a:prstGeom prst="roundRect">
            <a:avLst>
              <a:gd name="adj" fmla="val 4918"/>
            </a:avLst>
          </a:prstGeom>
          <a:solidFill>
            <a:srgbClr val="1E2761"/>
          </a:solidFill>
          <a:ln w="12700">
            <a:solidFill>
              <a:srgbClr val="1E2761"/>
            </a:solidFill>
            <a:prstDash val="solid"/>
          </a:ln>
        </p:spPr>
        <p:txBody>
          <a:bodyPr/>
          <a:lstStyle/>
          <a:p>
            <a:endParaRPr lang="en-US"/>
          </a:p>
        </p:txBody>
      </p:sp>
      <p:sp>
        <p:nvSpPr>
          <p:cNvPr id="35" name="Text 33"/>
          <p:cNvSpPr txBox="1"/>
          <p:nvPr/>
        </p:nvSpPr>
        <p:spPr>
          <a:xfrm>
            <a:off x="8394192" y="5047488"/>
            <a:ext cx="3108960" cy="228600"/>
          </a:xfrm>
          <a:prstGeom prst="rect">
            <a:avLst/>
          </a:prstGeom>
          <a:noFill/>
          <a:ln/>
        </p:spPr>
        <p:txBody>
          <a:bodyPr wrap="square" lIns="0" tIns="0" rIns="0" bIns="0" rtlCol="0" anchor="ctr"/>
          <a:lstStyle/>
          <a:p>
            <a:pPr marL="0" indent="0">
              <a:buNone/>
            </a:pPr>
            <a:r>
              <a:rPr lang="en-US" sz="1000" b="1" kern="0" spc="100" dirty="0">
                <a:solidFill>
                  <a:srgbClr val="7CFC9C"/>
                </a:solidFill>
                <a:latin typeface="Calibri" pitchFamily="34" charset="0"/>
                <a:ea typeface="Calibri" pitchFamily="34" charset="-122"/>
                <a:cs typeface="Calibri" pitchFamily="34" charset="-120"/>
              </a:rPr>
              <a:t>CHECKABLE</a:t>
            </a:r>
            <a:endParaRPr lang="en-US" sz="1000" dirty="0"/>
          </a:p>
        </p:txBody>
      </p:sp>
      <p:sp>
        <p:nvSpPr>
          <p:cNvPr id="36" name="Text 34"/>
          <p:cNvSpPr txBox="1"/>
          <p:nvPr/>
        </p:nvSpPr>
        <p:spPr>
          <a:xfrm>
            <a:off x="8394192" y="5303520"/>
            <a:ext cx="3108960" cy="685800"/>
          </a:xfrm>
          <a:prstGeom prst="rect">
            <a:avLst/>
          </a:prstGeom>
          <a:noFill/>
          <a:ln/>
        </p:spPr>
        <p:txBody>
          <a:bodyPr wrap="square" lIns="0" tIns="0" rIns="0" bIns="0" rtlCol="0" anchor="t"/>
          <a:lstStyle/>
          <a:p>
            <a:pPr marL="0" indent="0">
              <a:buNone/>
            </a:pPr>
            <a:r>
              <a:rPr lang="en-US" sz="1250" dirty="0">
                <a:solidFill>
                  <a:srgbClr val="FFFFFF"/>
                </a:solidFill>
                <a:latin typeface="Calibri" pitchFamily="34" charset="0"/>
                <a:ea typeface="Calibri" pitchFamily="34" charset="-122"/>
                <a:cs typeface="Calibri" pitchFamily="34" charset="-120"/>
              </a:rPr>
              <a:t>The dashboard query finishes in under 200 ms against the 10,000-row seed dataset.</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7315200" cy="365760"/>
          </a:xfrm>
          <a:prstGeom prst="rect">
            <a:avLst/>
          </a:prstGeom>
          <a:noFill/>
          <a:ln/>
        </p:spPr>
        <p:txBody>
          <a:bodyPr wrap="square" lIns="0" tIns="0" rIns="0" bIns="0" rtlCol="0" anchor="ctr"/>
          <a:lstStyle/>
          <a:p>
            <a:pPr marL="0" indent="0">
              <a:buNone/>
            </a:pPr>
            <a:r>
              <a:rPr lang="en-US" sz="1200" b="1" kern="0" spc="200" dirty="0">
                <a:solidFill>
                  <a:srgbClr val="1E2761"/>
                </a:solidFill>
                <a:latin typeface="Calibri" pitchFamily="34" charset="0"/>
                <a:ea typeface="Calibri" pitchFamily="34" charset="-122"/>
                <a:cs typeface="Calibri" pitchFamily="34" charset="-120"/>
              </a:rPr>
              <a:t>MODULE 1 — AGENT-READY, STEP 3 OF 4</a:t>
            </a:r>
            <a:endParaRPr lang="en-US" sz="1200" dirty="0"/>
          </a:p>
        </p:txBody>
      </p:sp>
      <p:sp>
        <p:nvSpPr>
          <p:cNvPr id="3" name="Text 1"/>
          <p:cNvSpPr txBox="1"/>
          <p:nvPr/>
        </p:nvSpPr>
        <p:spPr>
          <a:xfrm>
            <a:off x="548640" y="685800"/>
            <a:ext cx="10515600" cy="640080"/>
          </a:xfrm>
          <a:prstGeom prst="rect">
            <a:avLst/>
          </a:prstGeom>
          <a:noFill/>
          <a:ln/>
        </p:spPr>
        <p:txBody>
          <a:bodyPr wrap="square" lIns="0" tIns="0" rIns="0" bIns="0" rtlCol="0" anchor="ctr"/>
          <a:lstStyle/>
          <a:p>
            <a:pPr marL="0" indent="0">
              <a:buNone/>
            </a:pPr>
            <a:r>
              <a:rPr lang="en-US" sz="3000" b="1" dirty="0">
                <a:solidFill>
                  <a:srgbClr val="1B1B2A"/>
                </a:solidFill>
                <a:latin typeface="Cambria" pitchFamily="34" charset="0"/>
                <a:ea typeface="Cambria" pitchFamily="34" charset="-122"/>
                <a:cs typeface="Cambria" pitchFamily="34" charset="-120"/>
              </a:rPr>
              <a:t>Named Dependencies</a:t>
            </a:r>
            <a:endParaRPr lang="en-US" sz="3000" dirty="0"/>
          </a:p>
        </p:txBody>
      </p:sp>
      <p:sp>
        <p:nvSpPr>
          <p:cNvPr id="4" name="Text 2"/>
          <p:cNvSpPr txBox="1"/>
          <p:nvPr/>
        </p:nvSpPr>
        <p:spPr>
          <a:xfrm>
            <a:off x="548640" y="1325880"/>
            <a:ext cx="10972800" cy="457200"/>
          </a:xfrm>
          <a:prstGeom prst="rect">
            <a:avLst/>
          </a:prstGeom>
          <a:noFill/>
          <a:ln/>
        </p:spPr>
        <p:txBody>
          <a:bodyPr wrap="square" lIns="0" tIns="0" rIns="0" bIns="0" rtlCol="0" anchor="ctr"/>
          <a:lstStyle/>
          <a:p>
            <a:pPr marL="0" indent="0">
              <a:buNone/>
            </a:pPr>
            <a:r>
              <a:rPr lang="en-US" sz="1600" i="1" dirty="0">
                <a:solidFill>
                  <a:srgbClr val="5B6472"/>
                </a:solidFill>
                <a:latin typeface="Calibri" pitchFamily="34" charset="0"/>
                <a:ea typeface="Calibri" pitchFamily="34" charset="-122"/>
                <a:cs typeface="Calibri" pitchFamily="34" charset="-120"/>
              </a:rPr>
              <a:t>State what must exist before this unit starts, and which units are waiting on it.</a:t>
            </a:r>
            <a:endParaRPr lang="en-US" sz="1600" dirty="0"/>
          </a:p>
        </p:txBody>
      </p:sp>
      <p:sp>
        <p:nvSpPr>
          <p:cNvPr id="5" name="Text 3"/>
          <p:cNvSpPr txBox="1"/>
          <p:nvPr/>
        </p:nvSpPr>
        <p:spPr>
          <a:xfrm>
            <a:off x="548640" y="1965960"/>
            <a:ext cx="4572000" cy="274320"/>
          </a:xfrm>
          <a:prstGeom prst="rect">
            <a:avLst/>
          </a:prstGeom>
          <a:noFill/>
          <a:ln/>
        </p:spPr>
        <p:txBody>
          <a:bodyPr wrap="square" lIns="0" tIns="0" rIns="0" bIns="0" rtlCol="0" anchor="ctr"/>
          <a:lstStyle/>
          <a:p>
            <a:pPr marL="0" indent="0">
              <a:buNone/>
            </a:pPr>
            <a:r>
              <a:rPr lang="en-US" sz="1100" b="1" kern="0" spc="200" dirty="0">
                <a:solidFill>
                  <a:srgbClr val="1E2761"/>
                </a:solidFill>
                <a:latin typeface="Calibri" pitchFamily="34" charset="0"/>
                <a:ea typeface="Calibri" pitchFamily="34" charset="-122"/>
                <a:cs typeface="Calibri" pitchFamily="34" charset="-120"/>
              </a:rPr>
              <a:t>HOW TO WRITE IT</a:t>
            </a:r>
            <a:endParaRPr lang="en-US" sz="1100" dirty="0"/>
          </a:p>
        </p:txBody>
      </p:sp>
      <p:sp>
        <p:nvSpPr>
          <p:cNvPr id="6" name="Text 4"/>
          <p:cNvSpPr txBox="1"/>
          <p:nvPr/>
        </p:nvSpPr>
        <p:spPr>
          <a:xfrm>
            <a:off x="5852160" y="1965960"/>
            <a:ext cx="4572000" cy="274320"/>
          </a:xfrm>
          <a:prstGeom prst="rect">
            <a:avLst/>
          </a:prstGeom>
          <a:noFill/>
          <a:ln/>
        </p:spPr>
        <p:txBody>
          <a:bodyPr wrap="square" lIns="0" tIns="0" rIns="0" bIns="0" rtlCol="0" anchor="ctr"/>
          <a:lstStyle/>
          <a:p>
            <a:pPr marL="0" indent="0">
              <a:buNone/>
            </a:pPr>
            <a:r>
              <a:rPr lang="en-US" sz="1100" b="1" kern="0" spc="200" dirty="0">
                <a:solidFill>
                  <a:srgbClr val="1E2761"/>
                </a:solidFill>
                <a:latin typeface="Calibri" pitchFamily="34" charset="0"/>
                <a:ea typeface="Calibri" pitchFamily="34" charset="-122"/>
                <a:cs typeface="Calibri" pitchFamily="34" charset="-120"/>
              </a:rPr>
              <a:t>EXAMPLES</a:t>
            </a:r>
            <a:endParaRPr lang="en-US" sz="1100" dirty="0"/>
          </a:p>
        </p:txBody>
      </p:sp>
      <p:sp>
        <p:nvSpPr>
          <p:cNvPr id="7" name="Shape 5"/>
          <p:cNvSpPr/>
          <p:nvPr/>
        </p:nvSpPr>
        <p:spPr>
          <a:xfrm>
            <a:off x="548640" y="2414016"/>
            <a:ext cx="347472" cy="347472"/>
          </a:xfrm>
          <a:prstGeom prst="ellipse">
            <a:avLst/>
          </a:prstGeom>
          <a:solidFill>
            <a:srgbClr val="1E2761"/>
          </a:solidFill>
          <a:ln w="12700">
            <a:solidFill>
              <a:srgbClr val="1E2761"/>
            </a:solidFill>
            <a:prstDash val="solid"/>
          </a:ln>
        </p:spPr>
        <p:txBody>
          <a:bodyPr/>
          <a:lstStyle/>
          <a:p>
            <a:endParaRPr lang="en-US"/>
          </a:p>
        </p:txBody>
      </p:sp>
      <p:sp>
        <p:nvSpPr>
          <p:cNvPr id="8" name="Text 6"/>
          <p:cNvSpPr txBox="1"/>
          <p:nvPr/>
        </p:nvSpPr>
        <p:spPr>
          <a:xfrm>
            <a:off x="548640" y="2414016"/>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txBox="1"/>
          <p:nvPr/>
        </p:nvSpPr>
        <p:spPr>
          <a:xfrm>
            <a:off x="1097280" y="2468880"/>
            <a:ext cx="4343400" cy="777240"/>
          </a:xfrm>
          <a:prstGeom prst="rect">
            <a:avLst/>
          </a:prstGeom>
          <a:noFill/>
          <a:ln/>
        </p:spPr>
        <p:txBody>
          <a:bodyPr wrap="square" lIns="0" tIns="0" rIns="0" bIns="0" rtlCol="0" anchor="t"/>
          <a:lstStyle/>
          <a:p>
            <a:pPr marL="0" indent="0">
              <a:buNone/>
            </a:pPr>
            <a:r>
              <a:rPr lang="en-US" sz="1400" dirty="0">
                <a:solidFill>
                  <a:srgbClr val="1B1B2A"/>
                </a:solidFill>
                <a:latin typeface="Calibri" pitchFamily="34" charset="0"/>
                <a:ea typeface="Calibri" pitchFamily="34" charset="-122"/>
                <a:cs typeface="Calibri" pitchFamily="34" charset="-120"/>
              </a:rPr>
              <a:t>“Depends on:” the exact tables, functions, or endpoints it needs.</a:t>
            </a:r>
            <a:endParaRPr lang="en-US" sz="1400" dirty="0"/>
          </a:p>
        </p:txBody>
      </p:sp>
      <p:sp>
        <p:nvSpPr>
          <p:cNvPr id="10" name="Shape 8"/>
          <p:cNvSpPr/>
          <p:nvPr/>
        </p:nvSpPr>
        <p:spPr>
          <a:xfrm>
            <a:off x="548640" y="3374136"/>
            <a:ext cx="347472" cy="347472"/>
          </a:xfrm>
          <a:prstGeom prst="ellipse">
            <a:avLst/>
          </a:prstGeom>
          <a:solidFill>
            <a:srgbClr val="1E2761"/>
          </a:solidFill>
          <a:ln w="12700">
            <a:solidFill>
              <a:srgbClr val="1E2761"/>
            </a:solidFill>
            <a:prstDash val="solid"/>
          </a:ln>
        </p:spPr>
        <p:txBody>
          <a:bodyPr/>
          <a:lstStyle/>
          <a:p>
            <a:endParaRPr lang="en-US"/>
          </a:p>
        </p:txBody>
      </p:sp>
      <p:sp>
        <p:nvSpPr>
          <p:cNvPr id="11" name="Text 9"/>
          <p:cNvSpPr txBox="1"/>
          <p:nvPr/>
        </p:nvSpPr>
        <p:spPr>
          <a:xfrm>
            <a:off x="548640" y="3374136"/>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1097280" y="3429000"/>
            <a:ext cx="4343400" cy="777240"/>
          </a:xfrm>
          <a:prstGeom prst="rect">
            <a:avLst/>
          </a:prstGeom>
          <a:noFill/>
          <a:ln/>
        </p:spPr>
        <p:txBody>
          <a:bodyPr wrap="square" lIns="0" tIns="0" rIns="0" bIns="0" rtlCol="0" anchor="t"/>
          <a:lstStyle/>
          <a:p>
            <a:pPr marL="0" indent="0">
              <a:buNone/>
            </a:pPr>
            <a:r>
              <a:rPr lang="en-US" sz="1400" dirty="0">
                <a:solidFill>
                  <a:srgbClr val="1B1B2A"/>
                </a:solidFill>
                <a:latin typeface="Calibri" pitchFamily="34" charset="0"/>
                <a:ea typeface="Calibri" pitchFamily="34" charset="-122"/>
                <a:cs typeface="Calibri" pitchFamily="34" charset="-120"/>
              </a:rPr>
              <a:t>“Blocks:” the downstream units that assume this one’s output.</a:t>
            </a:r>
            <a:endParaRPr lang="en-US" sz="1400" dirty="0"/>
          </a:p>
        </p:txBody>
      </p:sp>
      <p:sp>
        <p:nvSpPr>
          <p:cNvPr id="13" name="Shape 11"/>
          <p:cNvSpPr/>
          <p:nvPr/>
        </p:nvSpPr>
        <p:spPr>
          <a:xfrm>
            <a:off x="548640" y="4334256"/>
            <a:ext cx="347472" cy="347472"/>
          </a:xfrm>
          <a:prstGeom prst="ellipse">
            <a:avLst/>
          </a:prstGeom>
          <a:solidFill>
            <a:srgbClr val="1E2761"/>
          </a:solidFill>
          <a:ln w="12700">
            <a:solidFill>
              <a:srgbClr val="1E2761"/>
            </a:solidFill>
            <a:prstDash val="solid"/>
          </a:ln>
        </p:spPr>
        <p:txBody>
          <a:bodyPr/>
          <a:lstStyle/>
          <a:p>
            <a:endParaRPr lang="en-US"/>
          </a:p>
        </p:txBody>
      </p:sp>
      <p:sp>
        <p:nvSpPr>
          <p:cNvPr id="14" name="Text 12"/>
          <p:cNvSpPr txBox="1"/>
          <p:nvPr/>
        </p:nvSpPr>
        <p:spPr>
          <a:xfrm>
            <a:off x="548640" y="4334256"/>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3"/>
          <p:cNvSpPr txBox="1"/>
          <p:nvPr/>
        </p:nvSpPr>
        <p:spPr>
          <a:xfrm>
            <a:off x="1097280" y="4389120"/>
            <a:ext cx="4343400" cy="777240"/>
          </a:xfrm>
          <a:prstGeom prst="rect">
            <a:avLst/>
          </a:prstGeom>
          <a:noFill/>
          <a:ln/>
        </p:spPr>
        <p:txBody>
          <a:bodyPr wrap="square" lIns="0" tIns="0" rIns="0" bIns="0" rtlCol="0" anchor="t"/>
          <a:lstStyle/>
          <a:p>
            <a:pPr marL="0" indent="0">
              <a:buNone/>
            </a:pPr>
            <a:r>
              <a:rPr lang="en-US" sz="1400" dirty="0">
                <a:solidFill>
                  <a:srgbClr val="1B1B2A"/>
                </a:solidFill>
                <a:latin typeface="Calibri" pitchFamily="34" charset="0"/>
                <a:ea typeface="Calibri" pitchFamily="34" charset="-122"/>
                <a:cs typeface="Calibri" pitchFamily="34" charset="-120"/>
              </a:rPr>
              <a:t>Pin down the contract (names and signatures) so others can start against it.</a:t>
            </a:r>
            <a:endParaRPr lang="en-US" sz="1400" dirty="0"/>
          </a:p>
        </p:txBody>
      </p:sp>
      <p:sp>
        <p:nvSpPr>
          <p:cNvPr id="16" name="Shape 14"/>
          <p:cNvSpPr/>
          <p:nvPr/>
        </p:nvSpPr>
        <p:spPr>
          <a:xfrm>
            <a:off x="548640" y="5294376"/>
            <a:ext cx="347472" cy="347472"/>
          </a:xfrm>
          <a:prstGeom prst="ellipse">
            <a:avLst/>
          </a:prstGeom>
          <a:solidFill>
            <a:srgbClr val="1E2761"/>
          </a:solidFill>
          <a:ln w="12700">
            <a:solidFill>
              <a:srgbClr val="1E2761"/>
            </a:solidFill>
            <a:prstDash val="solid"/>
          </a:ln>
        </p:spPr>
        <p:txBody>
          <a:bodyPr/>
          <a:lstStyle/>
          <a:p>
            <a:endParaRPr lang="en-US"/>
          </a:p>
        </p:txBody>
      </p:sp>
      <p:sp>
        <p:nvSpPr>
          <p:cNvPr id="17" name="Text 15"/>
          <p:cNvSpPr txBox="1"/>
          <p:nvPr/>
        </p:nvSpPr>
        <p:spPr>
          <a:xfrm>
            <a:off x="548640" y="5294376"/>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8" name="Text 16"/>
          <p:cNvSpPr txBox="1"/>
          <p:nvPr/>
        </p:nvSpPr>
        <p:spPr>
          <a:xfrm>
            <a:off x="1097280" y="5349240"/>
            <a:ext cx="4343400" cy="777240"/>
          </a:xfrm>
          <a:prstGeom prst="rect">
            <a:avLst/>
          </a:prstGeom>
          <a:noFill/>
          <a:ln/>
        </p:spPr>
        <p:txBody>
          <a:bodyPr wrap="square" lIns="0" tIns="0" rIns="0" bIns="0" rtlCol="0" anchor="t"/>
          <a:lstStyle/>
          <a:p>
            <a:pPr marL="0" indent="0">
              <a:buNone/>
            </a:pPr>
            <a:r>
              <a:rPr lang="en-US" sz="1400" dirty="0">
                <a:solidFill>
                  <a:srgbClr val="1B1B2A"/>
                </a:solidFill>
                <a:latin typeface="Calibri" pitchFamily="34" charset="0"/>
                <a:ea typeface="Calibri" pitchFamily="34" charset="-122"/>
                <a:cs typeface="Calibri" pitchFamily="34" charset="-120"/>
              </a:rPr>
              <a:t>No shared files and no dependency between two units means they can run in parallel.</a:t>
            </a:r>
            <a:endParaRPr lang="en-US" sz="1400" dirty="0"/>
          </a:p>
        </p:txBody>
      </p:sp>
      <p:sp>
        <p:nvSpPr>
          <p:cNvPr id="19" name="Text 17"/>
          <p:cNvSpPr txBox="1"/>
          <p:nvPr/>
        </p:nvSpPr>
        <p:spPr>
          <a:xfrm>
            <a:off x="5852160" y="2286000"/>
            <a:ext cx="5486400" cy="274320"/>
          </a:xfrm>
          <a:prstGeom prst="rect">
            <a:avLst/>
          </a:prstGeom>
          <a:noFill/>
          <a:ln/>
        </p:spPr>
        <p:txBody>
          <a:bodyPr wrap="square" lIns="0" tIns="0" rIns="0" bIns="0" rtlCol="0" anchor="ctr"/>
          <a:lstStyle/>
          <a:p>
            <a:pPr marL="0" indent="0">
              <a:buNone/>
            </a:pPr>
            <a:r>
              <a:rPr lang="en-US" sz="1200" i="1" dirty="0">
                <a:solidFill>
                  <a:srgbClr val="5B6472"/>
                </a:solidFill>
                <a:latin typeface="Calibri" pitchFamily="34" charset="0"/>
                <a:ea typeface="Calibri" pitchFamily="34" charset="-122"/>
                <a:cs typeface="Calibri" pitchFamily="34" charset="-120"/>
              </a:rPr>
              <a:t>Feature: product reviews</a:t>
            </a:r>
            <a:endParaRPr lang="en-US" sz="1200" dirty="0"/>
          </a:p>
        </p:txBody>
      </p:sp>
      <p:sp>
        <p:nvSpPr>
          <p:cNvPr id="20" name="Shape 18"/>
          <p:cNvSpPr/>
          <p:nvPr/>
        </p:nvSpPr>
        <p:spPr>
          <a:xfrm>
            <a:off x="5852160" y="2971800"/>
            <a:ext cx="2011680" cy="822960"/>
          </a:xfrm>
          <a:prstGeom prst="roundRect">
            <a:avLst>
              <a:gd name="adj" fmla="val 6667"/>
            </a:avLst>
          </a:prstGeom>
          <a:solidFill>
            <a:srgbClr val="1E2761"/>
          </a:solidFill>
          <a:ln w="12700">
            <a:solidFill>
              <a:srgbClr val="1E2761"/>
            </a:solidFill>
            <a:prstDash val="solid"/>
          </a:ln>
        </p:spPr>
        <p:txBody>
          <a:bodyPr/>
          <a:lstStyle/>
          <a:p>
            <a:endParaRPr lang="en-US"/>
          </a:p>
        </p:txBody>
      </p:sp>
      <p:sp>
        <p:nvSpPr>
          <p:cNvPr id="21" name="Text 19"/>
          <p:cNvSpPr txBox="1"/>
          <p:nvPr/>
        </p:nvSpPr>
        <p:spPr>
          <a:xfrm>
            <a:off x="5989320" y="3017520"/>
            <a:ext cx="1783080" cy="731520"/>
          </a:xfrm>
          <a:prstGeom prst="rect">
            <a:avLst/>
          </a:prstGeom>
          <a:noFill/>
          <a:ln/>
        </p:spPr>
        <p:txBody>
          <a:bodyPr wrap="square" lIns="0" tIns="0" rIns="0" bIns="0" rtlCol="0" anchor="ctr"/>
          <a:lstStyle/>
          <a:p>
            <a:pPr marL="0" indent="0">
              <a:buNone/>
            </a:pPr>
            <a:r>
              <a:rPr lang="en-US" sz="1000" b="1" dirty="0">
                <a:solidFill>
                  <a:srgbClr val="7CFC9C"/>
                </a:solidFill>
                <a:latin typeface="Calibri" pitchFamily="34" charset="0"/>
                <a:ea typeface="Calibri" pitchFamily="34" charset="-122"/>
                <a:cs typeface="Calibri" pitchFamily="34" charset="-120"/>
              </a:rPr>
              <a:t>Unit 1</a:t>
            </a:r>
            <a:endParaRPr lang="en-US" sz="1000" dirty="0"/>
          </a:p>
          <a:p>
            <a:pPr marL="0" indent="0">
              <a:buNone/>
            </a:pPr>
            <a:r>
              <a:rPr lang="en-US" sz="1250" dirty="0">
                <a:solidFill>
                  <a:srgbClr val="FFFFFF"/>
                </a:solidFill>
                <a:latin typeface="Calibri" pitchFamily="34" charset="0"/>
                <a:ea typeface="Calibri" pitchFamily="34" charset="-122"/>
                <a:cs typeface="Calibri" pitchFamily="34" charset="-120"/>
              </a:rPr>
              <a:t>Reviews table + accessors</a:t>
            </a:r>
            <a:endParaRPr lang="en-US" sz="1000" dirty="0"/>
          </a:p>
        </p:txBody>
      </p:sp>
      <p:sp>
        <p:nvSpPr>
          <p:cNvPr id="22" name="Shape 20"/>
          <p:cNvSpPr/>
          <p:nvPr/>
        </p:nvSpPr>
        <p:spPr>
          <a:xfrm flipV="1">
            <a:off x="7863840" y="2880360"/>
            <a:ext cx="822960" cy="502920"/>
          </a:xfrm>
          <a:prstGeom prst="line">
            <a:avLst/>
          </a:prstGeom>
          <a:noFill/>
          <a:ln w="15875">
            <a:solidFill>
              <a:srgbClr val="5B6472"/>
            </a:solidFill>
            <a:prstDash val="solid"/>
            <a:tailEnd type="triangle"/>
          </a:ln>
        </p:spPr>
        <p:txBody>
          <a:bodyPr/>
          <a:lstStyle/>
          <a:p>
            <a:endParaRPr lang="en-US"/>
          </a:p>
        </p:txBody>
      </p:sp>
      <p:sp>
        <p:nvSpPr>
          <p:cNvPr id="23" name="Shape 21"/>
          <p:cNvSpPr/>
          <p:nvPr/>
        </p:nvSpPr>
        <p:spPr>
          <a:xfrm>
            <a:off x="8686800" y="2651760"/>
            <a:ext cx="2953512" cy="457200"/>
          </a:xfrm>
          <a:prstGeom prst="roundRect">
            <a:avLst>
              <a:gd name="adj" fmla="val 12000"/>
            </a:avLst>
          </a:prstGeom>
          <a:solidFill>
            <a:srgbClr val="F4F6FB"/>
          </a:solidFill>
          <a:ln w="12700">
            <a:solidFill>
              <a:srgbClr val="F4F6FB"/>
            </a:solidFill>
            <a:prstDash val="solid"/>
          </a:ln>
        </p:spPr>
        <p:txBody>
          <a:bodyPr/>
          <a:lstStyle/>
          <a:p>
            <a:endParaRPr lang="en-US"/>
          </a:p>
        </p:txBody>
      </p:sp>
      <p:sp>
        <p:nvSpPr>
          <p:cNvPr id="24" name="Text 22"/>
          <p:cNvSpPr txBox="1"/>
          <p:nvPr/>
        </p:nvSpPr>
        <p:spPr>
          <a:xfrm>
            <a:off x="8823960" y="2651760"/>
            <a:ext cx="2743200" cy="457200"/>
          </a:xfrm>
          <a:prstGeom prst="rect">
            <a:avLst/>
          </a:prstGeom>
          <a:noFill/>
          <a:ln/>
        </p:spPr>
        <p:txBody>
          <a:bodyPr wrap="square" lIns="0" tIns="0" rIns="0" bIns="0" rtlCol="0" anchor="ctr"/>
          <a:lstStyle/>
          <a:p>
            <a:pPr marL="0" indent="0">
              <a:buNone/>
            </a:pPr>
            <a:r>
              <a:rPr lang="en-US" sz="1250" dirty="0">
                <a:solidFill>
                  <a:srgbClr val="1B1B2A"/>
                </a:solidFill>
                <a:latin typeface="Calibri" pitchFamily="34" charset="0"/>
                <a:ea typeface="Calibri" pitchFamily="34" charset="-122"/>
                <a:cs typeface="Calibri" pitchFamily="34" charset="-120"/>
              </a:rPr>
              <a:t>Unit 2 · Submit-review API</a:t>
            </a:r>
            <a:endParaRPr lang="en-US" sz="1250" dirty="0"/>
          </a:p>
        </p:txBody>
      </p:sp>
      <p:sp>
        <p:nvSpPr>
          <p:cNvPr id="25" name="Shape 23"/>
          <p:cNvSpPr/>
          <p:nvPr/>
        </p:nvSpPr>
        <p:spPr>
          <a:xfrm>
            <a:off x="7863840" y="3383280"/>
            <a:ext cx="822960" cy="64008"/>
          </a:xfrm>
          <a:prstGeom prst="line">
            <a:avLst/>
          </a:prstGeom>
          <a:noFill/>
          <a:ln w="15875">
            <a:solidFill>
              <a:srgbClr val="5B6472"/>
            </a:solidFill>
            <a:prstDash val="solid"/>
            <a:tailEnd type="triangle"/>
          </a:ln>
        </p:spPr>
        <p:txBody>
          <a:bodyPr/>
          <a:lstStyle/>
          <a:p>
            <a:endParaRPr lang="en-US"/>
          </a:p>
        </p:txBody>
      </p:sp>
      <p:sp>
        <p:nvSpPr>
          <p:cNvPr id="26" name="Shape 24"/>
          <p:cNvSpPr/>
          <p:nvPr/>
        </p:nvSpPr>
        <p:spPr>
          <a:xfrm>
            <a:off x="8686800" y="3218688"/>
            <a:ext cx="2953512" cy="457200"/>
          </a:xfrm>
          <a:prstGeom prst="roundRect">
            <a:avLst>
              <a:gd name="adj" fmla="val 12000"/>
            </a:avLst>
          </a:prstGeom>
          <a:solidFill>
            <a:srgbClr val="F4F6FB"/>
          </a:solidFill>
          <a:ln w="12700">
            <a:solidFill>
              <a:srgbClr val="F4F6FB"/>
            </a:solidFill>
            <a:prstDash val="solid"/>
          </a:ln>
        </p:spPr>
        <p:txBody>
          <a:bodyPr/>
          <a:lstStyle/>
          <a:p>
            <a:endParaRPr lang="en-US"/>
          </a:p>
        </p:txBody>
      </p:sp>
      <p:sp>
        <p:nvSpPr>
          <p:cNvPr id="27" name="Text 25"/>
          <p:cNvSpPr txBox="1"/>
          <p:nvPr/>
        </p:nvSpPr>
        <p:spPr>
          <a:xfrm>
            <a:off x="8823960" y="3218688"/>
            <a:ext cx="2743200" cy="457200"/>
          </a:xfrm>
          <a:prstGeom prst="rect">
            <a:avLst/>
          </a:prstGeom>
          <a:noFill/>
          <a:ln/>
        </p:spPr>
        <p:txBody>
          <a:bodyPr wrap="square" lIns="0" tIns="0" rIns="0" bIns="0" rtlCol="0" anchor="ctr"/>
          <a:lstStyle/>
          <a:p>
            <a:pPr marL="0" indent="0">
              <a:buNone/>
            </a:pPr>
            <a:r>
              <a:rPr lang="en-US" sz="1250" dirty="0">
                <a:solidFill>
                  <a:srgbClr val="1B1B2A"/>
                </a:solidFill>
                <a:latin typeface="Calibri" pitchFamily="34" charset="0"/>
                <a:ea typeface="Calibri" pitchFamily="34" charset="-122"/>
                <a:cs typeface="Calibri" pitchFamily="34" charset="-120"/>
              </a:rPr>
              <a:t>Unit 3 · Star rating on product page</a:t>
            </a:r>
            <a:endParaRPr lang="en-US" sz="1250" dirty="0"/>
          </a:p>
        </p:txBody>
      </p:sp>
      <p:sp>
        <p:nvSpPr>
          <p:cNvPr id="28" name="Shape 26"/>
          <p:cNvSpPr/>
          <p:nvPr/>
        </p:nvSpPr>
        <p:spPr>
          <a:xfrm>
            <a:off x="7863840" y="3383280"/>
            <a:ext cx="822960" cy="630936"/>
          </a:xfrm>
          <a:prstGeom prst="line">
            <a:avLst/>
          </a:prstGeom>
          <a:noFill/>
          <a:ln w="15875">
            <a:solidFill>
              <a:srgbClr val="5B6472"/>
            </a:solidFill>
            <a:prstDash val="solid"/>
            <a:tailEnd type="triangle"/>
          </a:ln>
        </p:spPr>
        <p:txBody>
          <a:bodyPr/>
          <a:lstStyle/>
          <a:p>
            <a:endParaRPr lang="en-US"/>
          </a:p>
        </p:txBody>
      </p:sp>
      <p:sp>
        <p:nvSpPr>
          <p:cNvPr id="29" name="Shape 27"/>
          <p:cNvSpPr/>
          <p:nvPr/>
        </p:nvSpPr>
        <p:spPr>
          <a:xfrm>
            <a:off x="8686800" y="3785616"/>
            <a:ext cx="2953512" cy="457200"/>
          </a:xfrm>
          <a:prstGeom prst="roundRect">
            <a:avLst>
              <a:gd name="adj" fmla="val 12000"/>
            </a:avLst>
          </a:prstGeom>
          <a:solidFill>
            <a:srgbClr val="F4F6FB"/>
          </a:solidFill>
          <a:ln w="12700">
            <a:solidFill>
              <a:srgbClr val="F4F6FB"/>
            </a:solidFill>
            <a:prstDash val="solid"/>
          </a:ln>
        </p:spPr>
        <p:txBody>
          <a:bodyPr/>
          <a:lstStyle/>
          <a:p>
            <a:endParaRPr lang="en-US"/>
          </a:p>
        </p:txBody>
      </p:sp>
      <p:sp>
        <p:nvSpPr>
          <p:cNvPr id="30" name="Text 28"/>
          <p:cNvSpPr txBox="1"/>
          <p:nvPr/>
        </p:nvSpPr>
        <p:spPr>
          <a:xfrm>
            <a:off x="8823960" y="3785616"/>
            <a:ext cx="2743200" cy="457200"/>
          </a:xfrm>
          <a:prstGeom prst="rect">
            <a:avLst/>
          </a:prstGeom>
          <a:noFill/>
          <a:ln/>
        </p:spPr>
        <p:txBody>
          <a:bodyPr wrap="square" lIns="0" tIns="0" rIns="0" bIns="0" rtlCol="0" anchor="ctr"/>
          <a:lstStyle/>
          <a:p>
            <a:pPr marL="0" indent="0">
              <a:buNone/>
            </a:pPr>
            <a:r>
              <a:rPr lang="en-US" sz="1250" dirty="0">
                <a:solidFill>
                  <a:srgbClr val="1B1B2A"/>
                </a:solidFill>
                <a:latin typeface="Calibri" pitchFamily="34" charset="0"/>
                <a:ea typeface="Calibri" pitchFamily="34" charset="-122"/>
                <a:cs typeface="Calibri" pitchFamily="34" charset="-120"/>
              </a:rPr>
              <a:t>Unit 4 · Report-a-review flag</a:t>
            </a:r>
            <a:endParaRPr lang="en-US" sz="1250" dirty="0"/>
          </a:p>
        </p:txBody>
      </p:sp>
      <p:sp>
        <p:nvSpPr>
          <p:cNvPr id="31" name="Text 29"/>
          <p:cNvSpPr txBox="1"/>
          <p:nvPr/>
        </p:nvSpPr>
        <p:spPr>
          <a:xfrm>
            <a:off x="5852160" y="4389120"/>
            <a:ext cx="5788152" cy="365760"/>
          </a:xfrm>
          <a:prstGeom prst="rect">
            <a:avLst/>
          </a:prstGeom>
          <a:noFill/>
          <a:ln/>
        </p:spPr>
        <p:txBody>
          <a:bodyPr wrap="square" lIns="0" tIns="0" rIns="0" bIns="0" rtlCol="0" anchor="ctr"/>
          <a:lstStyle/>
          <a:p>
            <a:pPr marL="0" indent="0">
              <a:buNone/>
            </a:pPr>
            <a:r>
              <a:rPr lang="en-US" sz="1200" i="1" dirty="0">
                <a:solidFill>
                  <a:srgbClr val="5B6472"/>
                </a:solidFill>
                <a:latin typeface="Calibri" pitchFamily="34" charset="0"/>
                <a:ea typeface="Calibri" pitchFamily="34" charset="-122"/>
                <a:cs typeface="Calibri" pitchFamily="34" charset="-120"/>
              </a:rPr>
              <a:t>Units 2–4 share no files and don’t depend on each other, so they can run side by side.</a:t>
            </a:r>
            <a:endParaRPr lang="en-US" sz="1200" dirty="0"/>
          </a:p>
        </p:txBody>
      </p:sp>
      <p:sp>
        <p:nvSpPr>
          <p:cNvPr id="32" name="Shape 30"/>
          <p:cNvSpPr/>
          <p:nvPr/>
        </p:nvSpPr>
        <p:spPr>
          <a:xfrm>
            <a:off x="5852160" y="4892040"/>
            <a:ext cx="5788152" cy="1097280"/>
          </a:xfrm>
          <a:prstGeom prst="roundRect">
            <a:avLst>
              <a:gd name="adj" fmla="val 5000"/>
            </a:avLst>
          </a:prstGeom>
          <a:solidFill>
            <a:srgbClr val="F4F6FB"/>
          </a:solidFill>
          <a:ln w="12700">
            <a:solidFill>
              <a:srgbClr val="F4F6FB"/>
            </a:solidFill>
            <a:prstDash val="solid"/>
          </a:ln>
        </p:spPr>
        <p:txBody>
          <a:bodyPr/>
          <a:lstStyle/>
          <a:p>
            <a:endParaRPr lang="en-US"/>
          </a:p>
        </p:txBody>
      </p:sp>
      <p:sp>
        <p:nvSpPr>
          <p:cNvPr id="33" name="Text 31"/>
          <p:cNvSpPr txBox="1"/>
          <p:nvPr/>
        </p:nvSpPr>
        <p:spPr>
          <a:xfrm>
            <a:off x="6035040" y="4892040"/>
            <a:ext cx="5486400" cy="1097280"/>
          </a:xfrm>
          <a:prstGeom prst="rect">
            <a:avLst/>
          </a:prstGeom>
          <a:noFill/>
          <a:ln/>
        </p:spPr>
        <p:txBody>
          <a:bodyPr wrap="square" lIns="0" tIns="0" rIns="0" bIns="0" rtlCol="0" anchor="ctr"/>
          <a:lstStyle/>
          <a:p>
            <a:pPr marL="0" indent="0">
              <a:spcAft>
                <a:spcPts val="400"/>
              </a:spcAft>
              <a:buNone/>
            </a:pPr>
            <a:r>
              <a:rPr lang="en-US" sz="1300" b="1" dirty="0">
                <a:solidFill>
                  <a:srgbClr val="1B1B2A"/>
                </a:solidFill>
                <a:latin typeface="Calibri" pitchFamily="34" charset="0"/>
                <a:ea typeface="Calibri" pitchFamily="34" charset="-122"/>
                <a:cs typeface="Calibri" pitchFamily="34" charset="-120"/>
              </a:rPr>
              <a:t>Unit 3 · Star rating on product page</a:t>
            </a:r>
            <a:endParaRPr lang="en-US" sz="1300" dirty="0"/>
          </a:p>
          <a:p>
            <a:pPr marL="0" indent="0">
              <a:buNone/>
            </a:pPr>
            <a:r>
              <a:rPr lang="en-US" sz="1250" b="1" dirty="0">
                <a:solidFill>
                  <a:srgbClr val="1E2761"/>
                </a:solidFill>
                <a:latin typeface="Calibri" pitchFamily="34" charset="0"/>
                <a:ea typeface="Calibri" pitchFamily="34" charset="-122"/>
                <a:cs typeface="Calibri" pitchFamily="34" charset="-120"/>
              </a:rPr>
              <a:t>Depends on: </a:t>
            </a:r>
            <a:r>
              <a:rPr lang="en-US" sz="1250" dirty="0">
                <a:solidFill>
                  <a:srgbClr val="1B1B2A"/>
                </a:solidFill>
                <a:latin typeface="Calibri" pitchFamily="34" charset="0"/>
                <a:ea typeface="Calibri" pitchFamily="34" charset="-122"/>
                <a:cs typeface="Calibri" pitchFamily="34" charset="-120"/>
              </a:rPr>
              <a:t>Unit 1, specifically get_average_rating(product_id) → float</a:t>
            </a:r>
            <a:endParaRPr lang="en-US" sz="1300" dirty="0"/>
          </a:p>
          <a:p>
            <a:pPr marL="0" indent="0">
              <a:buNone/>
            </a:pPr>
            <a:r>
              <a:rPr lang="en-US" sz="1250" b="1" dirty="0">
                <a:solidFill>
                  <a:srgbClr val="1E2761"/>
                </a:solidFill>
                <a:latin typeface="Calibri" pitchFamily="34" charset="0"/>
                <a:ea typeface="Calibri" pitchFamily="34" charset="-122"/>
                <a:cs typeface="Calibri" pitchFamily="34" charset="-120"/>
              </a:rPr>
              <a:t>Blocks: </a:t>
            </a:r>
            <a:r>
              <a:rPr lang="en-US" sz="1250" dirty="0">
                <a:solidFill>
                  <a:srgbClr val="1B1B2A"/>
                </a:solidFill>
                <a:latin typeface="Calibri" pitchFamily="34" charset="0"/>
                <a:ea typeface="Calibri" pitchFamily="34" charset="-122"/>
                <a:cs typeface="Calibri" pitchFamily="34" charset="-120"/>
              </a:rPr>
              <a:t>nothing</a:t>
            </a:r>
            <a:endParaRPr lang="en-US" sz="1300" dirty="0"/>
          </a:p>
          <a:p>
            <a:pPr marL="0" indent="0">
              <a:buNone/>
            </a:pPr>
            <a:r>
              <a:rPr lang="en-US" sz="1250" b="1" dirty="0">
                <a:solidFill>
                  <a:srgbClr val="1E2761"/>
                </a:solidFill>
                <a:latin typeface="Calibri" pitchFamily="34" charset="0"/>
                <a:ea typeface="Calibri" pitchFamily="34" charset="-122"/>
                <a:cs typeface="Calibri" pitchFamily="34" charset="-120"/>
              </a:rPr>
              <a:t>Shares files with: </a:t>
            </a:r>
            <a:r>
              <a:rPr lang="en-US" sz="1250" dirty="0">
                <a:solidFill>
                  <a:srgbClr val="1B1B2A"/>
                </a:solidFill>
                <a:latin typeface="Calibri" pitchFamily="34" charset="0"/>
                <a:ea typeface="Calibri" pitchFamily="34" charset="-122"/>
                <a:cs typeface="Calibri" pitchFamily="34" charset="-120"/>
              </a:rPr>
              <a:t>none</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7315200" cy="365760"/>
          </a:xfrm>
          <a:prstGeom prst="rect">
            <a:avLst/>
          </a:prstGeom>
          <a:noFill/>
          <a:ln/>
        </p:spPr>
        <p:txBody>
          <a:bodyPr wrap="square" lIns="0" tIns="0" rIns="0" bIns="0" rtlCol="0" anchor="ctr"/>
          <a:lstStyle/>
          <a:p>
            <a:pPr marL="0" indent="0">
              <a:buNone/>
            </a:pPr>
            <a:r>
              <a:rPr lang="en-US" sz="1200" b="1" kern="0" spc="200" dirty="0">
                <a:solidFill>
                  <a:srgbClr val="1E2761"/>
                </a:solidFill>
                <a:latin typeface="Calibri" pitchFamily="34" charset="0"/>
                <a:ea typeface="Calibri" pitchFamily="34" charset="-122"/>
                <a:cs typeface="Calibri" pitchFamily="34" charset="-120"/>
              </a:rPr>
              <a:t>MODULE 1 — AGENT-READY, STEP 4 OF 4</a:t>
            </a:r>
            <a:endParaRPr lang="en-US" sz="1200" dirty="0"/>
          </a:p>
        </p:txBody>
      </p:sp>
      <p:sp>
        <p:nvSpPr>
          <p:cNvPr id="3" name="Text 1"/>
          <p:cNvSpPr txBox="1"/>
          <p:nvPr/>
        </p:nvSpPr>
        <p:spPr>
          <a:xfrm>
            <a:off x="548640" y="685800"/>
            <a:ext cx="10515600" cy="640080"/>
          </a:xfrm>
          <a:prstGeom prst="rect">
            <a:avLst/>
          </a:prstGeom>
          <a:noFill/>
          <a:ln/>
        </p:spPr>
        <p:txBody>
          <a:bodyPr wrap="square" lIns="0" tIns="0" rIns="0" bIns="0" rtlCol="0" anchor="ctr"/>
          <a:lstStyle/>
          <a:p>
            <a:pPr marL="0" indent="0">
              <a:buNone/>
            </a:pPr>
            <a:r>
              <a:rPr lang="en-US" sz="3000" b="1" dirty="0">
                <a:solidFill>
                  <a:srgbClr val="1B1B2A"/>
                </a:solidFill>
                <a:latin typeface="Cambria" pitchFamily="34" charset="0"/>
                <a:ea typeface="Cambria" pitchFamily="34" charset="-122"/>
                <a:cs typeface="Cambria" pitchFamily="34" charset="-120"/>
              </a:rPr>
              <a:t>A Verification Step</a:t>
            </a:r>
            <a:endParaRPr lang="en-US" sz="3000" dirty="0"/>
          </a:p>
        </p:txBody>
      </p:sp>
      <p:sp>
        <p:nvSpPr>
          <p:cNvPr id="4" name="Text 2"/>
          <p:cNvSpPr txBox="1"/>
          <p:nvPr/>
        </p:nvSpPr>
        <p:spPr>
          <a:xfrm>
            <a:off x="548640" y="1325880"/>
            <a:ext cx="10972800" cy="457200"/>
          </a:xfrm>
          <a:prstGeom prst="rect">
            <a:avLst/>
          </a:prstGeom>
          <a:noFill/>
          <a:ln/>
        </p:spPr>
        <p:txBody>
          <a:bodyPr wrap="square" lIns="0" tIns="0" rIns="0" bIns="0" rtlCol="0" anchor="ctr"/>
          <a:lstStyle/>
          <a:p>
            <a:pPr marL="0" indent="0">
              <a:buNone/>
            </a:pPr>
            <a:r>
              <a:rPr lang="en-US" sz="1600" i="1" dirty="0">
                <a:solidFill>
                  <a:srgbClr val="5B6472"/>
                </a:solidFill>
                <a:latin typeface="Calibri" pitchFamily="34" charset="0"/>
                <a:ea typeface="Calibri" pitchFamily="34" charset="-122"/>
                <a:cs typeface="Calibri" pitchFamily="34" charset="-120"/>
              </a:rPr>
              <a:t>How you, not the agent, confirm it’s done. One concrete check that takes under two minutes.</a:t>
            </a:r>
            <a:endParaRPr lang="en-US" sz="1600" dirty="0"/>
          </a:p>
        </p:txBody>
      </p:sp>
      <p:sp>
        <p:nvSpPr>
          <p:cNvPr id="5" name="Text 3"/>
          <p:cNvSpPr txBox="1"/>
          <p:nvPr/>
        </p:nvSpPr>
        <p:spPr>
          <a:xfrm>
            <a:off x="548640" y="1965960"/>
            <a:ext cx="4572000" cy="274320"/>
          </a:xfrm>
          <a:prstGeom prst="rect">
            <a:avLst/>
          </a:prstGeom>
          <a:noFill/>
          <a:ln/>
        </p:spPr>
        <p:txBody>
          <a:bodyPr wrap="square" lIns="0" tIns="0" rIns="0" bIns="0" rtlCol="0" anchor="ctr"/>
          <a:lstStyle/>
          <a:p>
            <a:pPr marL="0" indent="0">
              <a:buNone/>
            </a:pPr>
            <a:r>
              <a:rPr lang="en-US" sz="1100" b="1" kern="0" spc="200" dirty="0">
                <a:solidFill>
                  <a:srgbClr val="1E2761"/>
                </a:solidFill>
                <a:latin typeface="Calibri" pitchFamily="34" charset="0"/>
                <a:ea typeface="Calibri" pitchFamily="34" charset="-122"/>
                <a:cs typeface="Calibri" pitchFamily="34" charset="-120"/>
              </a:rPr>
              <a:t>HOW TO WRITE IT</a:t>
            </a:r>
            <a:endParaRPr lang="en-US" sz="1100" dirty="0"/>
          </a:p>
        </p:txBody>
      </p:sp>
      <p:sp>
        <p:nvSpPr>
          <p:cNvPr id="6" name="Text 4"/>
          <p:cNvSpPr txBox="1"/>
          <p:nvPr/>
        </p:nvSpPr>
        <p:spPr>
          <a:xfrm>
            <a:off x="5852160" y="1965960"/>
            <a:ext cx="4572000" cy="274320"/>
          </a:xfrm>
          <a:prstGeom prst="rect">
            <a:avLst/>
          </a:prstGeom>
          <a:noFill/>
          <a:ln/>
        </p:spPr>
        <p:txBody>
          <a:bodyPr wrap="square" lIns="0" tIns="0" rIns="0" bIns="0" rtlCol="0" anchor="ctr"/>
          <a:lstStyle/>
          <a:p>
            <a:pPr marL="0" indent="0">
              <a:buNone/>
            </a:pPr>
            <a:r>
              <a:rPr lang="en-US" sz="1100" b="1" kern="0" spc="200" dirty="0">
                <a:solidFill>
                  <a:srgbClr val="1E2761"/>
                </a:solidFill>
                <a:latin typeface="Calibri" pitchFamily="34" charset="0"/>
                <a:ea typeface="Calibri" pitchFamily="34" charset="-122"/>
                <a:cs typeface="Calibri" pitchFamily="34" charset="-120"/>
              </a:rPr>
              <a:t>EXAMPLES</a:t>
            </a:r>
            <a:endParaRPr lang="en-US" sz="1100" dirty="0"/>
          </a:p>
        </p:txBody>
      </p:sp>
      <p:sp>
        <p:nvSpPr>
          <p:cNvPr id="7" name="Shape 5"/>
          <p:cNvSpPr/>
          <p:nvPr/>
        </p:nvSpPr>
        <p:spPr>
          <a:xfrm>
            <a:off x="548640" y="2414016"/>
            <a:ext cx="347472" cy="347472"/>
          </a:xfrm>
          <a:prstGeom prst="ellipse">
            <a:avLst/>
          </a:prstGeom>
          <a:solidFill>
            <a:srgbClr val="1E2761"/>
          </a:solidFill>
          <a:ln w="12700">
            <a:solidFill>
              <a:srgbClr val="1E2761"/>
            </a:solidFill>
            <a:prstDash val="solid"/>
          </a:ln>
        </p:spPr>
        <p:txBody>
          <a:bodyPr/>
          <a:lstStyle/>
          <a:p>
            <a:endParaRPr lang="en-US"/>
          </a:p>
        </p:txBody>
      </p:sp>
      <p:sp>
        <p:nvSpPr>
          <p:cNvPr id="8" name="Text 6"/>
          <p:cNvSpPr txBox="1"/>
          <p:nvPr/>
        </p:nvSpPr>
        <p:spPr>
          <a:xfrm>
            <a:off x="548640" y="2414016"/>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txBox="1"/>
          <p:nvPr/>
        </p:nvSpPr>
        <p:spPr>
          <a:xfrm>
            <a:off x="1097280" y="2468880"/>
            <a:ext cx="4343400" cy="777240"/>
          </a:xfrm>
          <a:prstGeom prst="rect">
            <a:avLst/>
          </a:prstGeom>
          <a:noFill/>
          <a:ln/>
        </p:spPr>
        <p:txBody>
          <a:bodyPr wrap="square" lIns="0" tIns="0" rIns="0" bIns="0" rtlCol="0" anchor="t"/>
          <a:lstStyle/>
          <a:p>
            <a:pPr marL="0" indent="0">
              <a:buNone/>
            </a:pPr>
            <a:r>
              <a:rPr lang="en-US" sz="1400" dirty="0">
                <a:solidFill>
                  <a:srgbClr val="1B1B2A"/>
                </a:solidFill>
                <a:latin typeface="Calibri" pitchFamily="34" charset="0"/>
                <a:ea typeface="Calibri" pitchFamily="34" charset="-122"/>
                <a:cs typeface="Calibri" pitchFamily="34" charset="-120"/>
              </a:rPr>
              <a:t>Write the exact command, URL, or click path.</a:t>
            </a:r>
            <a:endParaRPr lang="en-US" sz="1400" dirty="0"/>
          </a:p>
        </p:txBody>
      </p:sp>
      <p:sp>
        <p:nvSpPr>
          <p:cNvPr id="10" name="Shape 8"/>
          <p:cNvSpPr/>
          <p:nvPr/>
        </p:nvSpPr>
        <p:spPr>
          <a:xfrm>
            <a:off x="548640" y="3374136"/>
            <a:ext cx="347472" cy="347472"/>
          </a:xfrm>
          <a:prstGeom prst="ellipse">
            <a:avLst/>
          </a:prstGeom>
          <a:solidFill>
            <a:srgbClr val="1E2761"/>
          </a:solidFill>
          <a:ln w="12700">
            <a:solidFill>
              <a:srgbClr val="1E2761"/>
            </a:solidFill>
            <a:prstDash val="solid"/>
          </a:ln>
        </p:spPr>
        <p:txBody>
          <a:bodyPr/>
          <a:lstStyle/>
          <a:p>
            <a:endParaRPr lang="en-US"/>
          </a:p>
        </p:txBody>
      </p:sp>
      <p:sp>
        <p:nvSpPr>
          <p:cNvPr id="11" name="Text 9"/>
          <p:cNvSpPr txBox="1"/>
          <p:nvPr/>
        </p:nvSpPr>
        <p:spPr>
          <a:xfrm>
            <a:off x="548640" y="3374136"/>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1097280" y="3429000"/>
            <a:ext cx="4343400" cy="777240"/>
          </a:xfrm>
          <a:prstGeom prst="rect">
            <a:avLst/>
          </a:prstGeom>
          <a:noFill/>
          <a:ln/>
        </p:spPr>
        <p:txBody>
          <a:bodyPr wrap="square" lIns="0" tIns="0" rIns="0" bIns="0" rtlCol="0" anchor="t"/>
          <a:lstStyle/>
          <a:p>
            <a:pPr marL="0" indent="0">
              <a:buNone/>
            </a:pPr>
            <a:r>
              <a:rPr lang="en-US" sz="1400" dirty="0">
                <a:solidFill>
                  <a:srgbClr val="1B1B2A"/>
                </a:solidFill>
                <a:latin typeface="Calibri" pitchFamily="34" charset="0"/>
                <a:ea typeface="Calibri" pitchFamily="34" charset="-122"/>
                <a:cs typeface="Calibri" pitchFamily="34" charset="-120"/>
              </a:rPr>
              <a:t>Put the expected result right next to it.</a:t>
            </a:r>
            <a:endParaRPr lang="en-US" sz="1400" dirty="0"/>
          </a:p>
        </p:txBody>
      </p:sp>
      <p:sp>
        <p:nvSpPr>
          <p:cNvPr id="13" name="Shape 11"/>
          <p:cNvSpPr/>
          <p:nvPr/>
        </p:nvSpPr>
        <p:spPr>
          <a:xfrm>
            <a:off x="548640" y="4334256"/>
            <a:ext cx="347472" cy="347472"/>
          </a:xfrm>
          <a:prstGeom prst="ellipse">
            <a:avLst/>
          </a:prstGeom>
          <a:solidFill>
            <a:srgbClr val="1E2761"/>
          </a:solidFill>
          <a:ln w="12700">
            <a:solidFill>
              <a:srgbClr val="1E2761"/>
            </a:solidFill>
            <a:prstDash val="solid"/>
          </a:ln>
        </p:spPr>
        <p:txBody>
          <a:bodyPr/>
          <a:lstStyle/>
          <a:p>
            <a:endParaRPr lang="en-US"/>
          </a:p>
        </p:txBody>
      </p:sp>
      <p:sp>
        <p:nvSpPr>
          <p:cNvPr id="14" name="Text 12"/>
          <p:cNvSpPr txBox="1"/>
          <p:nvPr/>
        </p:nvSpPr>
        <p:spPr>
          <a:xfrm>
            <a:off x="548640" y="4334256"/>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3"/>
          <p:cNvSpPr txBox="1"/>
          <p:nvPr/>
        </p:nvSpPr>
        <p:spPr>
          <a:xfrm>
            <a:off x="1097280" y="4389120"/>
            <a:ext cx="4343400" cy="777240"/>
          </a:xfrm>
          <a:prstGeom prst="rect">
            <a:avLst/>
          </a:prstGeom>
          <a:noFill/>
          <a:ln/>
        </p:spPr>
        <p:txBody>
          <a:bodyPr wrap="square" lIns="0" tIns="0" rIns="0" bIns="0" rtlCol="0" anchor="t"/>
          <a:lstStyle/>
          <a:p>
            <a:pPr marL="0" indent="0">
              <a:buNone/>
            </a:pPr>
            <a:r>
              <a:rPr lang="en-US" sz="1400" dirty="0">
                <a:solidFill>
                  <a:srgbClr val="1B1B2A"/>
                </a:solidFill>
                <a:latin typeface="Calibri" pitchFamily="34" charset="0"/>
                <a:ea typeface="Calibri" pitchFamily="34" charset="-122"/>
                <a:cs typeface="Calibri" pitchFamily="34" charset="-120"/>
              </a:rPr>
              <a:t>Pick the cheapest check that would still catch a wrong answer.</a:t>
            </a:r>
            <a:endParaRPr lang="en-US" sz="1400" dirty="0"/>
          </a:p>
        </p:txBody>
      </p:sp>
      <p:sp>
        <p:nvSpPr>
          <p:cNvPr id="16" name="Shape 14"/>
          <p:cNvSpPr/>
          <p:nvPr/>
        </p:nvSpPr>
        <p:spPr>
          <a:xfrm>
            <a:off x="548640" y="5294376"/>
            <a:ext cx="347472" cy="347472"/>
          </a:xfrm>
          <a:prstGeom prst="ellipse">
            <a:avLst/>
          </a:prstGeom>
          <a:solidFill>
            <a:srgbClr val="1E2761"/>
          </a:solidFill>
          <a:ln w="12700">
            <a:solidFill>
              <a:srgbClr val="1E2761"/>
            </a:solidFill>
            <a:prstDash val="solid"/>
          </a:ln>
        </p:spPr>
        <p:txBody>
          <a:bodyPr/>
          <a:lstStyle/>
          <a:p>
            <a:endParaRPr lang="en-US"/>
          </a:p>
        </p:txBody>
      </p:sp>
      <p:sp>
        <p:nvSpPr>
          <p:cNvPr id="17" name="Text 15"/>
          <p:cNvSpPr txBox="1"/>
          <p:nvPr/>
        </p:nvSpPr>
        <p:spPr>
          <a:xfrm>
            <a:off x="548640" y="5294376"/>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8" name="Text 16"/>
          <p:cNvSpPr txBox="1"/>
          <p:nvPr/>
        </p:nvSpPr>
        <p:spPr>
          <a:xfrm>
            <a:off x="1097280" y="5349240"/>
            <a:ext cx="4343400" cy="777240"/>
          </a:xfrm>
          <a:prstGeom prst="rect">
            <a:avLst/>
          </a:prstGeom>
          <a:noFill/>
          <a:ln/>
        </p:spPr>
        <p:txBody>
          <a:bodyPr wrap="square" lIns="0" tIns="0" rIns="0" bIns="0" rtlCol="0" anchor="t"/>
          <a:lstStyle/>
          <a:p>
            <a:pPr marL="0" indent="0">
              <a:buNone/>
            </a:pPr>
            <a:r>
              <a:rPr lang="en-US" sz="1400" dirty="0">
                <a:solidFill>
                  <a:srgbClr val="1B1B2A"/>
                </a:solidFill>
                <a:latin typeface="Calibri" pitchFamily="34" charset="0"/>
                <a:ea typeface="Calibri" pitchFamily="34" charset="-122"/>
                <a:cs typeface="Calibri" pitchFamily="34" charset="-120"/>
              </a:rPr>
              <a:t>The agent saying “done” is not verification. You run the check.</a:t>
            </a:r>
            <a:endParaRPr lang="en-US" sz="1400" dirty="0"/>
          </a:p>
        </p:txBody>
      </p:sp>
      <p:sp>
        <p:nvSpPr>
          <p:cNvPr id="19" name="Shape 17"/>
          <p:cNvSpPr/>
          <p:nvPr/>
        </p:nvSpPr>
        <p:spPr>
          <a:xfrm>
            <a:off x="5852160" y="2377440"/>
            <a:ext cx="2788920" cy="1783080"/>
          </a:xfrm>
          <a:prstGeom prst="roundRect">
            <a:avLst>
              <a:gd name="adj" fmla="val 3077"/>
            </a:avLst>
          </a:prstGeom>
          <a:solidFill>
            <a:srgbClr val="F4F6FB"/>
          </a:solidFill>
          <a:ln w="12700">
            <a:solidFill>
              <a:srgbClr val="F4F6FB"/>
            </a:solidFill>
            <a:prstDash val="solid"/>
          </a:ln>
        </p:spPr>
        <p:txBody>
          <a:bodyPr/>
          <a:lstStyle/>
          <a:p>
            <a:endParaRPr lang="en-US"/>
          </a:p>
        </p:txBody>
      </p:sp>
      <p:sp>
        <p:nvSpPr>
          <p:cNvPr id="20" name="Text 18"/>
          <p:cNvSpPr txBox="1"/>
          <p:nvPr/>
        </p:nvSpPr>
        <p:spPr>
          <a:xfrm>
            <a:off x="6016752" y="2487168"/>
            <a:ext cx="2468880" cy="228600"/>
          </a:xfrm>
          <a:prstGeom prst="rect">
            <a:avLst/>
          </a:prstGeom>
          <a:noFill/>
          <a:ln/>
        </p:spPr>
        <p:txBody>
          <a:bodyPr wrap="square" lIns="0" tIns="0" rIns="0" bIns="0" rtlCol="0" anchor="ctr"/>
          <a:lstStyle/>
          <a:p>
            <a:pPr marL="0" indent="0">
              <a:buNone/>
            </a:pPr>
            <a:r>
              <a:rPr lang="en-US" sz="1000" b="1" kern="0" spc="200" dirty="0">
                <a:solidFill>
                  <a:srgbClr val="1E2761"/>
                </a:solidFill>
                <a:latin typeface="Calibri" pitchFamily="34" charset="0"/>
                <a:ea typeface="Calibri" pitchFamily="34" charset="-122"/>
                <a:cs typeface="Calibri" pitchFamily="34" charset="-120"/>
              </a:rPr>
              <a:t>TEST</a:t>
            </a:r>
            <a:endParaRPr lang="en-US" sz="1000" dirty="0"/>
          </a:p>
        </p:txBody>
      </p:sp>
      <p:sp>
        <p:nvSpPr>
          <p:cNvPr id="21" name="Shape 19"/>
          <p:cNvSpPr/>
          <p:nvPr/>
        </p:nvSpPr>
        <p:spPr>
          <a:xfrm>
            <a:off x="5989320" y="2788920"/>
            <a:ext cx="2514600" cy="566928"/>
          </a:xfrm>
          <a:prstGeom prst="roundRect">
            <a:avLst>
              <a:gd name="adj" fmla="val 6452"/>
            </a:avLst>
          </a:prstGeom>
          <a:solidFill>
            <a:srgbClr val="1E2761"/>
          </a:solidFill>
          <a:ln w="12700">
            <a:solidFill>
              <a:srgbClr val="1E2761"/>
            </a:solidFill>
            <a:prstDash val="solid"/>
          </a:ln>
        </p:spPr>
        <p:txBody>
          <a:bodyPr/>
          <a:lstStyle/>
          <a:p>
            <a:endParaRPr lang="en-US"/>
          </a:p>
        </p:txBody>
      </p:sp>
      <p:sp>
        <p:nvSpPr>
          <p:cNvPr id="22" name="Text 20"/>
          <p:cNvSpPr txBox="1"/>
          <p:nvPr/>
        </p:nvSpPr>
        <p:spPr>
          <a:xfrm>
            <a:off x="6080760" y="2788920"/>
            <a:ext cx="2377440" cy="566928"/>
          </a:xfrm>
          <a:prstGeom prst="rect">
            <a:avLst/>
          </a:prstGeom>
          <a:noFill/>
          <a:ln/>
        </p:spPr>
        <p:txBody>
          <a:bodyPr wrap="square" lIns="0" tIns="0" rIns="0" bIns="0" rtlCol="0" anchor="ctr"/>
          <a:lstStyle/>
          <a:p>
            <a:pPr marL="0" indent="0">
              <a:buNone/>
            </a:pPr>
            <a:r>
              <a:rPr lang="en-US" sz="1050" dirty="0">
                <a:solidFill>
                  <a:srgbClr val="FFFFFF"/>
                </a:solidFill>
                <a:latin typeface="Courier New" pitchFamily="34" charset="0"/>
                <a:ea typeface="Courier New" pitchFamily="34" charset="-122"/>
                <a:cs typeface="Courier New" pitchFamily="34" charset="-120"/>
              </a:rPr>
              <a:t>pytest tests/test_tax.py -v</a:t>
            </a:r>
            <a:endParaRPr lang="en-US" sz="1050" dirty="0"/>
          </a:p>
        </p:txBody>
      </p:sp>
      <p:sp>
        <p:nvSpPr>
          <p:cNvPr id="23" name="Text 21"/>
          <p:cNvSpPr txBox="1"/>
          <p:nvPr/>
        </p:nvSpPr>
        <p:spPr>
          <a:xfrm>
            <a:off x="6016752" y="3429000"/>
            <a:ext cx="2468880" cy="640080"/>
          </a:xfrm>
          <a:prstGeom prst="rect">
            <a:avLst/>
          </a:prstGeom>
          <a:noFill/>
          <a:ln/>
        </p:spPr>
        <p:txBody>
          <a:bodyPr wrap="square" lIns="0" tIns="0" rIns="0" bIns="0" rtlCol="0" anchor="t"/>
          <a:lstStyle/>
          <a:p>
            <a:pPr marL="0" indent="0">
              <a:buNone/>
            </a:pPr>
            <a:r>
              <a:rPr lang="en-US" sz="1200" b="1" dirty="0">
                <a:solidFill>
                  <a:srgbClr val="1B1B2A"/>
                </a:solidFill>
                <a:latin typeface="Calibri" pitchFamily="34" charset="0"/>
                <a:ea typeface="Calibri" pitchFamily="34" charset="-122"/>
                <a:cs typeface="Calibri" pitchFamily="34" charset="-120"/>
              </a:rPr>
              <a:t>Expect: </a:t>
            </a:r>
            <a:r>
              <a:rPr lang="en-US" sz="1200" dirty="0">
                <a:solidFill>
                  <a:srgbClr val="5B6472"/>
                </a:solidFill>
                <a:latin typeface="Calibri" pitchFamily="34" charset="0"/>
                <a:ea typeface="Calibri" pitchFamily="34" charset="-122"/>
                <a:cs typeface="Calibri" pitchFamily="34" charset="-120"/>
              </a:rPr>
              <a:t>6 passed, including 3 new region cases</a:t>
            </a:r>
            <a:endParaRPr lang="en-US" sz="1200" dirty="0"/>
          </a:p>
        </p:txBody>
      </p:sp>
      <p:sp>
        <p:nvSpPr>
          <p:cNvPr id="24" name="Shape 22"/>
          <p:cNvSpPr/>
          <p:nvPr/>
        </p:nvSpPr>
        <p:spPr>
          <a:xfrm>
            <a:off x="8851392" y="2377440"/>
            <a:ext cx="2788920" cy="1783080"/>
          </a:xfrm>
          <a:prstGeom prst="roundRect">
            <a:avLst>
              <a:gd name="adj" fmla="val 3077"/>
            </a:avLst>
          </a:prstGeom>
          <a:solidFill>
            <a:srgbClr val="F4F6FB"/>
          </a:solidFill>
          <a:ln w="12700">
            <a:solidFill>
              <a:srgbClr val="F4F6FB"/>
            </a:solidFill>
            <a:prstDash val="solid"/>
          </a:ln>
        </p:spPr>
        <p:txBody>
          <a:bodyPr/>
          <a:lstStyle/>
          <a:p>
            <a:endParaRPr lang="en-US"/>
          </a:p>
        </p:txBody>
      </p:sp>
      <p:sp>
        <p:nvSpPr>
          <p:cNvPr id="25" name="Text 23"/>
          <p:cNvSpPr txBox="1"/>
          <p:nvPr/>
        </p:nvSpPr>
        <p:spPr>
          <a:xfrm>
            <a:off x="9015984" y="2487168"/>
            <a:ext cx="2468880" cy="228600"/>
          </a:xfrm>
          <a:prstGeom prst="rect">
            <a:avLst/>
          </a:prstGeom>
          <a:noFill/>
          <a:ln/>
        </p:spPr>
        <p:txBody>
          <a:bodyPr wrap="square" lIns="0" tIns="0" rIns="0" bIns="0" rtlCol="0" anchor="ctr"/>
          <a:lstStyle/>
          <a:p>
            <a:pPr marL="0" indent="0">
              <a:buNone/>
            </a:pPr>
            <a:r>
              <a:rPr lang="en-US" sz="1000" b="1" kern="0" spc="200" dirty="0">
                <a:solidFill>
                  <a:srgbClr val="1E2761"/>
                </a:solidFill>
                <a:latin typeface="Calibri" pitchFamily="34" charset="0"/>
                <a:ea typeface="Calibri" pitchFamily="34" charset="-122"/>
                <a:cs typeface="Calibri" pitchFamily="34" charset="-120"/>
              </a:rPr>
              <a:t>CURL</a:t>
            </a:r>
            <a:endParaRPr lang="en-US" sz="1000" dirty="0"/>
          </a:p>
        </p:txBody>
      </p:sp>
      <p:sp>
        <p:nvSpPr>
          <p:cNvPr id="26" name="Shape 24"/>
          <p:cNvSpPr/>
          <p:nvPr/>
        </p:nvSpPr>
        <p:spPr>
          <a:xfrm>
            <a:off x="8988552" y="2788920"/>
            <a:ext cx="2514600" cy="566928"/>
          </a:xfrm>
          <a:prstGeom prst="roundRect">
            <a:avLst>
              <a:gd name="adj" fmla="val 6452"/>
            </a:avLst>
          </a:prstGeom>
          <a:solidFill>
            <a:srgbClr val="1E2761"/>
          </a:solidFill>
          <a:ln w="12700">
            <a:solidFill>
              <a:srgbClr val="1E2761"/>
            </a:solidFill>
            <a:prstDash val="solid"/>
          </a:ln>
        </p:spPr>
        <p:txBody>
          <a:bodyPr/>
          <a:lstStyle/>
          <a:p>
            <a:endParaRPr lang="en-US"/>
          </a:p>
        </p:txBody>
      </p:sp>
      <p:sp>
        <p:nvSpPr>
          <p:cNvPr id="27" name="Text 25"/>
          <p:cNvSpPr txBox="1"/>
          <p:nvPr/>
        </p:nvSpPr>
        <p:spPr>
          <a:xfrm>
            <a:off x="9079992" y="2788920"/>
            <a:ext cx="2377440" cy="566928"/>
          </a:xfrm>
          <a:prstGeom prst="rect">
            <a:avLst/>
          </a:prstGeom>
          <a:noFill/>
          <a:ln/>
        </p:spPr>
        <p:txBody>
          <a:bodyPr wrap="square" lIns="0" tIns="0" rIns="0" bIns="0" rtlCol="0" anchor="ctr"/>
          <a:lstStyle/>
          <a:p>
            <a:pPr marL="0" indent="0">
              <a:buNone/>
            </a:pPr>
            <a:r>
              <a:rPr lang="en-US" sz="1050" dirty="0">
                <a:solidFill>
                  <a:srgbClr val="FFFFFF"/>
                </a:solidFill>
                <a:latin typeface="Courier New" pitchFamily="34" charset="0"/>
                <a:ea typeface="Courier New" pitchFamily="34" charset="-122"/>
                <a:cs typeface="Courier New" pitchFamily="34" charset="-120"/>
              </a:rPr>
              <a:t>curl -i "localhost:8000/products/search?q="</a:t>
            </a:r>
            <a:endParaRPr lang="en-US" sz="1050" dirty="0"/>
          </a:p>
        </p:txBody>
      </p:sp>
      <p:sp>
        <p:nvSpPr>
          <p:cNvPr id="28" name="Text 26"/>
          <p:cNvSpPr txBox="1"/>
          <p:nvPr/>
        </p:nvSpPr>
        <p:spPr>
          <a:xfrm>
            <a:off x="9015984" y="3429000"/>
            <a:ext cx="2468880" cy="640080"/>
          </a:xfrm>
          <a:prstGeom prst="rect">
            <a:avLst/>
          </a:prstGeom>
          <a:noFill/>
          <a:ln/>
        </p:spPr>
        <p:txBody>
          <a:bodyPr wrap="square" lIns="0" tIns="0" rIns="0" bIns="0" rtlCol="0" anchor="t"/>
          <a:lstStyle/>
          <a:p>
            <a:pPr marL="0" indent="0">
              <a:buNone/>
            </a:pPr>
            <a:r>
              <a:rPr lang="en-US" sz="1200" b="1" dirty="0">
                <a:solidFill>
                  <a:srgbClr val="1B1B2A"/>
                </a:solidFill>
                <a:latin typeface="Calibri" pitchFamily="34" charset="0"/>
                <a:ea typeface="Calibri" pitchFamily="34" charset="-122"/>
                <a:cs typeface="Calibri" pitchFamily="34" charset="-120"/>
              </a:rPr>
              <a:t>Expect: </a:t>
            </a:r>
            <a:r>
              <a:rPr lang="en-US" sz="1200" dirty="0">
                <a:solidFill>
                  <a:srgbClr val="5B6472"/>
                </a:solidFill>
                <a:latin typeface="Calibri" pitchFamily="34" charset="0"/>
                <a:ea typeface="Calibri" pitchFamily="34" charset="-122"/>
                <a:cs typeface="Calibri" pitchFamily="34" charset="-120"/>
              </a:rPr>
              <a:t>HTTP 400 Bad Request</a:t>
            </a:r>
            <a:endParaRPr lang="en-US" sz="1200" dirty="0"/>
          </a:p>
        </p:txBody>
      </p:sp>
      <p:sp>
        <p:nvSpPr>
          <p:cNvPr id="29" name="Shape 27"/>
          <p:cNvSpPr/>
          <p:nvPr/>
        </p:nvSpPr>
        <p:spPr>
          <a:xfrm>
            <a:off x="5852160" y="4343400"/>
            <a:ext cx="2788920" cy="1783080"/>
          </a:xfrm>
          <a:prstGeom prst="roundRect">
            <a:avLst>
              <a:gd name="adj" fmla="val 3077"/>
            </a:avLst>
          </a:prstGeom>
          <a:solidFill>
            <a:srgbClr val="F4F6FB"/>
          </a:solidFill>
          <a:ln w="12700">
            <a:solidFill>
              <a:srgbClr val="F4F6FB"/>
            </a:solidFill>
            <a:prstDash val="solid"/>
          </a:ln>
        </p:spPr>
        <p:txBody>
          <a:bodyPr/>
          <a:lstStyle/>
          <a:p>
            <a:endParaRPr lang="en-US"/>
          </a:p>
        </p:txBody>
      </p:sp>
      <p:sp>
        <p:nvSpPr>
          <p:cNvPr id="30" name="Text 28"/>
          <p:cNvSpPr txBox="1"/>
          <p:nvPr/>
        </p:nvSpPr>
        <p:spPr>
          <a:xfrm>
            <a:off x="6016752" y="4453128"/>
            <a:ext cx="2468880" cy="228600"/>
          </a:xfrm>
          <a:prstGeom prst="rect">
            <a:avLst/>
          </a:prstGeom>
          <a:noFill/>
          <a:ln/>
        </p:spPr>
        <p:txBody>
          <a:bodyPr wrap="square" lIns="0" tIns="0" rIns="0" bIns="0" rtlCol="0" anchor="ctr"/>
          <a:lstStyle/>
          <a:p>
            <a:pPr marL="0" indent="0">
              <a:buNone/>
            </a:pPr>
            <a:r>
              <a:rPr lang="en-US" sz="1000" b="1" kern="0" spc="200" dirty="0">
                <a:solidFill>
                  <a:srgbClr val="1E2761"/>
                </a:solidFill>
                <a:latin typeface="Calibri" pitchFamily="34" charset="0"/>
                <a:ea typeface="Calibri" pitchFamily="34" charset="-122"/>
                <a:cs typeface="Calibri" pitchFamily="34" charset="-120"/>
              </a:rPr>
              <a:t>PAGE</a:t>
            </a:r>
            <a:endParaRPr lang="en-US" sz="1000" dirty="0"/>
          </a:p>
        </p:txBody>
      </p:sp>
      <p:sp>
        <p:nvSpPr>
          <p:cNvPr id="31" name="Shape 29"/>
          <p:cNvSpPr/>
          <p:nvPr/>
        </p:nvSpPr>
        <p:spPr>
          <a:xfrm>
            <a:off x="5989320" y="4754880"/>
            <a:ext cx="2514600" cy="566928"/>
          </a:xfrm>
          <a:prstGeom prst="roundRect">
            <a:avLst>
              <a:gd name="adj" fmla="val 6452"/>
            </a:avLst>
          </a:prstGeom>
          <a:solidFill>
            <a:srgbClr val="1E2761"/>
          </a:solidFill>
          <a:ln w="12700">
            <a:solidFill>
              <a:srgbClr val="1E2761"/>
            </a:solidFill>
            <a:prstDash val="solid"/>
          </a:ln>
        </p:spPr>
        <p:txBody>
          <a:bodyPr/>
          <a:lstStyle/>
          <a:p>
            <a:endParaRPr lang="en-US"/>
          </a:p>
        </p:txBody>
      </p:sp>
      <p:sp>
        <p:nvSpPr>
          <p:cNvPr id="32" name="Text 30"/>
          <p:cNvSpPr txBox="1"/>
          <p:nvPr/>
        </p:nvSpPr>
        <p:spPr>
          <a:xfrm>
            <a:off x="6080760" y="4754880"/>
            <a:ext cx="2377440" cy="566928"/>
          </a:xfrm>
          <a:prstGeom prst="rect">
            <a:avLst/>
          </a:prstGeom>
          <a:noFill/>
          <a:ln/>
        </p:spPr>
        <p:txBody>
          <a:bodyPr wrap="square" lIns="0" tIns="0" rIns="0" bIns="0" rtlCol="0" anchor="ctr"/>
          <a:lstStyle/>
          <a:p>
            <a:pPr marL="0" indent="0">
              <a:buNone/>
            </a:pPr>
            <a:r>
              <a:rPr lang="en-US" sz="1050" dirty="0">
                <a:solidFill>
                  <a:srgbClr val="FFFFFF"/>
                </a:solidFill>
                <a:latin typeface="Courier New" pitchFamily="34" charset="0"/>
                <a:ea typeface="Courier New" pitchFamily="34" charset="-122"/>
                <a:cs typeface="Courier New" pitchFamily="34" charset="-120"/>
              </a:rPr>
              <a:t>Open /products/42</a:t>
            </a:r>
            <a:endParaRPr lang="en-US" sz="1050" dirty="0"/>
          </a:p>
        </p:txBody>
      </p:sp>
      <p:sp>
        <p:nvSpPr>
          <p:cNvPr id="33" name="Text 31"/>
          <p:cNvSpPr txBox="1"/>
          <p:nvPr/>
        </p:nvSpPr>
        <p:spPr>
          <a:xfrm>
            <a:off x="6016752" y="5394960"/>
            <a:ext cx="2468880" cy="640080"/>
          </a:xfrm>
          <a:prstGeom prst="rect">
            <a:avLst/>
          </a:prstGeom>
          <a:noFill/>
          <a:ln/>
        </p:spPr>
        <p:txBody>
          <a:bodyPr wrap="square" lIns="0" tIns="0" rIns="0" bIns="0" rtlCol="0" anchor="t"/>
          <a:lstStyle/>
          <a:p>
            <a:pPr marL="0" indent="0">
              <a:buNone/>
            </a:pPr>
            <a:r>
              <a:rPr lang="en-US" sz="1200" b="1" dirty="0">
                <a:solidFill>
                  <a:srgbClr val="1B1B2A"/>
                </a:solidFill>
                <a:latin typeface="Calibri" pitchFamily="34" charset="0"/>
                <a:ea typeface="Calibri" pitchFamily="34" charset="-122"/>
                <a:cs typeface="Calibri" pitchFamily="34" charset="-120"/>
              </a:rPr>
              <a:t>Expect: </a:t>
            </a:r>
            <a:r>
              <a:rPr lang="en-US" sz="1200" dirty="0">
                <a:solidFill>
                  <a:srgbClr val="5B6472"/>
                </a:solidFill>
                <a:latin typeface="Calibri" pitchFamily="34" charset="0"/>
                <a:ea typeface="Calibri" pitchFamily="34" charset="-122"/>
                <a:cs typeface="Calibri" pitchFamily="34" charset="-120"/>
              </a:rPr>
              <a:t>4.5 stars shown; a product with no reviews says “No reviews yet”</a:t>
            </a:r>
            <a:endParaRPr lang="en-US" sz="1200" dirty="0"/>
          </a:p>
        </p:txBody>
      </p:sp>
      <p:sp>
        <p:nvSpPr>
          <p:cNvPr id="34" name="Shape 32"/>
          <p:cNvSpPr/>
          <p:nvPr/>
        </p:nvSpPr>
        <p:spPr>
          <a:xfrm>
            <a:off x="8851392" y="4343400"/>
            <a:ext cx="2788920" cy="1783080"/>
          </a:xfrm>
          <a:prstGeom prst="roundRect">
            <a:avLst>
              <a:gd name="adj" fmla="val 3077"/>
            </a:avLst>
          </a:prstGeom>
          <a:solidFill>
            <a:srgbClr val="F4F6FB"/>
          </a:solidFill>
          <a:ln w="12700">
            <a:solidFill>
              <a:srgbClr val="F4F6FB"/>
            </a:solidFill>
            <a:prstDash val="solid"/>
          </a:ln>
        </p:spPr>
        <p:txBody>
          <a:bodyPr/>
          <a:lstStyle/>
          <a:p>
            <a:endParaRPr lang="en-US"/>
          </a:p>
        </p:txBody>
      </p:sp>
      <p:sp>
        <p:nvSpPr>
          <p:cNvPr id="35" name="Text 33"/>
          <p:cNvSpPr txBox="1"/>
          <p:nvPr/>
        </p:nvSpPr>
        <p:spPr>
          <a:xfrm>
            <a:off x="9015984" y="4453128"/>
            <a:ext cx="2468880" cy="228600"/>
          </a:xfrm>
          <a:prstGeom prst="rect">
            <a:avLst/>
          </a:prstGeom>
          <a:noFill/>
          <a:ln/>
        </p:spPr>
        <p:txBody>
          <a:bodyPr wrap="square" lIns="0" tIns="0" rIns="0" bIns="0" rtlCol="0" anchor="ctr"/>
          <a:lstStyle/>
          <a:p>
            <a:pPr marL="0" indent="0">
              <a:buNone/>
            </a:pPr>
            <a:r>
              <a:rPr lang="en-US" sz="1000" b="1" kern="0" spc="200" dirty="0">
                <a:solidFill>
                  <a:srgbClr val="1E2761"/>
                </a:solidFill>
                <a:latin typeface="Calibri" pitchFamily="34" charset="0"/>
                <a:ea typeface="Calibri" pitchFamily="34" charset="-122"/>
                <a:cs typeface="Calibri" pitchFamily="34" charset="-120"/>
              </a:rPr>
              <a:t>LOG</a:t>
            </a:r>
            <a:endParaRPr lang="en-US" sz="1000" dirty="0"/>
          </a:p>
        </p:txBody>
      </p:sp>
      <p:sp>
        <p:nvSpPr>
          <p:cNvPr id="36" name="Shape 34"/>
          <p:cNvSpPr/>
          <p:nvPr/>
        </p:nvSpPr>
        <p:spPr>
          <a:xfrm>
            <a:off x="8988552" y="4754880"/>
            <a:ext cx="2514600" cy="566928"/>
          </a:xfrm>
          <a:prstGeom prst="roundRect">
            <a:avLst>
              <a:gd name="adj" fmla="val 6452"/>
            </a:avLst>
          </a:prstGeom>
          <a:solidFill>
            <a:srgbClr val="1E2761"/>
          </a:solidFill>
          <a:ln w="12700">
            <a:solidFill>
              <a:srgbClr val="1E2761"/>
            </a:solidFill>
            <a:prstDash val="solid"/>
          </a:ln>
        </p:spPr>
        <p:txBody>
          <a:bodyPr/>
          <a:lstStyle/>
          <a:p>
            <a:endParaRPr lang="en-US"/>
          </a:p>
        </p:txBody>
      </p:sp>
      <p:sp>
        <p:nvSpPr>
          <p:cNvPr id="37" name="Text 35"/>
          <p:cNvSpPr txBox="1"/>
          <p:nvPr/>
        </p:nvSpPr>
        <p:spPr>
          <a:xfrm>
            <a:off x="9079992" y="4754880"/>
            <a:ext cx="2377440" cy="566928"/>
          </a:xfrm>
          <a:prstGeom prst="rect">
            <a:avLst/>
          </a:prstGeom>
          <a:noFill/>
          <a:ln/>
        </p:spPr>
        <p:txBody>
          <a:bodyPr wrap="square" lIns="0" tIns="0" rIns="0" bIns="0" rtlCol="0" anchor="ctr"/>
          <a:lstStyle/>
          <a:p>
            <a:pPr marL="0" indent="0">
              <a:buNone/>
            </a:pPr>
            <a:r>
              <a:rPr lang="en-US" sz="1050" dirty="0">
                <a:solidFill>
                  <a:srgbClr val="FFFFFF"/>
                </a:solidFill>
                <a:latin typeface="Courier New" pitchFamily="34" charset="0"/>
                <a:ea typeface="Courier New" pitchFamily="34" charset="-122"/>
                <a:cs typeface="Courier New" pitchFamily="34" charset="-120"/>
              </a:rPr>
              <a:t>Fail login 5× as test@example.com</a:t>
            </a:r>
            <a:endParaRPr lang="en-US" sz="1050" dirty="0"/>
          </a:p>
        </p:txBody>
      </p:sp>
      <p:sp>
        <p:nvSpPr>
          <p:cNvPr id="38" name="Text 36"/>
          <p:cNvSpPr txBox="1"/>
          <p:nvPr/>
        </p:nvSpPr>
        <p:spPr>
          <a:xfrm>
            <a:off x="9015984" y="5394960"/>
            <a:ext cx="2468880" cy="640080"/>
          </a:xfrm>
          <a:prstGeom prst="rect">
            <a:avLst/>
          </a:prstGeom>
          <a:noFill/>
          <a:ln/>
        </p:spPr>
        <p:txBody>
          <a:bodyPr wrap="square" lIns="0" tIns="0" rIns="0" bIns="0" rtlCol="0" anchor="t"/>
          <a:lstStyle/>
          <a:p>
            <a:pPr marL="0" indent="0">
              <a:buNone/>
            </a:pPr>
            <a:r>
              <a:rPr lang="en-US" sz="1200" b="1" dirty="0">
                <a:solidFill>
                  <a:srgbClr val="1B1B2A"/>
                </a:solidFill>
                <a:latin typeface="Calibri" pitchFamily="34" charset="0"/>
                <a:ea typeface="Calibri" pitchFamily="34" charset="-122"/>
                <a:cs typeface="Calibri" pitchFamily="34" charset="-120"/>
              </a:rPr>
              <a:t>Expect: </a:t>
            </a:r>
            <a:r>
              <a:rPr lang="en-US" sz="1200" dirty="0">
                <a:solidFill>
                  <a:srgbClr val="5B6472"/>
                </a:solidFill>
                <a:latin typeface="Calibri" pitchFamily="34" charset="0"/>
                <a:ea typeface="Calibri" pitchFamily="34" charset="-122"/>
                <a:cs typeface="Calibri" pitchFamily="34" charset="-120"/>
              </a:rPr>
              <a:t>Log line: account locked: test@example.com</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7315200" cy="365760"/>
          </a:xfrm>
          <a:prstGeom prst="rect">
            <a:avLst/>
          </a:prstGeom>
          <a:noFill/>
          <a:ln/>
        </p:spPr>
        <p:txBody>
          <a:bodyPr wrap="square" lIns="0" tIns="0" rIns="0" bIns="0" rtlCol="0" anchor="ctr"/>
          <a:lstStyle/>
          <a:p>
            <a:pPr marL="0" indent="0">
              <a:buNone/>
            </a:pPr>
            <a:r>
              <a:rPr lang="en-US" sz="1200" b="1" kern="0" spc="200" dirty="0">
                <a:solidFill>
                  <a:srgbClr val="1E2761"/>
                </a:solidFill>
                <a:latin typeface="Calibri" pitchFamily="34" charset="0"/>
                <a:ea typeface="Calibri" pitchFamily="34" charset="-122"/>
                <a:cs typeface="Calibri" pitchFamily="34" charset="-120"/>
              </a:rPr>
              <a:t>MODULE 1 — WORKED EXAMPLE</a:t>
            </a:r>
            <a:endParaRPr lang="en-US" sz="1200" dirty="0"/>
          </a:p>
        </p:txBody>
      </p:sp>
      <p:sp>
        <p:nvSpPr>
          <p:cNvPr id="3" name="Text 1"/>
          <p:cNvSpPr txBox="1"/>
          <p:nvPr/>
        </p:nvSpPr>
        <p:spPr>
          <a:xfrm>
            <a:off x="548640" y="685800"/>
            <a:ext cx="9144000" cy="640080"/>
          </a:xfrm>
          <a:prstGeom prst="rect">
            <a:avLst/>
          </a:prstGeom>
          <a:noFill/>
          <a:ln/>
        </p:spPr>
        <p:txBody>
          <a:bodyPr wrap="square" lIns="0" tIns="0" rIns="0" bIns="0" rtlCol="0" anchor="ctr"/>
          <a:lstStyle/>
          <a:p>
            <a:pPr marL="0" indent="0">
              <a:buNone/>
            </a:pPr>
            <a:r>
              <a:rPr lang="en-US" sz="3000" b="1" dirty="0">
                <a:solidFill>
                  <a:srgbClr val="1B1B2A"/>
                </a:solidFill>
                <a:latin typeface="Cambria" pitchFamily="34" charset="0"/>
                <a:ea typeface="Cambria" pitchFamily="34" charset="-122"/>
                <a:cs typeface="Cambria" pitchFamily="34" charset="-120"/>
              </a:rPr>
              <a:t>Good Unit of Work vs. Bad</a:t>
            </a:r>
            <a:endParaRPr lang="en-US" sz="3000" dirty="0"/>
          </a:p>
        </p:txBody>
      </p:sp>
      <p:sp>
        <p:nvSpPr>
          <p:cNvPr id="4" name="Shape 2"/>
          <p:cNvSpPr/>
          <p:nvPr/>
        </p:nvSpPr>
        <p:spPr>
          <a:xfrm>
            <a:off x="548640" y="1554480"/>
            <a:ext cx="5394960" cy="4297680"/>
          </a:xfrm>
          <a:prstGeom prst="roundRect">
            <a:avLst>
              <a:gd name="adj" fmla="val 1702"/>
            </a:avLst>
          </a:prstGeom>
          <a:solidFill>
            <a:srgbClr val="F4F6FB"/>
          </a:solidFill>
          <a:ln/>
        </p:spPr>
        <p:txBody>
          <a:bodyPr/>
          <a:lstStyle/>
          <a:p>
            <a:endParaRPr lang="en-US"/>
          </a:p>
        </p:txBody>
      </p:sp>
      <p:sp>
        <p:nvSpPr>
          <p:cNvPr id="5" name="Text 3"/>
          <p:cNvSpPr txBox="1"/>
          <p:nvPr/>
        </p:nvSpPr>
        <p:spPr>
          <a:xfrm>
            <a:off x="822960" y="1783080"/>
            <a:ext cx="2743200" cy="365760"/>
          </a:xfrm>
          <a:prstGeom prst="rect">
            <a:avLst/>
          </a:prstGeom>
          <a:noFill/>
          <a:ln/>
        </p:spPr>
        <p:txBody>
          <a:bodyPr wrap="square" lIns="0" tIns="0" rIns="0" bIns="0" rtlCol="0" anchor="ctr"/>
          <a:lstStyle/>
          <a:p>
            <a:pPr marL="0" indent="0">
              <a:buNone/>
            </a:pPr>
            <a:r>
              <a:rPr lang="en-US" sz="1300" b="1" dirty="0">
                <a:solidFill>
                  <a:srgbClr val="B23A3A"/>
                </a:solidFill>
                <a:latin typeface="Calibri" pitchFamily="34" charset="0"/>
                <a:ea typeface="Calibri" pitchFamily="34" charset="-122"/>
                <a:cs typeface="Calibri" pitchFamily="34" charset="-120"/>
              </a:rPr>
              <a:t>BAD</a:t>
            </a:r>
            <a:endParaRPr lang="en-US" sz="1300" dirty="0"/>
          </a:p>
        </p:txBody>
      </p:sp>
      <p:sp>
        <p:nvSpPr>
          <p:cNvPr id="6" name="Text 4"/>
          <p:cNvSpPr txBox="1"/>
          <p:nvPr/>
        </p:nvSpPr>
        <p:spPr>
          <a:xfrm>
            <a:off x="822960" y="2194560"/>
            <a:ext cx="4846320" cy="731520"/>
          </a:xfrm>
          <a:prstGeom prst="rect">
            <a:avLst/>
          </a:prstGeom>
          <a:noFill/>
          <a:ln/>
        </p:spPr>
        <p:txBody>
          <a:bodyPr wrap="square" lIns="0" tIns="0" rIns="0" bIns="0" rtlCol="0" anchor="ctr"/>
          <a:lstStyle/>
          <a:p>
            <a:pPr marL="0" indent="0">
              <a:buNone/>
            </a:pPr>
            <a:r>
              <a:rPr lang="en-US" sz="2000" i="1" dirty="0">
                <a:solidFill>
                  <a:srgbClr val="1B1B2A"/>
                </a:solidFill>
                <a:latin typeface="Calibri" pitchFamily="34" charset="0"/>
                <a:ea typeface="Calibri" pitchFamily="34" charset="-122"/>
                <a:cs typeface="Calibri" pitchFamily="34" charset="-120"/>
              </a:rPr>
              <a:t>“Add workspaces to the app.”</a:t>
            </a:r>
            <a:endParaRPr lang="en-US" sz="2000" dirty="0"/>
          </a:p>
        </p:txBody>
      </p:sp>
      <p:sp>
        <p:nvSpPr>
          <p:cNvPr id="7" name="Text 5"/>
          <p:cNvSpPr txBox="1"/>
          <p:nvPr/>
        </p:nvSpPr>
        <p:spPr>
          <a:xfrm>
            <a:off x="822960" y="3017520"/>
            <a:ext cx="4846320" cy="2560320"/>
          </a:xfrm>
          <a:prstGeom prst="rect">
            <a:avLst/>
          </a:prstGeom>
          <a:noFill/>
          <a:ln/>
        </p:spPr>
        <p:txBody>
          <a:bodyPr wrap="square" lIns="0" tIns="0" rIns="0" bIns="0" rtlCol="0" anchor="ctr"/>
          <a:lstStyle/>
          <a:p>
            <a:pPr marL="285750" indent="-285750">
              <a:spcAft>
                <a:spcPts val="1000"/>
              </a:spcAft>
              <a:buSzPct val="100000"/>
              <a:buFont typeface="Arial" panose="020B0604020202020204" pitchFamily="34" charset="0"/>
              <a:buChar char="•"/>
            </a:pPr>
            <a:r>
              <a:rPr lang="en-US" dirty="0">
                <a:solidFill>
                  <a:srgbClr val="5B6472"/>
                </a:solidFill>
                <a:latin typeface="Calibri" pitchFamily="34" charset="0"/>
                <a:ea typeface="Calibri" pitchFamily="34" charset="-122"/>
                <a:cs typeface="Calibri" pitchFamily="34" charset="-120"/>
              </a:rPr>
              <a:t>Unbounded scope — touches schema, routes, templates, permissions at once</a:t>
            </a:r>
            <a:endParaRPr lang="en-US" dirty="0"/>
          </a:p>
          <a:p>
            <a:pPr marL="285750" indent="-285750">
              <a:spcAft>
                <a:spcPts val="1000"/>
              </a:spcAft>
              <a:buFont typeface="Arial" panose="020B0604020202020204" pitchFamily="34" charset="0"/>
              <a:buChar char="•"/>
            </a:pPr>
            <a:r>
              <a:rPr lang="en-US" dirty="0">
                <a:solidFill>
                  <a:srgbClr val="5B6472"/>
                </a:solidFill>
                <a:latin typeface="Calibri" pitchFamily="34" charset="0"/>
                <a:ea typeface="Calibri" pitchFamily="34" charset="-122"/>
                <a:cs typeface="Calibri" pitchFamily="34" charset="-120"/>
              </a:rPr>
              <a:t>No acceptance criteria</a:t>
            </a:r>
            <a:endParaRPr lang="en-US" dirty="0"/>
          </a:p>
          <a:p>
            <a:pPr marL="285750" indent="-285750">
              <a:spcAft>
                <a:spcPts val="1000"/>
              </a:spcAft>
              <a:buFont typeface="Arial" panose="020B0604020202020204" pitchFamily="34" charset="0"/>
              <a:buChar char="•"/>
            </a:pPr>
            <a:r>
              <a:rPr lang="en-US" dirty="0">
                <a:solidFill>
                  <a:srgbClr val="5B6472"/>
                </a:solidFill>
                <a:latin typeface="Calibri" pitchFamily="34" charset="0"/>
                <a:ea typeface="Calibri" pitchFamily="34" charset="-122"/>
                <a:cs typeface="Calibri" pitchFamily="34" charset="-120"/>
              </a:rPr>
              <a:t>No stated dependencies</a:t>
            </a:r>
            <a:endParaRPr lang="en-US" dirty="0"/>
          </a:p>
          <a:p>
            <a:pPr marL="285750" indent="-285750">
              <a:spcAft>
                <a:spcPts val="1000"/>
              </a:spcAft>
              <a:buFont typeface="Arial" panose="020B0604020202020204" pitchFamily="34" charset="0"/>
              <a:buChar char="•"/>
            </a:pPr>
            <a:r>
              <a:rPr lang="en-US" dirty="0">
                <a:solidFill>
                  <a:srgbClr val="5B6472"/>
                </a:solidFill>
                <a:latin typeface="Calibri" pitchFamily="34" charset="0"/>
                <a:ea typeface="Calibri" pitchFamily="34" charset="-122"/>
                <a:cs typeface="Calibri" pitchFamily="34" charset="-120"/>
              </a:rPr>
              <a:t>No way to verify partial progress</a:t>
            </a:r>
            <a:endParaRPr lang="en-US" dirty="0"/>
          </a:p>
        </p:txBody>
      </p:sp>
      <p:sp>
        <p:nvSpPr>
          <p:cNvPr id="8" name="Shape 6"/>
          <p:cNvSpPr/>
          <p:nvPr/>
        </p:nvSpPr>
        <p:spPr>
          <a:xfrm>
            <a:off x="6217920" y="1554480"/>
            <a:ext cx="5394960" cy="4297680"/>
          </a:xfrm>
          <a:prstGeom prst="roundRect">
            <a:avLst>
              <a:gd name="adj" fmla="val 1702"/>
            </a:avLst>
          </a:prstGeom>
          <a:solidFill>
            <a:srgbClr val="1E2761"/>
          </a:solidFill>
          <a:ln/>
        </p:spPr>
        <p:txBody>
          <a:bodyPr/>
          <a:lstStyle/>
          <a:p>
            <a:endParaRPr lang="en-US"/>
          </a:p>
        </p:txBody>
      </p:sp>
      <p:sp>
        <p:nvSpPr>
          <p:cNvPr id="9" name="Text 7"/>
          <p:cNvSpPr txBox="1"/>
          <p:nvPr/>
        </p:nvSpPr>
        <p:spPr>
          <a:xfrm>
            <a:off x="6492240" y="1783080"/>
            <a:ext cx="2743200" cy="365760"/>
          </a:xfrm>
          <a:prstGeom prst="rect">
            <a:avLst/>
          </a:prstGeom>
          <a:noFill/>
          <a:ln/>
        </p:spPr>
        <p:txBody>
          <a:bodyPr wrap="square" lIns="0" tIns="0" rIns="0" bIns="0" rtlCol="0" anchor="ctr"/>
          <a:lstStyle/>
          <a:p>
            <a:pPr marL="0" indent="0">
              <a:buNone/>
            </a:pPr>
            <a:r>
              <a:rPr lang="en-US" sz="1300" b="1" dirty="0">
                <a:solidFill>
                  <a:srgbClr val="7CFC9C"/>
                </a:solidFill>
                <a:latin typeface="Calibri" pitchFamily="34" charset="0"/>
                <a:ea typeface="Calibri" pitchFamily="34" charset="-122"/>
                <a:cs typeface="Calibri" pitchFamily="34" charset="-120"/>
              </a:rPr>
              <a:t>GOOD</a:t>
            </a:r>
            <a:endParaRPr lang="en-US" sz="1300" dirty="0"/>
          </a:p>
        </p:txBody>
      </p:sp>
      <p:sp>
        <p:nvSpPr>
          <p:cNvPr id="10" name="Text 8"/>
          <p:cNvSpPr txBox="1"/>
          <p:nvPr/>
        </p:nvSpPr>
        <p:spPr>
          <a:xfrm>
            <a:off x="6492240" y="2194560"/>
            <a:ext cx="4846320" cy="914400"/>
          </a:xfrm>
          <a:prstGeom prst="rect">
            <a:avLst/>
          </a:prstGeom>
          <a:noFill/>
          <a:ln/>
        </p:spPr>
        <p:txBody>
          <a:bodyPr wrap="square" lIns="0" tIns="0" rIns="0" bIns="0" rtlCol="0" anchor="ctr"/>
          <a:lstStyle/>
          <a:p>
            <a:pPr marL="0" indent="0">
              <a:buNone/>
            </a:pPr>
            <a:r>
              <a:rPr lang="en-US" sz="2000" dirty="0">
                <a:solidFill>
                  <a:srgbClr val="FFFFFF"/>
                </a:solidFill>
                <a:latin typeface="Calibri" pitchFamily="34" charset="0"/>
                <a:ea typeface="Calibri" pitchFamily="34" charset="-122"/>
                <a:cs typeface="Calibri" pitchFamily="34" charset="-120"/>
              </a:rPr>
              <a:t>Workspace &amp; membership schema… with named accessor functions, acceptance criteria, and a stated “blocks” list.</a:t>
            </a:r>
            <a:endParaRPr lang="en-US" sz="2000" dirty="0"/>
          </a:p>
        </p:txBody>
      </p:sp>
      <p:sp>
        <p:nvSpPr>
          <p:cNvPr id="11" name="Text 9"/>
          <p:cNvSpPr txBox="1"/>
          <p:nvPr/>
        </p:nvSpPr>
        <p:spPr>
          <a:xfrm>
            <a:off x="6492240" y="3246120"/>
            <a:ext cx="4846320" cy="2377440"/>
          </a:xfrm>
          <a:prstGeom prst="rect">
            <a:avLst/>
          </a:prstGeom>
          <a:noFill/>
          <a:ln/>
        </p:spPr>
        <p:txBody>
          <a:bodyPr wrap="square" lIns="0" tIns="0" rIns="0" bIns="0" rtlCol="0" anchor="ctr"/>
          <a:lstStyle/>
          <a:p>
            <a:pPr marL="285750" indent="-285750">
              <a:spcAft>
                <a:spcPts val="1000"/>
              </a:spcAft>
              <a:buSzPct val="100000"/>
              <a:buFont typeface="Arial" panose="020B0604020202020204" pitchFamily="34" charset="0"/>
              <a:buChar char="•"/>
            </a:pPr>
            <a:r>
              <a:rPr lang="en-US" dirty="0">
                <a:solidFill>
                  <a:srgbClr val="CADCFC"/>
                </a:solidFill>
                <a:latin typeface="Calibri" pitchFamily="34" charset="0"/>
                <a:ea typeface="Calibri" pitchFamily="34" charset="-122"/>
                <a:cs typeface="Calibri" pitchFamily="34" charset="-120"/>
              </a:rPr>
              <a:t>Existing tests still pass unmodified</a:t>
            </a:r>
            <a:endParaRPr lang="en-US" dirty="0"/>
          </a:p>
          <a:p>
            <a:pPr marL="285750" indent="-285750">
              <a:spcAft>
                <a:spcPts val="1000"/>
              </a:spcAft>
              <a:buFont typeface="Arial" panose="020B0604020202020204" pitchFamily="34" charset="0"/>
              <a:buChar char="•"/>
            </a:pPr>
            <a:r>
              <a:rPr lang="en-US" dirty="0">
                <a:solidFill>
                  <a:srgbClr val="CADCFC"/>
                </a:solidFill>
                <a:latin typeface="Calibri" pitchFamily="34" charset="0"/>
                <a:ea typeface="Calibri" pitchFamily="34" charset="-122"/>
                <a:cs typeface="Calibri" pitchFamily="34" charset="-120"/>
              </a:rPr>
              <a:t>New accessor functions named explicitly</a:t>
            </a:r>
            <a:endParaRPr lang="en-US" dirty="0"/>
          </a:p>
          <a:p>
            <a:pPr marL="285750" indent="-285750">
              <a:spcAft>
                <a:spcPts val="1000"/>
              </a:spcAft>
              <a:buFont typeface="Arial" panose="020B0604020202020204" pitchFamily="34" charset="0"/>
              <a:buChar char="•"/>
            </a:pPr>
            <a:r>
              <a:rPr lang="en-US" dirty="0">
                <a:solidFill>
                  <a:srgbClr val="CADCFC"/>
                </a:solidFill>
                <a:latin typeface="Calibri" pitchFamily="34" charset="0"/>
                <a:ea typeface="Calibri" pitchFamily="34" charset="-122"/>
                <a:cs typeface="Calibri" pitchFamily="34" charset="-120"/>
              </a:rPr>
              <a:t>A new test file covers the new behavior</a:t>
            </a:r>
            <a:endParaRPr lang="en-US" dirty="0"/>
          </a:p>
          <a:p>
            <a:pPr marL="285750" indent="-285750">
              <a:spcAft>
                <a:spcPts val="1000"/>
              </a:spcAft>
              <a:buFont typeface="Arial" panose="020B0604020202020204" pitchFamily="34" charset="0"/>
              <a:buChar char="•"/>
            </a:pPr>
            <a:r>
              <a:rPr lang="en-US" dirty="0">
                <a:solidFill>
                  <a:srgbClr val="CADCFC"/>
                </a:solidFill>
                <a:latin typeface="Calibri" pitchFamily="34" charset="0"/>
                <a:ea typeface="Calibri" pitchFamily="34" charset="-122"/>
                <a:cs typeface="Calibri" pitchFamily="34" charset="-120"/>
              </a:rPr>
              <a:t>Depends on nothing; blocks three other units</a:t>
            </a: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7315200" cy="365760"/>
          </a:xfrm>
          <a:prstGeom prst="rect">
            <a:avLst/>
          </a:prstGeom>
          <a:noFill/>
          <a:ln/>
        </p:spPr>
        <p:txBody>
          <a:bodyPr wrap="square" lIns="0" tIns="0" rIns="0" bIns="0" rtlCol="0" anchor="ctr"/>
          <a:lstStyle/>
          <a:p>
            <a:pPr marL="0" indent="0">
              <a:buNone/>
            </a:pPr>
            <a:r>
              <a:rPr lang="en-US" sz="1200" b="1" kern="0" spc="200" dirty="0">
                <a:solidFill>
                  <a:srgbClr val="1E2761"/>
                </a:solidFill>
                <a:latin typeface="Calibri" pitchFamily="34" charset="0"/>
                <a:ea typeface="Calibri" pitchFamily="34" charset="-122"/>
                <a:cs typeface="Calibri" pitchFamily="34" charset="-120"/>
              </a:rPr>
              <a:t>MODULE 1 — WORKED EXAMPLE, PART 1 OF 2</a:t>
            </a:r>
            <a:endParaRPr lang="en-US" sz="1200" dirty="0"/>
          </a:p>
        </p:txBody>
      </p:sp>
      <p:sp>
        <p:nvSpPr>
          <p:cNvPr id="3" name="Text 1"/>
          <p:cNvSpPr txBox="1"/>
          <p:nvPr/>
        </p:nvSpPr>
        <p:spPr>
          <a:xfrm>
            <a:off x="548640" y="685800"/>
            <a:ext cx="10515600" cy="640080"/>
          </a:xfrm>
          <a:prstGeom prst="rect">
            <a:avLst/>
          </a:prstGeom>
          <a:noFill/>
          <a:ln/>
        </p:spPr>
        <p:txBody>
          <a:bodyPr wrap="square" lIns="0" tIns="0" rIns="0" bIns="0" rtlCol="0" anchor="ctr"/>
          <a:lstStyle/>
          <a:p>
            <a:pPr marL="0" indent="0">
              <a:buNone/>
            </a:pPr>
            <a:r>
              <a:rPr lang="en-US" sz="3000" b="1" dirty="0">
                <a:solidFill>
                  <a:srgbClr val="1B1B2A"/>
                </a:solidFill>
                <a:latin typeface="Cambria" pitchFamily="34" charset="0"/>
                <a:ea typeface="Cambria" pitchFamily="34" charset="-122"/>
                <a:cs typeface="Cambria" pitchFamily="34" charset="-120"/>
              </a:rPr>
              <a:t>The Schema Unit: Scope and Criteria</a:t>
            </a:r>
            <a:endParaRPr lang="en-US" sz="3000" dirty="0"/>
          </a:p>
        </p:txBody>
      </p:sp>
      <p:sp>
        <p:nvSpPr>
          <p:cNvPr id="4" name="Text 2"/>
          <p:cNvSpPr txBox="1"/>
          <p:nvPr/>
        </p:nvSpPr>
        <p:spPr>
          <a:xfrm>
            <a:off x="548640" y="1325880"/>
            <a:ext cx="10972800" cy="457200"/>
          </a:xfrm>
          <a:prstGeom prst="rect">
            <a:avLst/>
          </a:prstGeom>
          <a:noFill/>
          <a:ln/>
        </p:spPr>
        <p:txBody>
          <a:bodyPr wrap="square" lIns="0" tIns="0" rIns="0" bIns="0" rtlCol="0" anchor="ctr"/>
          <a:lstStyle/>
          <a:p>
            <a:pPr marL="0" indent="0">
              <a:buNone/>
            </a:pPr>
            <a:r>
              <a:rPr lang="en-US" sz="1600" i="1" dirty="0">
                <a:solidFill>
                  <a:srgbClr val="5B6472"/>
                </a:solidFill>
                <a:latin typeface="Calibri" pitchFamily="34" charset="0"/>
                <a:ea typeface="Calibri" pitchFamily="34" charset="-122"/>
                <a:cs typeface="Calibri" pitchFamily="34" charset="-120"/>
              </a:rPr>
              <a:t>Unit 1 of today’s feature request, written out step by step. This one is given; you’ll write Units 2–4.</a:t>
            </a:r>
            <a:endParaRPr lang="en-US" sz="1600" dirty="0"/>
          </a:p>
        </p:txBody>
      </p:sp>
      <p:sp>
        <p:nvSpPr>
          <p:cNvPr id="5" name="Shape 3"/>
          <p:cNvSpPr/>
          <p:nvPr/>
        </p:nvSpPr>
        <p:spPr>
          <a:xfrm>
            <a:off x="548640" y="2011680"/>
            <a:ext cx="384048" cy="384048"/>
          </a:xfrm>
          <a:prstGeom prst="ellipse">
            <a:avLst/>
          </a:prstGeom>
          <a:solidFill>
            <a:srgbClr val="1E2761"/>
          </a:solidFill>
          <a:ln w="12700">
            <a:solidFill>
              <a:srgbClr val="1E2761"/>
            </a:solidFill>
            <a:prstDash val="solid"/>
          </a:ln>
        </p:spPr>
        <p:txBody>
          <a:bodyPr/>
          <a:lstStyle/>
          <a:p>
            <a:endParaRPr lang="en-US"/>
          </a:p>
        </p:txBody>
      </p:sp>
      <p:sp>
        <p:nvSpPr>
          <p:cNvPr id="6" name="Text 4"/>
          <p:cNvSpPr txBox="1"/>
          <p:nvPr/>
        </p:nvSpPr>
        <p:spPr>
          <a:xfrm>
            <a:off x="548640" y="201168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1097280" y="2011680"/>
            <a:ext cx="4572000" cy="384048"/>
          </a:xfrm>
          <a:prstGeom prst="rect">
            <a:avLst/>
          </a:prstGeom>
          <a:noFill/>
          <a:ln/>
        </p:spPr>
        <p:txBody>
          <a:bodyPr wrap="square" lIns="0" tIns="0" rIns="0" bIns="0" rtlCol="0" anchor="ctr"/>
          <a:lstStyle/>
          <a:p>
            <a:pPr marL="0" indent="0">
              <a:buNone/>
            </a:pPr>
            <a:r>
              <a:rPr lang="en-US" sz="2000" b="1" dirty="0">
                <a:solidFill>
                  <a:srgbClr val="1B1B2A"/>
                </a:solidFill>
                <a:latin typeface="Calibri" pitchFamily="34" charset="0"/>
                <a:ea typeface="Calibri" pitchFamily="34" charset="-122"/>
                <a:cs typeface="Calibri" pitchFamily="34" charset="-120"/>
              </a:rPr>
              <a:t>Description</a:t>
            </a:r>
            <a:endParaRPr lang="en-US" sz="2000" dirty="0"/>
          </a:p>
        </p:txBody>
      </p:sp>
      <p:sp>
        <p:nvSpPr>
          <p:cNvPr id="8" name="Shape 6"/>
          <p:cNvSpPr/>
          <p:nvPr/>
        </p:nvSpPr>
        <p:spPr>
          <a:xfrm>
            <a:off x="548640" y="2606040"/>
            <a:ext cx="5394960" cy="3611880"/>
          </a:xfrm>
          <a:prstGeom prst="roundRect">
            <a:avLst>
              <a:gd name="adj" fmla="val 1519"/>
            </a:avLst>
          </a:prstGeom>
          <a:solidFill>
            <a:srgbClr val="F4F6FB"/>
          </a:solidFill>
          <a:ln w="12700">
            <a:solidFill>
              <a:srgbClr val="F4F6FB"/>
            </a:solidFill>
            <a:prstDash val="solid"/>
          </a:ln>
        </p:spPr>
        <p:txBody>
          <a:bodyPr/>
          <a:lstStyle/>
          <a:p>
            <a:endParaRPr lang="en-US"/>
          </a:p>
        </p:txBody>
      </p:sp>
      <p:sp>
        <p:nvSpPr>
          <p:cNvPr id="9" name="Text 7"/>
          <p:cNvSpPr txBox="1"/>
          <p:nvPr/>
        </p:nvSpPr>
        <p:spPr>
          <a:xfrm>
            <a:off x="777240" y="2788920"/>
            <a:ext cx="4983480" cy="521208"/>
          </a:xfrm>
          <a:prstGeom prst="rect">
            <a:avLst/>
          </a:prstGeom>
          <a:noFill/>
          <a:ln/>
        </p:spPr>
        <p:txBody>
          <a:bodyPr wrap="square" lIns="0" tIns="0" rIns="0" bIns="0" rtlCol="0" anchor="t"/>
          <a:lstStyle/>
          <a:p>
            <a:pPr marL="0" indent="0">
              <a:buNone/>
            </a:pPr>
            <a:r>
              <a:rPr lang="en-US" sz="1400" b="1" dirty="0">
                <a:solidFill>
                  <a:srgbClr val="1E2761"/>
                </a:solidFill>
                <a:latin typeface="Calibri" pitchFamily="34" charset="0"/>
                <a:ea typeface="Calibri" pitchFamily="34" charset="-122"/>
                <a:cs typeface="Calibri" pitchFamily="34" charset="-120"/>
              </a:rPr>
              <a:t>Touches: </a:t>
            </a:r>
            <a:r>
              <a:rPr lang="en-US" sz="1400" dirty="0">
                <a:solidFill>
                  <a:srgbClr val="1E2761"/>
                </a:solidFill>
                <a:latin typeface="Consolas" pitchFamily="34" charset="0"/>
                <a:ea typeface="Consolas" pitchFamily="34" charset="-122"/>
                <a:cs typeface="Consolas" pitchFamily="34" charset="-120"/>
              </a:rPr>
              <a:t>app/db.py</a:t>
            </a:r>
            <a:r>
              <a:rPr lang="en-US" sz="1400" dirty="0">
                <a:solidFill>
                  <a:srgbClr val="1B1B2A"/>
                </a:solidFill>
                <a:latin typeface="Calibri" pitchFamily="34" charset="0"/>
                <a:ea typeface="Calibri" pitchFamily="34" charset="-122"/>
                <a:cs typeface="Calibri" pitchFamily="34" charset="-120"/>
              </a:rPr>
              <a:t>, plus a new </a:t>
            </a:r>
            <a:r>
              <a:rPr lang="en-US" sz="1400" dirty="0">
                <a:solidFill>
                  <a:srgbClr val="1E2761"/>
                </a:solidFill>
                <a:latin typeface="Consolas" pitchFamily="34" charset="0"/>
                <a:ea typeface="Consolas" pitchFamily="34" charset="-122"/>
                <a:cs typeface="Consolas" pitchFamily="34" charset="-120"/>
              </a:rPr>
              <a:t>tests/test_workspaces.py</a:t>
            </a:r>
            <a:endParaRPr lang="en-US" sz="1400" dirty="0"/>
          </a:p>
        </p:txBody>
      </p:sp>
      <p:sp>
        <p:nvSpPr>
          <p:cNvPr id="10" name="Text 8"/>
          <p:cNvSpPr txBox="1"/>
          <p:nvPr/>
        </p:nvSpPr>
        <p:spPr>
          <a:xfrm>
            <a:off x="777240" y="3383280"/>
            <a:ext cx="4983480" cy="795528"/>
          </a:xfrm>
          <a:prstGeom prst="rect">
            <a:avLst/>
          </a:prstGeom>
          <a:noFill/>
          <a:ln/>
        </p:spPr>
        <p:txBody>
          <a:bodyPr wrap="square" lIns="0" tIns="0" rIns="0" bIns="0" rtlCol="0" anchor="t"/>
          <a:lstStyle/>
          <a:p>
            <a:pPr marL="0" indent="0">
              <a:buNone/>
            </a:pPr>
            <a:r>
              <a:rPr lang="en-US" sz="1400" b="1" dirty="0">
                <a:solidFill>
                  <a:srgbClr val="1E2761"/>
                </a:solidFill>
                <a:latin typeface="Calibri" pitchFamily="34" charset="0"/>
                <a:ea typeface="Calibri" pitchFamily="34" charset="-122"/>
                <a:cs typeface="Calibri" pitchFamily="34" charset="-120"/>
              </a:rPr>
              <a:t>Adds: </a:t>
            </a:r>
            <a:r>
              <a:rPr lang="en-US" sz="1400" dirty="0">
                <a:solidFill>
                  <a:srgbClr val="1E2761"/>
                </a:solidFill>
                <a:latin typeface="Consolas" pitchFamily="34" charset="0"/>
                <a:ea typeface="Consolas" pitchFamily="34" charset="-122"/>
                <a:cs typeface="Consolas" pitchFamily="34" charset="-120"/>
              </a:rPr>
              <a:t>workspace (id, name)</a:t>
            </a:r>
            <a:r>
              <a:rPr lang="en-US" sz="1400" dirty="0">
                <a:solidFill>
                  <a:srgbClr val="1B1B2A"/>
                </a:solidFill>
                <a:latin typeface="Calibri" pitchFamily="34" charset="0"/>
                <a:ea typeface="Calibri" pitchFamily="34" charset="-122"/>
                <a:cs typeface="Calibri" pitchFamily="34" charset="-120"/>
              </a:rPr>
              <a:t> and </a:t>
            </a:r>
            <a:r>
              <a:rPr lang="en-US" sz="1400" dirty="0">
                <a:solidFill>
                  <a:srgbClr val="1E2761"/>
                </a:solidFill>
                <a:latin typeface="Consolas" pitchFamily="34" charset="0"/>
                <a:ea typeface="Consolas" pitchFamily="34" charset="-122"/>
                <a:cs typeface="Consolas" pitchFamily="34" charset="-120"/>
              </a:rPr>
              <a:t>workspace_member (workspace_id, user_id, role)</a:t>
            </a:r>
            <a:r>
              <a:rPr lang="en-US" sz="1400" dirty="0">
                <a:solidFill>
                  <a:srgbClr val="1B1B2A"/>
                </a:solidFill>
                <a:latin typeface="Calibri" pitchFamily="34" charset="0"/>
                <a:ea typeface="Calibri" pitchFamily="34" charset="-122"/>
                <a:cs typeface="Calibri" pitchFamily="34" charset="-120"/>
              </a:rPr>
              <a:t>, role </a:t>
            </a:r>
            <a:r>
              <a:rPr lang="en-US" sz="1400" dirty="0">
                <a:solidFill>
                  <a:srgbClr val="1E2761"/>
                </a:solidFill>
                <a:latin typeface="Consolas" pitchFamily="34" charset="0"/>
                <a:ea typeface="Consolas" pitchFamily="34" charset="-122"/>
                <a:cs typeface="Consolas" pitchFamily="34" charset="-120"/>
              </a:rPr>
              <a:t>'admin'</a:t>
            </a:r>
            <a:r>
              <a:rPr lang="en-US" sz="1400" dirty="0">
                <a:solidFill>
                  <a:srgbClr val="1B1B2A"/>
                </a:solidFill>
                <a:latin typeface="Calibri" pitchFamily="34" charset="0"/>
                <a:ea typeface="Calibri" pitchFamily="34" charset="-122"/>
                <a:cs typeface="Calibri" pitchFamily="34" charset="-120"/>
              </a:rPr>
              <a:t> or </a:t>
            </a:r>
            <a:r>
              <a:rPr lang="en-US" sz="1400" dirty="0">
                <a:solidFill>
                  <a:srgbClr val="1E2761"/>
                </a:solidFill>
                <a:latin typeface="Consolas" pitchFamily="34" charset="0"/>
                <a:ea typeface="Consolas" pitchFamily="34" charset="-122"/>
                <a:cs typeface="Consolas" pitchFamily="34" charset="-120"/>
              </a:rPr>
              <a:t>'member'</a:t>
            </a:r>
            <a:endParaRPr lang="en-US" sz="1400" dirty="0"/>
          </a:p>
        </p:txBody>
      </p:sp>
      <p:sp>
        <p:nvSpPr>
          <p:cNvPr id="11" name="Text 9"/>
          <p:cNvSpPr txBox="1"/>
          <p:nvPr/>
        </p:nvSpPr>
        <p:spPr>
          <a:xfrm>
            <a:off x="777240" y="4251960"/>
            <a:ext cx="4983480" cy="566928"/>
          </a:xfrm>
          <a:prstGeom prst="rect">
            <a:avLst/>
          </a:prstGeom>
          <a:noFill/>
          <a:ln/>
        </p:spPr>
        <p:txBody>
          <a:bodyPr wrap="square" lIns="0" tIns="0" rIns="0" bIns="0" rtlCol="0" anchor="t"/>
          <a:lstStyle/>
          <a:p>
            <a:pPr marL="0" indent="0">
              <a:buNone/>
            </a:pPr>
            <a:r>
              <a:rPr lang="en-US" sz="1400" b="1" dirty="0">
                <a:solidFill>
                  <a:srgbClr val="1E2761"/>
                </a:solidFill>
                <a:latin typeface="Calibri" pitchFamily="34" charset="0"/>
                <a:ea typeface="Calibri" pitchFamily="34" charset="-122"/>
                <a:cs typeface="Calibri" pitchFamily="34" charset="-120"/>
              </a:rPr>
              <a:t>Alters: </a:t>
            </a:r>
            <a:r>
              <a:rPr lang="en-US" sz="1400" dirty="0">
                <a:solidFill>
                  <a:srgbClr val="1E2761"/>
                </a:solidFill>
                <a:latin typeface="Consolas" pitchFamily="34" charset="0"/>
                <a:ea typeface="Consolas" pitchFamily="34" charset="-122"/>
                <a:cs typeface="Consolas" pitchFamily="34" charset="-120"/>
              </a:rPr>
              <a:t>task</a:t>
            </a:r>
            <a:r>
              <a:rPr lang="en-US" sz="1400" dirty="0">
                <a:solidFill>
                  <a:srgbClr val="1B1B2A"/>
                </a:solidFill>
                <a:latin typeface="Calibri" pitchFamily="34" charset="0"/>
                <a:ea typeface="Calibri" pitchFamily="34" charset="-122"/>
                <a:cs typeface="Calibri" pitchFamily="34" charset="-120"/>
              </a:rPr>
              <a:t> gets a nullable </a:t>
            </a:r>
            <a:r>
              <a:rPr lang="en-US" sz="1400" dirty="0">
                <a:solidFill>
                  <a:srgbClr val="1E2761"/>
                </a:solidFill>
                <a:latin typeface="Consolas" pitchFamily="34" charset="0"/>
                <a:ea typeface="Consolas" pitchFamily="34" charset="-122"/>
                <a:cs typeface="Consolas" pitchFamily="34" charset="-120"/>
              </a:rPr>
              <a:t>workspace_id</a:t>
            </a:r>
            <a:r>
              <a:rPr lang="en-US" sz="1400" dirty="0">
                <a:solidFill>
                  <a:srgbClr val="1B1B2A"/>
                </a:solidFill>
                <a:latin typeface="Calibri" pitchFamily="34" charset="0"/>
                <a:ea typeface="Calibri" pitchFamily="34" charset="-122"/>
                <a:cs typeface="Calibri" pitchFamily="34" charset="-120"/>
              </a:rPr>
              <a:t>, so existing rows don’t break</a:t>
            </a:r>
            <a:endParaRPr lang="en-US" sz="1400" dirty="0"/>
          </a:p>
        </p:txBody>
      </p:sp>
      <p:sp>
        <p:nvSpPr>
          <p:cNvPr id="12" name="Text 10"/>
          <p:cNvSpPr txBox="1"/>
          <p:nvPr/>
        </p:nvSpPr>
        <p:spPr>
          <a:xfrm>
            <a:off x="777240" y="4892040"/>
            <a:ext cx="4983480" cy="566928"/>
          </a:xfrm>
          <a:prstGeom prst="rect">
            <a:avLst/>
          </a:prstGeom>
          <a:noFill/>
          <a:ln/>
        </p:spPr>
        <p:txBody>
          <a:bodyPr wrap="square" lIns="0" tIns="0" rIns="0" bIns="0" rtlCol="0" anchor="t"/>
          <a:lstStyle/>
          <a:p>
            <a:pPr marL="0" indent="0">
              <a:buNone/>
            </a:pPr>
            <a:r>
              <a:rPr lang="en-US" sz="1400" b="1" dirty="0">
                <a:solidFill>
                  <a:srgbClr val="1E2761"/>
                </a:solidFill>
                <a:latin typeface="Calibri" pitchFamily="34" charset="0"/>
                <a:ea typeface="Calibri" pitchFamily="34" charset="-122"/>
                <a:cs typeface="Calibri" pitchFamily="34" charset="-120"/>
              </a:rPr>
              <a:t>Follows: </a:t>
            </a:r>
            <a:r>
              <a:rPr lang="en-US" sz="1400" dirty="0">
                <a:solidFill>
                  <a:srgbClr val="1B1B2A"/>
                </a:solidFill>
                <a:latin typeface="Calibri" pitchFamily="34" charset="0"/>
                <a:ea typeface="Calibri" pitchFamily="34" charset="-122"/>
                <a:cs typeface="Calibri" pitchFamily="34" charset="-120"/>
              </a:rPr>
              <a:t>plain sqlite3, schema in the </a:t>
            </a:r>
            <a:r>
              <a:rPr lang="en-US" sz="1400" dirty="0">
                <a:solidFill>
                  <a:srgbClr val="1E2761"/>
                </a:solidFill>
                <a:latin typeface="Consolas" pitchFamily="34" charset="0"/>
                <a:ea typeface="Consolas" pitchFamily="34" charset="-122"/>
                <a:cs typeface="Consolas" pitchFamily="34" charset="-120"/>
              </a:rPr>
              <a:t>SCHEMA</a:t>
            </a:r>
            <a:r>
              <a:rPr lang="en-US" sz="1400" dirty="0">
                <a:solidFill>
                  <a:srgbClr val="1B1B2A"/>
                </a:solidFill>
                <a:latin typeface="Calibri" pitchFamily="34" charset="0"/>
                <a:ea typeface="Calibri" pitchFamily="34" charset="-122"/>
                <a:cs typeface="Calibri" pitchFamily="34" charset="-120"/>
              </a:rPr>
              <a:t> string, accessors below it. No ORM.</a:t>
            </a:r>
            <a:endParaRPr lang="en-US" sz="1400" dirty="0"/>
          </a:p>
        </p:txBody>
      </p:sp>
      <p:sp>
        <p:nvSpPr>
          <p:cNvPr id="13" name="Text 11"/>
          <p:cNvSpPr txBox="1"/>
          <p:nvPr/>
        </p:nvSpPr>
        <p:spPr>
          <a:xfrm>
            <a:off x="777240" y="5532120"/>
            <a:ext cx="4983480" cy="566928"/>
          </a:xfrm>
          <a:prstGeom prst="rect">
            <a:avLst/>
          </a:prstGeom>
          <a:noFill/>
          <a:ln/>
        </p:spPr>
        <p:txBody>
          <a:bodyPr wrap="square" lIns="0" tIns="0" rIns="0" bIns="0" rtlCol="0" anchor="t"/>
          <a:lstStyle/>
          <a:p>
            <a:pPr marL="0" indent="0">
              <a:buNone/>
            </a:pPr>
            <a:r>
              <a:rPr lang="en-US" sz="1400" b="1" dirty="0">
                <a:solidFill>
                  <a:srgbClr val="1E2761"/>
                </a:solidFill>
                <a:latin typeface="Calibri" pitchFamily="34" charset="0"/>
                <a:ea typeface="Calibri" pitchFamily="34" charset="-122"/>
                <a:cs typeface="Calibri" pitchFamily="34" charset="-120"/>
              </a:rPr>
              <a:t>Doesn’t touch: </a:t>
            </a:r>
            <a:r>
              <a:rPr lang="en-US" sz="1400" dirty="0">
                <a:solidFill>
                  <a:srgbClr val="1E2761"/>
                </a:solidFill>
                <a:latin typeface="Consolas" pitchFamily="34" charset="0"/>
                <a:ea typeface="Consolas" pitchFamily="34" charset="-122"/>
                <a:cs typeface="Consolas" pitchFamily="34" charset="-120"/>
              </a:rPr>
              <a:t>routes.py</a:t>
            </a:r>
            <a:r>
              <a:rPr lang="en-US" sz="1400" dirty="0">
                <a:solidFill>
                  <a:srgbClr val="1B1B2A"/>
                </a:solidFill>
                <a:latin typeface="Calibri" pitchFamily="34" charset="0"/>
                <a:ea typeface="Calibri" pitchFamily="34" charset="-122"/>
                <a:cs typeface="Calibri" pitchFamily="34" charset="-120"/>
              </a:rPr>
              <a:t>, templates, or </a:t>
            </a:r>
            <a:r>
              <a:rPr lang="en-US" sz="1400" dirty="0">
                <a:solidFill>
                  <a:srgbClr val="1E2761"/>
                </a:solidFill>
                <a:latin typeface="Consolas" pitchFamily="34" charset="0"/>
                <a:ea typeface="Consolas" pitchFamily="34" charset="-122"/>
                <a:cs typeface="Consolas" pitchFamily="34" charset="-120"/>
              </a:rPr>
              <a:t>seed_demo.py</a:t>
            </a:r>
            <a:endParaRPr lang="en-US" sz="1400" dirty="0"/>
          </a:p>
        </p:txBody>
      </p:sp>
      <p:sp>
        <p:nvSpPr>
          <p:cNvPr id="14" name="Shape 12"/>
          <p:cNvSpPr/>
          <p:nvPr/>
        </p:nvSpPr>
        <p:spPr>
          <a:xfrm>
            <a:off x="6245352" y="2011680"/>
            <a:ext cx="384048" cy="384048"/>
          </a:xfrm>
          <a:prstGeom prst="ellipse">
            <a:avLst/>
          </a:prstGeom>
          <a:solidFill>
            <a:srgbClr val="1E2761"/>
          </a:solidFill>
          <a:ln w="12700">
            <a:solidFill>
              <a:srgbClr val="1E2761"/>
            </a:solidFill>
            <a:prstDash val="solid"/>
          </a:ln>
        </p:spPr>
        <p:txBody>
          <a:bodyPr/>
          <a:lstStyle/>
          <a:p>
            <a:endParaRPr lang="en-US"/>
          </a:p>
        </p:txBody>
      </p:sp>
      <p:sp>
        <p:nvSpPr>
          <p:cNvPr id="15" name="Text 13"/>
          <p:cNvSpPr txBox="1"/>
          <p:nvPr/>
        </p:nvSpPr>
        <p:spPr>
          <a:xfrm>
            <a:off x="6245352" y="201168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6" name="Text 14"/>
          <p:cNvSpPr txBox="1"/>
          <p:nvPr/>
        </p:nvSpPr>
        <p:spPr>
          <a:xfrm>
            <a:off x="6793992" y="2011680"/>
            <a:ext cx="4572000" cy="384048"/>
          </a:xfrm>
          <a:prstGeom prst="rect">
            <a:avLst/>
          </a:prstGeom>
          <a:noFill/>
          <a:ln/>
        </p:spPr>
        <p:txBody>
          <a:bodyPr wrap="square" lIns="0" tIns="0" rIns="0" bIns="0" rtlCol="0" anchor="ctr"/>
          <a:lstStyle/>
          <a:p>
            <a:pPr marL="0" indent="0">
              <a:buNone/>
            </a:pPr>
            <a:r>
              <a:rPr lang="en-US" sz="2000" b="1" dirty="0">
                <a:solidFill>
                  <a:srgbClr val="1B1B2A"/>
                </a:solidFill>
                <a:latin typeface="Calibri" pitchFamily="34" charset="0"/>
                <a:ea typeface="Calibri" pitchFamily="34" charset="-122"/>
                <a:cs typeface="Calibri" pitchFamily="34" charset="-120"/>
              </a:rPr>
              <a:t>Acceptance criteria</a:t>
            </a:r>
            <a:endParaRPr lang="en-US" sz="2000" dirty="0"/>
          </a:p>
        </p:txBody>
      </p:sp>
      <p:sp>
        <p:nvSpPr>
          <p:cNvPr id="17" name="Shape 15"/>
          <p:cNvSpPr/>
          <p:nvPr/>
        </p:nvSpPr>
        <p:spPr>
          <a:xfrm>
            <a:off x="6245352" y="2606040"/>
            <a:ext cx="5394960" cy="3611880"/>
          </a:xfrm>
          <a:prstGeom prst="roundRect">
            <a:avLst>
              <a:gd name="adj" fmla="val 1519"/>
            </a:avLst>
          </a:prstGeom>
          <a:solidFill>
            <a:srgbClr val="1E2761"/>
          </a:solidFill>
          <a:ln w="12700">
            <a:solidFill>
              <a:srgbClr val="1E2761"/>
            </a:solidFill>
            <a:prstDash val="solid"/>
          </a:ln>
        </p:spPr>
        <p:txBody>
          <a:bodyPr/>
          <a:lstStyle/>
          <a:p>
            <a:endParaRPr lang="en-US"/>
          </a:p>
        </p:txBody>
      </p:sp>
      <p:sp>
        <p:nvSpPr>
          <p:cNvPr id="18" name="Shape 16"/>
          <p:cNvSpPr/>
          <p:nvPr/>
        </p:nvSpPr>
        <p:spPr>
          <a:xfrm>
            <a:off x="6473952" y="2834640"/>
            <a:ext cx="201168" cy="201168"/>
          </a:xfrm>
          <a:prstGeom prst="roundRect">
            <a:avLst>
              <a:gd name="adj" fmla="val 13636"/>
            </a:avLst>
          </a:prstGeom>
          <a:solidFill>
            <a:srgbClr val="1E2761"/>
          </a:solidFill>
          <a:ln w="19050">
            <a:solidFill>
              <a:srgbClr val="7CFC9C"/>
            </a:solidFill>
            <a:prstDash val="solid"/>
          </a:ln>
        </p:spPr>
        <p:txBody>
          <a:bodyPr/>
          <a:lstStyle/>
          <a:p>
            <a:endParaRPr lang="en-US"/>
          </a:p>
        </p:txBody>
      </p:sp>
      <p:sp>
        <p:nvSpPr>
          <p:cNvPr id="19" name="Text 17"/>
          <p:cNvSpPr txBox="1"/>
          <p:nvPr/>
        </p:nvSpPr>
        <p:spPr>
          <a:xfrm>
            <a:off x="6858000" y="2788920"/>
            <a:ext cx="4572000" cy="502920"/>
          </a:xfrm>
          <a:prstGeom prst="rect">
            <a:avLst/>
          </a:prstGeom>
          <a:noFill/>
          <a:ln/>
        </p:spPr>
        <p:txBody>
          <a:bodyPr wrap="square" lIns="0" tIns="0" rIns="0" bIns="0" rtlCol="0" anchor="t"/>
          <a:lstStyle/>
          <a:p>
            <a:pPr marL="0" indent="0">
              <a:buNone/>
            </a:pPr>
            <a:r>
              <a:rPr lang="en-US" sz="1350" dirty="0">
                <a:solidFill>
                  <a:srgbClr val="FFFFFF"/>
                </a:solidFill>
                <a:latin typeface="Consolas" pitchFamily="34" charset="0"/>
                <a:ea typeface="Consolas" pitchFamily="34" charset="-122"/>
                <a:cs typeface="Consolas" pitchFamily="34" charset="-120"/>
              </a:rPr>
              <a:t>SCHEMA</a:t>
            </a:r>
            <a:r>
              <a:rPr lang="en-US" sz="1350" dirty="0">
                <a:solidFill>
                  <a:srgbClr val="FFFFFF"/>
                </a:solidFill>
                <a:latin typeface="Calibri" pitchFamily="34" charset="0"/>
                <a:ea typeface="Calibri" pitchFamily="34" charset="-122"/>
                <a:cs typeface="Calibri" pitchFamily="34" charset="-120"/>
              </a:rPr>
              <a:t> includes both new tables and </a:t>
            </a:r>
            <a:r>
              <a:rPr lang="en-US" sz="1350" dirty="0">
                <a:solidFill>
                  <a:srgbClr val="FFFFFF"/>
                </a:solidFill>
                <a:latin typeface="Consolas" pitchFamily="34" charset="0"/>
                <a:ea typeface="Consolas" pitchFamily="34" charset="-122"/>
                <a:cs typeface="Consolas" pitchFamily="34" charset="-120"/>
              </a:rPr>
              <a:t>task.workspace_id</a:t>
            </a:r>
            <a:endParaRPr lang="en-US" sz="1350" dirty="0"/>
          </a:p>
        </p:txBody>
      </p:sp>
      <p:sp>
        <p:nvSpPr>
          <p:cNvPr id="20" name="Shape 18"/>
          <p:cNvSpPr/>
          <p:nvPr/>
        </p:nvSpPr>
        <p:spPr>
          <a:xfrm>
            <a:off x="6473952" y="3383280"/>
            <a:ext cx="201168" cy="201168"/>
          </a:xfrm>
          <a:prstGeom prst="roundRect">
            <a:avLst>
              <a:gd name="adj" fmla="val 13636"/>
            </a:avLst>
          </a:prstGeom>
          <a:solidFill>
            <a:srgbClr val="1E2761"/>
          </a:solidFill>
          <a:ln w="19050">
            <a:solidFill>
              <a:srgbClr val="7CFC9C"/>
            </a:solidFill>
            <a:prstDash val="solid"/>
          </a:ln>
        </p:spPr>
        <p:txBody>
          <a:bodyPr/>
          <a:lstStyle/>
          <a:p>
            <a:endParaRPr lang="en-US"/>
          </a:p>
        </p:txBody>
      </p:sp>
      <p:sp>
        <p:nvSpPr>
          <p:cNvPr id="21" name="Text 19"/>
          <p:cNvSpPr txBox="1"/>
          <p:nvPr/>
        </p:nvSpPr>
        <p:spPr>
          <a:xfrm>
            <a:off x="6858000" y="3337560"/>
            <a:ext cx="4572000" cy="457200"/>
          </a:xfrm>
          <a:prstGeom prst="rect">
            <a:avLst/>
          </a:prstGeom>
          <a:noFill/>
          <a:ln/>
        </p:spPr>
        <p:txBody>
          <a:bodyPr wrap="square" lIns="0" tIns="0" rIns="0" bIns="0" rtlCol="0" anchor="t"/>
          <a:lstStyle/>
          <a:p>
            <a:pPr marL="0" indent="0">
              <a:buNone/>
            </a:pPr>
            <a:r>
              <a:rPr lang="en-US" sz="1350" dirty="0">
                <a:solidFill>
                  <a:srgbClr val="FFFFFF"/>
                </a:solidFill>
                <a:latin typeface="Consolas" pitchFamily="34" charset="0"/>
                <a:ea typeface="Consolas" pitchFamily="34" charset="-122"/>
                <a:cs typeface="Consolas" pitchFamily="34" charset="-120"/>
              </a:rPr>
              <a:t>tests/test_tasks.py</a:t>
            </a:r>
            <a:r>
              <a:rPr lang="en-US" sz="1350" dirty="0">
                <a:solidFill>
                  <a:srgbClr val="FFFFFF"/>
                </a:solidFill>
                <a:latin typeface="Calibri" pitchFamily="34" charset="0"/>
                <a:ea typeface="Calibri" pitchFamily="34" charset="-122"/>
                <a:cs typeface="Calibri" pitchFamily="34" charset="-120"/>
              </a:rPr>
              <a:t> still passes, unmodified</a:t>
            </a:r>
            <a:endParaRPr lang="en-US" sz="1350" dirty="0"/>
          </a:p>
        </p:txBody>
      </p:sp>
      <p:sp>
        <p:nvSpPr>
          <p:cNvPr id="22" name="Shape 20"/>
          <p:cNvSpPr/>
          <p:nvPr/>
        </p:nvSpPr>
        <p:spPr>
          <a:xfrm>
            <a:off x="6473952" y="3886200"/>
            <a:ext cx="201168" cy="201168"/>
          </a:xfrm>
          <a:prstGeom prst="roundRect">
            <a:avLst>
              <a:gd name="adj" fmla="val 13636"/>
            </a:avLst>
          </a:prstGeom>
          <a:solidFill>
            <a:srgbClr val="1E2761"/>
          </a:solidFill>
          <a:ln w="19050">
            <a:solidFill>
              <a:srgbClr val="7CFC9C"/>
            </a:solidFill>
            <a:prstDash val="solid"/>
          </a:ln>
        </p:spPr>
        <p:txBody>
          <a:bodyPr/>
          <a:lstStyle/>
          <a:p>
            <a:endParaRPr lang="en-US"/>
          </a:p>
        </p:txBody>
      </p:sp>
      <p:sp>
        <p:nvSpPr>
          <p:cNvPr id="23" name="Text 21"/>
          <p:cNvSpPr txBox="1"/>
          <p:nvPr/>
        </p:nvSpPr>
        <p:spPr>
          <a:xfrm>
            <a:off x="6858000" y="3840480"/>
            <a:ext cx="4572000" cy="914400"/>
          </a:xfrm>
          <a:prstGeom prst="rect">
            <a:avLst/>
          </a:prstGeom>
          <a:noFill/>
          <a:ln/>
        </p:spPr>
        <p:txBody>
          <a:bodyPr wrap="square" lIns="0" tIns="0" rIns="0" bIns="0" rtlCol="0" anchor="t"/>
          <a:lstStyle/>
          <a:p>
            <a:pPr marL="0" indent="0">
              <a:buNone/>
            </a:pPr>
            <a:r>
              <a:rPr lang="en-US" sz="1350" dirty="0">
                <a:solidFill>
                  <a:srgbClr val="FFFFFF"/>
                </a:solidFill>
                <a:latin typeface="Calibri" pitchFamily="34" charset="0"/>
                <a:ea typeface="Calibri" pitchFamily="34" charset="-122"/>
                <a:cs typeface="Calibri" pitchFamily="34" charset="-120"/>
              </a:rPr>
              <a:t>Accessors exist: </a:t>
            </a:r>
            <a:r>
              <a:rPr lang="en-US" sz="1350" dirty="0">
                <a:solidFill>
                  <a:srgbClr val="FFFFFF"/>
                </a:solidFill>
                <a:latin typeface="Consolas" pitchFamily="34" charset="0"/>
                <a:ea typeface="Consolas" pitchFamily="34" charset="-122"/>
                <a:cs typeface="Consolas" pitchFamily="34" charset="-120"/>
              </a:rPr>
              <a:t>create_workspace(name)</a:t>
            </a:r>
            <a:r>
              <a:rPr lang="en-US" sz="1350" dirty="0">
                <a:solidFill>
                  <a:srgbClr val="FFFFFF"/>
                </a:solidFill>
                <a:latin typeface="Calibri" pitchFamily="34" charset="0"/>
                <a:ea typeface="Calibri" pitchFamily="34" charset="-122"/>
                <a:cs typeface="Calibri" pitchFamily="34" charset="-120"/>
              </a:rPr>
              <a:t>, </a:t>
            </a:r>
            <a:r>
              <a:rPr lang="en-US" sz="1350" dirty="0">
                <a:solidFill>
                  <a:srgbClr val="FFFFFF"/>
                </a:solidFill>
                <a:latin typeface="Consolas" pitchFamily="34" charset="0"/>
                <a:ea typeface="Consolas" pitchFamily="34" charset="-122"/>
                <a:cs typeface="Consolas" pitchFamily="34" charset="-120"/>
              </a:rPr>
              <a:t>add_member(workspace_id, user_id, role)</a:t>
            </a:r>
            <a:r>
              <a:rPr lang="en-US" sz="1350" dirty="0">
                <a:solidFill>
                  <a:srgbClr val="FFFFFF"/>
                </a:solidFill>
                <a:latin typeface="Calibri" pitchFamily="34" charset="0"/>
                <a:ea typeface="Calibri" pitchFamily="34" charset="-122"/>
                <a:cs typeface="Calibri" pitchFamily="34" charset="-120"/>
              </a:rPr>
              <a:t>, </a:t>
            </a:r>
            <a:r>
              <a:rPr lang="en-US" sz="1350" dirty="0">
                <a:solidFill>
                  <a:srgbClr val="FFFFFF"/>
                </a:solidFill>
                <a:latin typeface="Consolas" pitchFamily="34" charset="0"/>
                <a:ea typeface="Consolas" pitchFamily="34" charset="-122"/>
                <a:cs typeface="Consolas" pitchFamily="34" charset="-120"/>
              </a:rPr>
              <a:t>list_workspaces_for_user(user_id)</a:t>
            </a:r>
            <a:endParaRPr lang="en-US" sz="1350" dirty="0"/>
          </a:p>
        </p:txBody>
      </p:sp>
      <p:sp>
        <p:nvSpPr>
          <p:cNvPr id="24" name="Shape 22"/>
          <p:cNvSpPr/>
          <p:nvPr/>
        </p:nvSpPr>
        <p:spPr>
          <a:xfrm>
            <a:off x="6473952" y="4846320"/>
            <a:ext cx="201168" cy="201168"/>
          </a:xfrm>
          <a:prstGeom prst="roundRect">
            <a:avLst>
              <a:gd name="adj" fmla="val 13636"/>
            </a:avLst>
          </a:prstGeom>
          <a:solidFill>
            <a:srgbClr val="1E2761"/>
          </a:solidFill>
          <a:ln w="19050">
            <a:solidFill>
              <a:srgbClr val="7CFC9C"/>
            </a:solidFill>
            <a:prstDash val="solid"/>
          </a:ln>
        </p:spPr>
        <p:txBody>
          <a:bodyPr/>
          <a:lstStyle/>
          <a:p>
            <a:endParaRPr lang="en-US"/>
          </a:p>
        </p:txBody>
      </p:sp>
      <p:sp>
        <p:nvSpPr>
          <p:cNvPr id="25" name="Text 23"/>
          <p:cNvSpPr txBox="1"/>
          <p:nvPr/>
        </p:nvSpPr>
        <p:spPr>
          <a:xfrm>
            <a:off x="6858000" y="4800600"/>
            <a:ext cx="4572000" cy="594360"/>
          </a:xfrm>
          <a:prstGeom prst="rect">
            <a:avLst/>
          </a:prstGeom>
          <a:noFill/>
          <a:ln/>
        </p:spPr>
        <p:txBody>
          <a:bodyPr wrap="square" lIns="0" tIns="0" rIns="0" bIns="0" rtlCol="0" anchor="t"/>
          <a:lstStyle/>
          <a:p>
            <a:pPr marL="0" indent="0">
              <a:buNone/>
            </a:pPr>
            <a:r>
              <a:rPr lang="en-US" sz="1350" dirty="0">
                <a:solidFill>
                  <a:srgbClr val="FFFFFF"/>
                </a:solidFill>
                <a:latin typeface="Consolas" pitchFamily="34" charset="0"/>
                <a:ea typeface="Consolas" pitchFamily="34" charset="-122"/>
                <a:cs typeface="Consolas" pitchFamily="34" charset="-120"/>
              </a:rPr>
              <a:t>tests/test_workspaces.py</a:t>
            </a:r>
            <a:r>
              <a:rPr lang="en-US" sz="1350" dirty="0">
                <a:solidFill>
                  <a:srgbClr val="FFFFFF"/>
                </a:solidFill>
                <a:latin typeface="Calibri" pitchFamily="34" charset="0"/>
                <a:ea typeface="Calibri" pitchFamily="34" charset="-122"/>
                <a:cs typeface="Calibri" pitchFamily="34" charset="-120"/>
              </a:rPr>
              <a:t> covers create, add member, and list for user</a:t>
            </a:r>
            <a:endParaRPr lang="en-US" sz="1350" dirty="0"/>
          </a:p>
        </p:txBody>
      </p:sp>
      <p:sp>
        <p:nvSpPr>
          <p:cNvPr id="26" name="Shape 24"/>
          <p:cNvSpPr/>
          <p:nvPr/>
        </p:nvSpPr>
        <p:spPr>
          <a:xfrm>
            <a:off x="6473952" y="5486400"/>
            <a:ext cx="201168" cy="201168"/>
          </a:xfrm>
          <a:prstGeom prst="roundRect">
            <a:avLst>
              <a:gd name="adj" fmla="val 13636"/>
            </a:avLst>
          </a:prstGeom>
          <a:solidFill>
            <a:srgbClr val="1E2761"/>
          </a:solidFill>
          <a:ln w="19050">
            <a:solidFill>
              <a:srgbClr val="7CFC9C"/>
            </a:solidFill>
            <a:prstDash val="solid"/>
          </a:ln>
        </p:spPr>
        <p:txBody>
          <a:bodyPr/>
          <a:lstStyle/>
          <a:p>
            <a:endParaRPr lang="en-US"/>
          </a:p>
        </p:txBody>
      </p:sp>
      <p:sp>
        <p:nvSpPr>
          <p:cNvPr id="27" name="Text 25"/>
          <p:cNvSpPr txBox="1"/>
          <p:nvPr/>
        </p:nvSpPr>
        <p:spPr>
          <a:xfrm>
            <a:off x="6858000" y="5440680"/>
            <a:ext cx="4572000" cy="685800"/>
          </a:xfrm>
          <a:prstGeom prst="rect">
            <a:avLst/>
          </a:prstGeom>
          <a:noFill/>
          <a:ln/>
        </p:spPr>
        <p:txBody>
          <a:bodyPr wrap="square" lIns="0" tIns="0" rIns="0" bIns="0" rtlCol="0" anchor="t"/>
          <a:lstStyle/>
          <a:p>
            <a:pPr marL="0" indent="0">
              <a:buNone/>
            </a:pPr>
            <a:r>
              <a:rPr lang="en-US" sz="1350" dirty="0">
                <a:solidFill>
                  <a:srgbClr val="FFFFFF"/>
                </a:solidFill>
                <a:latin typeface="Calibri" pitchFamily="34" charset="0"/>
                <a:ea typeface="Calibri" pitchFamily="34" charset="-122"/>
                <a:cs typeface="Calibri" pitchFamily="34" charset="-120"/>
              </a:rPr>
              <a:t>On a fresh database, </a:t>
            </a:r>
            <a:r>
              <a:rPr lang="en-US" sz="1350" dirty="0">
                <a:solidFill>
                  <a:srgbClr val="FFFFFF"/>
                </a:solidFill>
                <a:latin typeface="Consolas" pitchFamily="34" charset="0"/>
                <a:ea typeface="Consolas" pitchFamily="34" charset="-122"/>
                <a:cs typeface="Consolas" pitchFamily="34" charset="-120"/>
              </a:rPr>
              <a:t>seed_demo.py</a:t>
            </a:r>
            <a:r>
              <a:rPr lang="en-US" sz="1350" dirty="0">
                <a:solidFill>
                  <a:srgbClr val="FFFFFF"/>
                </a:solidFill>
                <a:latin typeface="Calibri" pitchFamily="34" charset="0"/>
                <a:ea typeface="Calibri" pitchFamily="34" charset="-122"/>
                <a:cs typeface="Calibri" pitchFamily="34" charset="-120"/>
              </a:rPr>
              <a:t> runs cleanly and reports both workspaces</a:t>
            </a:r>
            <a:endParaRPr lang="en-US"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7315200" cy="365760"/>
          </a:xfrm>
          <a:prstGeom prst="rect">
            <a:avLst/>
          </a:prstGeom>
          <a:noFill/>
          <a:ln/>
        </p:spPr>
        <p:txBody>
          <a:bodyPr wrap="square" lIns="0" tIns="0" rIns="0" bIns="0" rtlCol="0" anchor="ctr"/>
          <a:lstStyle/>
          <a:p>
            <a:pPr marL="0" indent="0">
              <a:buNone/>
            </a:pPr>
            <a:r>
              <a:rPr lang="en-US" sz="1200" b="1" kern="0" spc="200" dirty="0">
                <a:solidFill>
                  <a:srgbClr val="1E2761"/>
                </a:solidFill>
                <a:latin typeface="Calibri" pitchFamily="34" charset="0"/>
                <a:ea typeface="Calibri" pitchFamily="34" charset="-122"/>
                <a:cs typeface="Calibri" pitchFamily="34" charset="-120"/>
              </a:rPr>
              <a:t>MODULE 1 — WORKED EXAMPLE, PART 2 OF 2</a:t>
            </a:r>
            <a:endParaRPr lang="en-US" sz="1200" dirty="0"/>
          </a:p>
        </p:txBody>
      </p:sp>
      <p:sp>
        <p:nvSpPr>
          <p:cNvPr id="3" name="Text 1"/>
          <p:cNvSpPr txBox="1"/>
          <p:nvPr/>
        </p:nvSpPr>
        <p:spPr>
          <a:xfrm>
            <a:off x="548640" y="685800"/>
            <a:ext cx="10515600" cy="640080"/>
          </a:xfrm>
          <a:prstGeom prst="rect">
            <a:avLst/>
          </a:prstGeom>
          <a:noFill/>
          <a:ln/>
        </p:spPr>
        <p:txBody>
          <a:bodyPr wrap="square" lIns="0" tIns="0" rIns="0" bIns="0" rtlCol="0" anchor="ctr"/>
          <a:lstStyle/>
          <a:p>
            <a:pPr marL="0" indent="0">
              <a:buNone/>
            </a:pPr>
            <a:r>
              <a:rPr lang="en-US" sz="3000" b="1" dirty="0">
                <a:solidFill>
                  <a:srgbClr val="1B1B2A"/>
                </a:solidFill>
                <a:latin typeface="Cambria" pitchFamily="34" charset="0"/>
                <a:ea typeface="Cambria" pitchFamily="34" charset="-122"/>
                <a:cs typeface="Cambria" pitchFamily="34" charset="-120"/>
              </a:rPr>
              <a:t>The Schema Unit: Dependencies and Verification</a:t>
            </a:r>
            <a:endParaRPr lang="en-US" sz="3000" dirty="0"/>
          </a:p>
        </p:txBody>
      </p:sp>
      <p:sp>
        <p:nvSpPr>
          <p:cNvPr id="4" name="Text 2"/>
          <p:cNvSpPr txBox="1"/>
          <p:nvPr/>
        </p:nvSpPr>
        <p:spPr>
          <a:xfrm>
            <a:off x="548640" y="1325880"/>
            <a:ext cx="10972800" cy="457200"/>
          </a:xfrm>
          <a:prstGeom prst="rect">
            <a:avLst/>
          </a:prstGeom>
          <a:noFill/>
          <a:ln/>
        </p:spPr>
        <p:txBody>
          <a:bodyPr wrap="square" lIns="0" tIns="0" rIns="0" bIns="0" rtlCol="0" anchor="ctr"/>
          <a:lstStyle/>
          <a:p>
            <a:pPr marL="0" indent="0">
              <a:buNone/>
            </a:pPr>
            <a:r>
              <a:rPr lang="en-US" sz="1600" i="1" dirty="0">
                <a:solidFill>
                  <a:srgbClr val="5B6472"/>
                </a:solidFill>
                <a:latin typeface="Calibri" pitchFamily="34" charset="0"/>
                <a:ea typeface="Calibri" pitchFamily="34" charset="-122"/>
                <a:cs typeface="Calibri" pitchFamily="34" charset="-120"/>
              </a:rPr>
              <a:t>Unit 1 of today’s feature request, written out step by step. This one is given; you’ll write Units 2–4.</a:t>
            </a:r>
            <a:endParaRPr lang="en-US" sz="1600" dirty="0"/>
          </a:p>
        </p:txBody>
      </p:sp>
      <p:sp>
        <p:nvSpPr>
          <p:cNvPr id="5" name="Shape 3"/>
          <p:cNvSpPr/>
          <p:nvPr/>
        </p:nvSpPr>
        <p:spPr>
          <a:xfrm>
            <a:off x="548640" y="2011680"/>
            <a:ext cx="384048" cy="384048"/>
          </a:xfrm>
          <a:prstGeom prst="ellipse">
            <a:avLst/>
          </a:prstGeom>
          <a:solidFill>
            <a:srgbClr val="1E2761"/>
          </a:solidFill>
          <a:ln w="12700">
            <a:solidFill>
              <a:srgbClr val="1E2761"/>
            </a:solidFill>
            <a:prstDash val="solid"/>
          </a:ln>
        </p:spPr>
        <p:txBody>
          <a:bodyPr/>
          <a:lstStyle/>
          <a:p>
            <a:endParaRPr lang="en-US"/>
          </a:p>
        </p:txBody>
      </p:sp>
      <p:sp>
        <p:nvSpPr>
          <p:cNvPr id="6" name="Text 4"/>
          <p:cNvSpPr txBox="1"/>
          <p:nvPr/>
        </p:nvSpPr>
        <p:spPr>
          <a:xfrm>
            <a:off x="548640" y="201168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7" name="Text 5"/>
          <p:cNvSpPr txBox="1"/>
          <p:nvPr/>
        </p:nvSpPr>
        <p:spPr>
          <a:xfrm>
            <a:off x="1097280" y="2011680"/>
            <a:ext cx="4572000" cy="384048"/>
          </a:xfrm>
          <a:prstGeom prst="rect">
            <a:avLst/>
          </a:prstGeom>
          <a:noFill/>
          <a:ln/>
        </p:spPr>
        <p:txBody>
          <a:bodyPr wrap="square" lIns="0" tIns="0" rIns="0" bIns="0" rtlCol="0" anchor="ctr"/>
          <a:lstStyle/>
          <a:p>
            <a:pPr marL="0" indent="0">
              <a:buNone/>
            </a:pPr>
            <a:r>
              <a:rPr lang="en-US" sz="2000" b="1" dirty="0">
                <a:solidFill>
                  <a:srgbClr val="1B1B2A"/>
                </a:solidFill>
                <a:latin typeface="Calibri" pitchFamily="34" charset="0"/>
                <a:ea typeface="Calibri" pitchFamily="34" charset="-122"/>
                <a:cs typeface="Calibri" pitchFamily="34" charset="-120"/>
              </a:rPr>
              <a:t>Named dependencies</a:t>
            </a:r>
            <a:endParaRPr lang="en-US" sz="2000" dirty="0"/>
          </a:p>
        </p:txBody>
      </p:sp>
      <p:sp>
        <p:nvSpPr>
          <p:cNvPr id="8" name="Shape 6"/>
          <p:cNvSpPr/>
          <p:nvPr/>
        </p:nvSpPr>
        <p:spPr>
          <a:xfrm>
            <a:off x="548640" y="2606040"/>
            <a:ext cx="5394960" cy="3611880"/>
          </a:xfrm>
          <a:prstGeom prst="roundRect">
            <a:avLst>
              <a:gd name="adj" fmla="val 1519"/>
            </a:avLst>
          </a:prstGeom>
          <a:solidFill>
            <a:srgbClr val="F4F6FB"/>
          </a:solidFill>
          <a:ln w="12700">
            <a:solidFill>
              <a:srgbClr val="F4F6FB"/>
            </a:solidFill>
            <a:prstDash val="solid"/>
          </a:ln>
        </p:spPr>
        <p:txBody>
          <a:bodyPr/>
          <a:lstStyle/>
          <a:p>
            <a:endParaRPr lang="en-US"/>
          </a:p>
        </p:txBody>
      </p:sp>
      <p:sp>
        <p:nvSpPr>
          <p:cNvPr id="9" name="Text 7"/>
          <p:cNvSpPr txBox="1"/>
          <p:nvPr/>
        </p:nvSpPr>
        <p:spPr>
          <a:xfrm>
            <a:off x="777240" y="2788920"/>
            <a:ext cx="4983480" cy="795528"/>
          </a:xfrm>
          <a:prstGeom prst="rect">
            <a:avLst/>
          </a:prstGeom>
          <a:noFill/>
          <a:ln/>
        </p:spPr>
        <p:txBody>
          <a:bodyPr wrap="square" lIns="0" tIns="0" rIns="0" bIns="0" rtlCol="0" anchor="t"/>
          <a:lstStyle/>
          <a:p>
            <a:pPr marL="0" indent="0">
              <a:buNone/>
            </a:pPr>
            <a:r>
              <a:rPr lang="en-US" sz="1400" b="1" dirty="0">
                <a:solidFill>
                  <a:srgbClr val="1E2761"/>
                </a:solidFill>
                <a:latin typeface="Calibri" pitchFamily="34" charset="0"/>
                <a:ea typeface="Calibri" pitchFamily="34" charset="-122"/>
                <a:cs typeface="Calibri" pitchFamily="34" charset="-120"/>
              </a:rPr>
              <a:t>Depends on: </a:t>
            </a:r>
            <a:r>
              <a:rPr lang="en-US" sz="1400" dirty="0">
                <a:solidFill>
                  <a:srgbClr val="1B1B2A"/>
                </a:solidFill>
                <a:latin typeface="Calibri" pitchFamily="34" charset="0"/>
                <a:ea typeface="Calibri" pitchFamily="34" charset="-122"/>
                <a:cs typeface="Calibri" pitchFamily="34" charset="-120"/>
              </a:rPr>
              <a:t>nothing. This is the foundation, so it runs first, on its own.</a:t>
            </a:r>
            <a:endParaRPr lang="en-US" sz="1400" dirty="0"/>
          </a:p>
        </p:txBody>
      </p:sp>
      <p:sp>
        <p:nvSpPr>
          <p:cNvPr id="10" name="Text 8"/>
          <p:cNvSpPr txBox="1"/>
          <p:nvPr/>
        </p:nvSpPr>
        <p:spPr>
          <a:xfrm>
            <a:off x="777240" y="3657600"/>
            <a:ext cx="4983480" cy="795528"/>
          </a:xfrm>
          <a:prstGeom prst="rect">
            <a:avLst/>
          </a:prstGeom>
          <a:noFill/>
          <a:ln/>
        </p:spPr>
        <p:txBody>
          <a:bodyPr wrap="square" lIns="0" tIns="0" rIns="0" bIns="0" rtlCol="0" anchor="t"/>
          <a:lstStyle/>
          <a:p>
            <a:pPr marL="0" indent="0">
              <a:buNone/>
            </a:pPr>
            <a:r>
              <a:rPr lang="en-US" sz="1400" b="1" dirty="0">
                <a:solidFill>
                  <a:srgbClr val="1E2761"/>
                </a:solidFill>
                <a:latin typeface="Calibri" pitchFamily="34" charset="0"/>
                <a:ea typeface="Calibri" pitchFamily="34" charset="-122"/>
                <a:cs typeface="Calibri" pitchFamily="34" charset="-120"/>
              </a:rPr>
              <a:t>Blocks: </a:t>
            </a:r>
            <a:r>
              <a:rPr lang="en-US" sz="1400" dirty="0">
                <a:solidFill>
                  <a:srgbClr val="1B1B2A"/>
                </a:solidFill>
                <a:latin typeface="Calibri" pitchFamily="34" charset="0"/>
                <a:ea typeface="Calibri" pitchFamily="34" charset="-122"/>
                <a:cs typeface="Calibri" pitchFamily="34" charset="-120"/>
              </a:rPr>
              <a:t>the API/permissions unit, the workspace switcher, and notifications. All of them assume this schema exists.</a:t>
            </a:r>
            <a:endParaRPr lang="en-US" sz="1400" dirty="0"/>
          </a:p>
        </p:txBody>
      </p:sp>
      <p:sp>
        <p:nvSpPr>
          <p:cNvPr id="11" name="Text 9"/>
          <p:cNvSpPr txBox="1"/>
          <p:nvPr/>
        </p:nvSpPr>
        <p:spPr>
          <a:xfrm>
            <a:off x="777240" y="4526280"/>
            <a:ext cx="4983480" cy="1572768"/>
          </a:xfrm>
          <a:prstGeom prst="rect">
            <a:avLst/>
          </a:prstGeom>
          <a:noFill/>
          <a:ln/>
        </p:spPr>
        <p:txBody>
          <a:bodyPr wrap="square" lIns="0" tIns="0" rIns="0" bIns="0" rtlCol="0" anchor="t"/>
          <a:lstStyle/>
          <a:p>
            <a:pPr marL="0" indent="0">
              <a:buNone/>
            </a:pPr>
            <a:r>
              <a:rPr lang="en-US" sz="1400" b="1" dirty="0">
                <a:solidFill>
                  <a:srgbClr val="1E2761"/>
                </a:solidFill>
                <a:latin typeface="Calibri" pitchFamily="34" charset="0"/>
                <a:ea typeface="Calibri" pitchFamily="34" charset="-122"/>
                <a:cs typeface="Calibri" pitchFamily="34" charset="-120"/>
              </a:rPr>
              <a:t>Contract: </a:t>
            </a:r>
            <a:r>
              <a:rPr lang="en-US" sz="1400" dirty="0">
                <a:solidFill>
                  <a:srgbClr val="1B1B2A"/>
                </a:solidFill>
                <a:latin typeface="Calibri" pitchFamily="34" charset="0"/>
                <a:ea typeface="Calibri" pitchFamily="34" charset="-122"/>
                <a:cs typeface="Calibri" pitchFamily="34" charset="-120"/>
              </a:rPr>
              <a:t>the table and column names (fixed by </a:t>
            </a:r>
            <a:r>
              <a:rPr lang="en-US" sz="1400" dirty="0">
                <a:solidFill>
                  <a:srgbClr val="1E2761"/>
                </a:solidFill>
                <a:latin typeface="Consolas" pitchFamily="34" charset="0"/>
                <a:ea typeface="Consolas" pitchFamily="34" charset="-122"/>
                <a:cs typeface="Consolas" pitchFamily="34" charset="-120"/>
              </a:rPr>
              <a:t>seed_demo.py</a:t>
            </a:r>
            <a:r>
              <a:rPr lang="en-US" sz="1400" dirty="0">
                <a:solidFill>
                  <a:srgbClr val="1B1B2A"/>
                </a:solidFill>
                <a:latin typeface="Calibri" pitchFamily="34" charset="0"/>
                <a:ea typeface="Calibri" pitchFamily="34" charset="-122"/>
                <a:cs typeface="Calibri" pitchFamily="34" charset="-120"/>
              </a:rPr>
              <a:t>) and the three accessor names. Downstream units build against these.</a:t>
            </a:r>
            <a:endParaRPr lang="en-US" sz="1400" dirty="0"/>
          </a:p>
        </p:txBody>
      </p:sp>
      <p:sp>
        <p:nvSpPr>
          <p:cNvPr id="12" name="Shape 10"/>
          <p:cNvSpPr/>
          <p:nvPr/>
        </p:nvSpPr>
        <p:spPr>
          <a:xfrm>
            <a:off x="777240" y="5440680"/>
            <a:ext cx="1737360" cy="548640"/>
          </a:xfrm>
          <a:prstGeom prst="roundRect">
            <a:avLst>
              <a:gd name="adj" fmla="val 10000"/>
            </a:avLst>
          </a:prstGeom>
          <a:solidFill>
            <a:srgbClr val="1E2761"/>
          </a:solidFill>
          <a:ln w="12700">
            <a:solidFill>
              <a:srgbClr val="1E2761"/>
            </a:solidFill>
            <a:prstDash val="solid"/>
          </a:ln>
        </p:spPr>
        <p:txBody>
          <a:bodyPr/>
          <a:lstStyle/>
          <a:p>
            <a:endParaRPr lang="en-US"/>
          </a:p>
        </p:txBody>
      </p:sp>
      <p:sp>
        <p:nvSpPr>
          <p:cNvPr id="13" name="Text 11"/>
          <p:cNvSpPr txBox="1"/>
          <p:nvPr/>
        </p:nvSpPr>
        <p:spPr>
          <a:xfrm>
            <a:off x="777240" y="5440680"/>
            <a:ext cx="1737360" cy="5486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Unit 1 · Schema</a:t>
            </a:r>
            <a:endParaRPr lang="en-US" sz="1300" dirty="0"/>
          </a:p>
        </p:txBody>
      </p:sp>
      <p:sp>
        <p:nvSpPr>
          <p:cNvPr id="14" name="Shape 12"/>
          <p:cNvSpPr/>
          <p:nvPr/>
        </p:nvSpPr>
        <p:spPr>
          <a:xfrm>
            <a:off x="2560320" y="5715000"/>
            <a:ext cx="594360" cy="0"/>
          </a:xfrm>
          <a:prstGeom prst="line">
            <a:avLst/>
          </a:prstGeom>
          <a:noFill/>
          <a:ln w="19050">
            <a:solidFill>
              <a:srgbClr val="5B6472"/>
            </a:solidFill>
            <a:prstDash val="solid"/>
            <a:tailEnd type="triangle"/>
          </a:ln>
        </p:spPr>
        <p:txBody>
          <a:bodyPr/>
          <a:lstStyle/>
          <a:p>
            <a:endParaRPr lang="en-US"/>
          </a:p>
        </p:txBody>
      </p:sp>
      <p:sp>
        <p:nvSpPr>
          <p:cNvPr id="15" name="Shape 13"/>
          <p:cNvSpPr/>
          <p:nvPr/>
        </p:nvSpPr>
        <p:spPr>
          <a:xfrm>
            <a:off x="3200400" y="5440680"/>
            <a:ext cx="2514600" cy="548640"/>
          </a:xfrm>
          <a:prstGeom prst="roundRect">
            <a:avLst>
              <a:gd name="adj" fmla="val 10000"/>
            </a:avLst>
          </a:prstGeom>
          <a:solidFill>
            <a:srgbClr val="FFFFFF"/>
          </a:solidFill>
          <a:ln w="12700">
            <a:solidFill>
              <a:srgbClr val="D5DAE6"/>
            </a:solidFill>
            <a:prstDash val="solid"/>
          </a:ln>
        </p:spPr>
        <p:txBody>
          <a:bodyPr/>
          <a:lstStyle/>
          <a:p>
            <a:endParaRPr lang="en-US"/>
          </a:p>
        </p:txBody>
      </p:sp>
      <p:sp>
        <p:nvSpPr>
          <p:cNvPr id="16" name="Text 14"/>
          <p:cNvSpPr txBox="1"/>
          <p:nvPr/>
        </p:nvSpPr>
        <p:spPr>
          <a:xfrm>
            <a:off x="3200400" y="5440680"/>
            <a:ext cx="2514600" cy="548640"/>
          </a:xfrm>
          <a:prstGeom prst="rect">
            <a:avLst/>
          </a:prstGeom>
          <a:noFill/>
          <a:ln/>
        </p:spPr>
        <p:txBody>
          <a:bodyPr wrap="square" lIns="0" tIns="0" rIns="0" bIns="0" rtlCol="0" anchor="ctr"/>
          <a:lstStyle/>
          <a:p>
            <a:pPr marL="0" indent="0" algn="ctr">
              <a:buNone/>
            </a:pPr>
            <a:r>
              <a:rPr lang="en-US" sz="1300" dirty="0">
                <a:solidFill>
                  <a:srgbClr val="1B1B2A"/>
                </a:solidFill>
                <a:latin typeface="Calibri" pitchFamily="34" charset="0"/>
                <a:ea typeface="Calibri" pitchFamily="34" charset="-122"/>
                <a:cs typeface="Calibri" pitchFamily="34" charset="-120"/>
              </a:rPr>
              <a:t>Every other unit</a:t>
            </a:r>
            <a:endParaRPr lang="en-US" sz="1300" dirty="0"/>
          </a:p>
        </p:txBody>
      </p:sp>
      <p:sp>
        <p:nvSpPr>
          <p:cNvPr id="17" name="Shape 15"/>
          <p:cNvSpPr/>
          <p:nvPr/>
        </p:nvSpPr>
        <p:spPr>
          <a:xfrm>
            <a:off x="6245352" y="2011680"/>
            <a:ext cx="384048" cy="384048"/>
          </a:xfrm>
          <a:prstGeom prst="ellipse">
            <a:avLst/>
          </a:prstGeom>
          <a:solidFill>
            <a:srgbClr val="1E2761"/>
          </a:solidFill>
          <a:ln w="12700">
            <a:solidFill>
              <a:srgbClr val="1E2761"/>
            </a:solidFill>
            <a:prstDash val="solid"/>
          </a:ln>
        </p:spPr>
        <p:txBody>
          <a:bodyPr/>
          <a:lstStyle/>
          <a:p>
            <a:endParaRPr lang="en-US"/>
          </a:p>
        </p:txBody>
      </p:sp>
      <p:sp>
        <p:nvSpPr>
          <p:cNvPr id="18" name="Text 16"/>
          <p:cNvSpPr txBox="1"/>
          <p:nvPr/>
        </p:nvSpPr>
        <p:spPr>
          <a:xfrm>
            <a:off x="6245352" y="201168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9" name="Text 17"/>
          <p:cNvSpPr txBox="1"/>
          <p:nvPr/>
        </p:nvSpPr>
        <p:spPr>
          <a:xfrm>
            <a:off x="6793992" y="2011680"/>
            <a:ext cx="4572000" cy="384048"/>
          </a:xfrm>
          <a:prstGeom prst="rect">
            <a:avLst/>
          </a:prstGeom>
          <a:noFill/>
          <a:ln/>
        </p:spPr>
        <p:txBody>
          <a:bodyPr wrap="square" lIns="0" tIns="0" rIns="0" bIns="0" rtlCol="0" anchor="ctr"/>
          <a:lstStyle/>
          <a:p>
            <a:pPr marL="0" indent="0">
              <a:buNone/>
            </a:pPr>
            <a:r>
              <a:rPr lang="en-US" sz="2000" b="1" dirty="0">
                <a:solidFill>
                  <a:srgbClr val="1B1B2A"/>
                </a:solidFill>
                <a:latin typeface="Calibri" pitchFamily="34" charset="0"/>
                <a:ea typeface="Calibri" pitchFamily="34" charset="-122"/>
                <a:cs typeface="Calibri" pitchFamily="34" charset="-120"/>
              </a:rPr>
              <a:t>Verification step</a:t>
            </a:r>
            <a:endParaRPr lang="en-US" sz="2000" dirty="0"/>
          </a:p>
        </p:txBody>
      </p:sp>
      <p:sp>
        <p:nvSpPr>
          <p:cNvPr id="20" name="Shape 18"/>
          <p:cNvSpPr/>
          <p:nvPr/>
        </p:nvSpPr>
        <p:spPr>
          <a:xfrm>
            <a:off x="6245352" y="2606040"/>
            <a:ext cx="5394960" cy="685800"/>
          </a:xfrm>
          <a:prstGeom prst="roundRect">
            <a:avLst>
              <a:gd name="adj" fmla="val 6667"/>
            </a:avLst>
          </a:prstGeom>
          <a:solidFill>
            <a:srgbClr val="1B1B2A"/>
          </a:solidFill>
          <a:ln w="12700">
            <a:solidFill>
              <a:srgbClr val="1B1B2A"/>
            </a:solidFill>
            <a:prstDash val="solid"/>
          </a:ln>
        </p:spPr>
        <p:txBody>
          <a:bodyPr/>
          <a:lstStyle/>
          <a:p>
            <a:endParaRPr lang="en-US"/>
          </a:p>
        </p:txBody>
      </p:sp>
      <p:sp>
        <p:nvSpPr>
          <p:cNvPr id="21" name="Text 19"/>
          <p:cNvSpPr txBox="1"/>
          <p:nvPr/>
        </p:nvSpPr>
        <p:spPr>
          <a:xfrm>
            <a:off x="6473952" y="2606040"/>
            <a:ext cx="5029200" cy="685800"/>
          </a:xfrm>
          <a:prstGeom prst="rect">
            <a:avLst/>
          </a:prstGeom>
          <a:noFill/>
          <a:ln/>
        </p:spPr>
        <p:txBody>
          <a:bodyPr wrap="square" lIns="0" tIns="0" rIns="0" bIns="0" rtlCol="0" anchor="ctr"/>
          <a:lstStyle/>
          <a:p>
            <a:pPr marL="0" indent="0">
              <a:buNone/>
            </a:pPr>
            <a:r>
              <a:rPr lang="en-US" sz="1300" dirty="0">
                <a:solidFill>
                  <a:srgbClr val="7CFC9C"/>
                </a:solidFill>
                <a:latin typeface="Consolas" pitchFamily="34" charset="0"/>
                <a:ea typeface="Consolas" pitchFamily="34" charset="-122"/>
                <a:cs typeface="Consolas" pitchFamily="34" charset="-120"/>
              </a:rPr>
              <a:t>python -m unittest discover -s tests -v</a:t>
            </a:r>
            <a:endParaRPr lang="en-US" sz="1300" dirty="0"/>
          </a:p>
        </p:txBody>
      </p:sp>
      <p:sp>
        <p:nvSpPr>
          <p:cNvPr id="22" name="Text 20"/>
          <p:cNvSpPr txBox="1"/>
          <p:nvPr/>
        </p:nvSpPr>
        <p:spPr>
          <a:xfrm>
            <a:off x="6245352" y="3383280"/>
            <a:ext cx="5394960" cy="502920"/>
          </a:xfrm>
          <a:prstGeom prst="rect">
            <a:avLst/>
          </a:prstGeom>
          <a:noFill/>
          <a:ln/>
        </p:spPr>
        <p:txBody>
          <a:bodyPr wrap="square" lIns="0" tIns="0" rIns="0" bIns="0" rtlCol="0" anchor="t"/>
          <a:lstStyle/>
          <a:p>
            <a:pPr marL="0" indent="0">
              <a:buNone/>
            </a:pPr>
            <a:r>
              <a:rPr lang="en-US" sz="1350" b="1" dirty="0">
                <a:solidFill>
                  <a:srgbClr val="1B1B2A"/>
                </a:solidFill>
                <a:latin typeface="Calibri" pitchFamily="34" charset="0"/>
                <a:ea typeface="Calibri" pitchFamily="34" charset="-122"/>
                <a:cs typeface="Calibri" pitchFamily="34" charset="-120"/>
              </a:rPr>
              <a:t>Expect: </a:t>
            </a:r>
            <a:r>
              <a:rPr lang="en-US" sz="1350" dirty="0">
                <a:solidFill>
                  <a:srgbClr val="5B6472"/>
                </a:solidFill>
                <a:latin typeface="Calibri" pitchFamily="34" charset="0"/>
                <a:ea typeface="Calibri" pitchFamily="34" charset="-122"/>
                <a:cs typeface="Calibri" pitchFamily="34" charset="-120"/>
              </a:rPr>
              <a:t>the 4 original tests plus the new workspace tests, all passing.</a:t>
            </a:r>
            <a:endParaRPr lang="en-US" sz="1350" dirty="0"/>
          </a:p>
        </p:txBody>
      </p:sp>
      <p:sp>
        <p:nvSpPr>
          <p:cNvPr id="23" name="Shape 21"/>
          <p:cNvSpPr/>
          <p:nvPr/>
        </p:nvSpPr>
        <p:spPr>
          <a:xfrm>
            <a:off x="6245352" y="3977640"/>
            <a:ext cx="5394960" cy="685800"/>
          </a:xfrm>
          <a:prstGeom prst="roundRect">
            <a:avLst>
              <a:gd name="adj" fmla="val 6667"/>
            </a:avLst>
          </a:prstGeom>
          <a:solidFill>
            <a:srgbClr val="1B1B2A"/>
          </a:solidFill>
          <a:ln w="12700">
            <a:solidFill>
              <a:srgbClr val="1B1B2A"/>
            </a:solidFill>
            <a:prstDash val="solid"/>
          </a:ln>
        </p:spPr>
        <p:txBody>
          <a:bodyPr/>
          <a:lstStyle/>
          <a:p>
            <a:endParaRPr lang="en-US"/>
          </a:p>
        </p:txBody>
      </p:sp>
      <p:sp>
        <p:nvSpPr>
          <p:cNvPr id="24" name="Text 22"/>
          <p:cNvSpPr txBox="1"/>
          <p:nvPr/>
        </p:nvSpPr>
        <p:spPr>
          <a:xfrm>
            <a:off x="6473952" y="3977640"/>
            <a:ext cx="5029200" cy="685800"/>
          </a:xfrm>
          <a:prstGeom prst="rect">
            <a:avLst/>
          </a:prstGeom>
          <a:noFill/>
          <a:ln/>
        </p:spPr>
        <p:txBody>
          <a:bodyPr wrap="square" lIns="0" tIns="0" rIns="0" bIns="0" rtlCol="0" anchor="ctr"/>
          <a:lstStyle/>
          <a:p>
            <a:pPr marL="0" indent="0">
              <a:buNone/>
            </a:pPr>
            <a:r>
              <a:rPr lang="en-US" sz="1300" dirty="0">
                <a:solidFill>
                  <a:srgbClr val="7CFC9C"/>
                </a:solidFill>
                <a:latin typeface="Consolas" pitchFamily="34" charset="0"/>
                <a:ea typeface="Consolas" pitchFamily="34" charset="-122"/>
                <a:cs typeface="Consolas" pitchFamily="34" charset="-120"/>
              </a:rPr>
              <a:t>rm taskboard.db &amp;&amp; python seed_demo.py</a:t>
            </a:r>
            <a:endParaRPr lang="en-US" sz="1300" dirty="0"/>
          </a:p>
        </p:txBody>
      </p:sp>
      <p:sp>
        <p:nvSpPr>
          <p:cNvPr id="25" name="Text 23"/>
          <p:cNvSpPr txBox="1"/>
          <p:nvPr/>
        </p:nvSpPr>
        <p:spPr>
          <a:xfrm>
            <a:off x="6245352" y="4754880"/>
            <a:ext cx="5394960" cy="502920"/>
          </a:xfrm>
          <a:prstGeom prst="rect">
            <a:avLst/>
          </a:prstGeom>
          <a:noFill/>
          <a:ln/>
        </p:spPr>
        <p:txBody>
          <a:bodyPr wrap="square" lIns="0" tIns="0" rIns="0" bIns="0" rtlCol="0" anchor="t"/>
          <a:lstStyle/>
          <a:p>
            <a:pPr marL="0" indent="0">
              <a:buNone/>
            </a:pPr>
            <a:r>
              <a:rPr lang="en-US" sz="1350" b="1" dirty="0">
                <a:solidFill>
                  <a:srgbClr val="1B1B2A"/>
                </a:solidFill>
                <a:latin typeface="Calibri" pitchFamily="34" charset="0"/>
                <a:ea typeface="Calibri" pitchFamily="34" charset="-122"/>
                <a:cs typeface="Calibri" pitchFamily="34" charset="-120"/>
              </a:rPr>
              <a:t>Expect: </a:t>
            </a:r>
            <a:r>
              <a:rPr lang="en-US" sz="1350" dirty="0">
                <a:solidFill>
                  <a:srgbClr val="5B6472"/>
                </a:solidFill>
                <a:latin typeface="Calibri" pitchFamily="34" charset="0"/>
                <a:ea typeface="Calibri" pitchFamily="34" charset="-122"/>
                <a:cs typeface="Calibri" pitchFamily="34" charset="-120"/>
              </a:rPr>
              <a:t>“Workspaces: Engineering (1), Marketing (2)” and the member list, with no errors.</a:t>
            </a:r>
            <a:endParaRPr lang="en-US" sz="1350" dirty="0"/>
          </a:p>
        </p:txBody>
      </p:sp>
      <p:sp>
        <p:nvSpPr>
          <p:cNvPr id="26" name="Shape 24"/>
          <p:cNvSpPr/>
          <p:nvPr/>
        </p:nvSpPr>
        <p:spPr>
          <a:xfrm>
            <a:off x="6245352" y="5440680"/>
            <a:ext cx="5394960" cy="548640"/>
          </a:xfrm>
          <a:prstGeom prst="roundRect">
            <a:avLst>
              <a:gd name="adj" fmla="val 10000"/>
            </a:avLst>
          </a:prstGeom>
          <a:solidFill>
            <a:srgbClr val="F4F6FB"/>
          </a:solidFill>
          <a:ln w="12700">
            <a:solidFill>
              <a:srgbClr val="F4F6FB"/>
            </a:solidFill>
            <a:prstDash val="solid"/>
          </a:ln>
        </p:spPr>
        <p:txBody>
          <a:bodyPr/>
          <a:lstStyle/>
          <a:p>
            <a:endParaRPr lang="en-US"/>
          </a:p>
        </p:txBody>
      </p:sp>
      <p:sp>
        <p:nvSpPr>
          <p:cNvPr id="27" name="Text 25"/>
          <p:cNvSpPr txBox="1"/>
          <p:nvPr/>
        </p:nvSpPr>
        <p:spPr>
          <a:xfrm>
            <a:off x="6473952" y="5440680"/>
            <a:ext cx="5029200" cy="548640"/>
          </a:xfrm>
          <a:prstGeom prst="rect">
            <a:avLst/>
          </a:prstGeom>
          <a:noFill/>
          <a:ln/>
        </p:spPr>
        <p:txBody>
          <a:bodyPr wrap="square" lIns="0" tIns="0" rIns="0" bIns="0" rtlCol="0" anchor="ctr"/>
          <a:lstStyle/>
          <a:p>
            <a:pPr marL="0" indent="0">
              <a:buNone/>
            </a:pPr>
            <a:r>
              <a:rPr lang="en-US" sz="1400" i="1" dirty="0">
                <a:solidFill>
                  <a:srgbClr val="1B1B2A"/>
                </a:solidFill>
                <a:latin typeface="Calibri" pitchFamily="34" charset="0"/>
                <a:ea typeface="Calibri" pitchFamily="34" charset="-122"/>
                <a:cs typeface="Calibri" pitchFamily="34" charset="-120"/>
              </a:rPr>
              <a:t>Two commands, under two minutes, and no diff reading.</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8">
    <p:bg>
      <p:bgPr>
        <a:solidFill>
          <a:srgbClr val="1E2761"/>
        </a:solidFill>
        <a:effectLst/>
      </p:bgPr>
    </p:bg>
    <p:spTree>
      <p:nvGrpSpPr>
        <p:cNvPr id="1" name=""/>
        <p:cNvGrpSpPr/>
        <p:nvPr/>
      </p:nvGrpSpPr>
      <p:grpSpPr>
        <a:xfrm>
          <a:off x="0" y="0"/>
          <a:ext cx="0" cy="0"/>
          <a:chOff x="0" y="0"/>
          <a:chExt cx="0" cy="0"/>
        </a:xfrm>
      </p:grpSpPr>
      <p:sp>
        <p:nvSpPr>
          <p:cNvPr id="2" name="Text 0"/>
          <p:cNvSpPr txBox="1"/>
          <p:nvPr/>
        </p:nvSpPr>
        <p:spPr>
          <a:xfrm>
            <a:off x="731520" y="2377440"/>
            <a:ext cx="5486400" cy="457200"/>
          </a:xfrm>
          <a:prstGeom prst="rect">
            <a:avLst/>
          </a:prstGeom>
          <a:noFill/>
          <a:ln/>
        </p:spPr>
        <p:txBody>
          <a:bodyPr wrap="square" lIns="0" tIns="0" rIns="0" bIns="0" rtlCol="0" anchor="ctr"/>
          <a:lstStyle/>
          <a:p>
            <a:pPr marL="0" indent="0">
              <a:buNone/>
            </a:pPr>
            <a:r>
              <a:rPr lang="en-US" sz="1400" b="1" kern="0" spc="300" dirty="0">
                <a:solidFill>
                  <a:srgbClr val="CADCFC"/>
                </a:solidFill>
                <a:latin typeface="Calibri" pitchFamily="34" charset="0"/>
                <a:ea typeface="Calibri" pitchFamily="34" charset="-122"/>
                <a:cs typeface="Calibri" pitchFamily="34" charset="-120"/>
              </a:rPr>
              <a:t>MODULE 2</a:t>
            </a:r>
            <a:endParaRPr lang="en-US" sz="1400" dirty="0"/>
          </a:p>
        </p:txBody>
      </p:sp>
      <p:sp>
        <p:nvSpPr>
          <p:cNvPr id="3" name="Text 1"/>
          <p:cNvSpPr txBox="1"/>
          <p:nvPr/>
        </p:nvSpPr>
        <p:spPr>
          <a:xfrm>
            <a:off x="731520" y="2788920"/>
            <a:ext cx="10515600" cy="137160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Model Selection Strategy</a:t>
            </a:r>
            <a:endParaRPr lang="en-US" sz="3400" dirty="0"/>
          </a:p>
          <a:p>
            <a:pPr marL="0" indent="0">
              <a:buNone/>
            </a:pPr>
            <a:r>
              <a:rPr lang="en-US" sz="3400" b="1" dirty="0">
                <a:solidFill>
                  <a:srgbClr val="FFFFFF"/>
                </a:solidFill>
                <a:latin typeface="Cambria" pitchFamily="34" charset="0"/>
                <a:ea typeface="Cambria" pitchFamily="34" charset="-122"/>
                <a:cs typeface="Cambria" pitchFamily="34" charset="-120"/>
              </a:rPr>
              <a:t>for Agentic Development</a:t>
            </a:r>
            <a:endParaRPr lang="en-US" sz="3400" dirty="0"/>
          </a:p>
        </p:txBody>
      </p:sp>
      <p:sp>
        <p:nvSpPr>
          <p:cNvPr id="4" name="Text 2"/>
          <p:cNvSpPr txBox="1"/>
          <p:nvPr/>
        </p:nvSpPr>
        <p:spPr>
          <a:xfrm>
            <a:off x="731520" y="4114800"/>
            <a:ext cx="9601200" cy="548640"/>
          </a:xfrm>
          <a:prstGeom prst="rect">
            <a:avLst/>
          </a:prstGeom>
          <a:noFill/>
          <a:ln/>
        </p:spPr>
        <p:txBody>
          <a:bodyPr wrap="square" lIns="0" tIns="0" rIns="0" bIns="0" rtlCol="0" anchor="ctr"/>
          <a:lstStyle/>
          <a:p>
            <a:pPr marL="0" indent="0">
              <a:buNone/>
            </a:pPr>
            <a:r>
              <a:rPr lang="en-US" sz="1600" dirty="0">
                <a:solidFill>
                  <a:srgbClr val="CADCFC"/>
                </a:solidFill>
                <a:latin typeface="Calibri" pitchFamily="34" charset="0"/>
                <a:ea typeface="Calibri" pitchFamily="34" charset="-122"/>
                <a:cs typeface="Calibri" pitchFamily="34" charset="-120"/>
              </a:rPr>
              <a:t>Lecture 15 min  •  Lab 35 min</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7315200" cy="365760"/>
          </a:xfrm>
          <a:prstGeom prst="rect">
            <a:avLst/>
          </a:prstGeom>
          <a:noFill/>
          <a:ln/>
        </p:spPr>
        <p:txBody>
          <a:bodyPr wrap="square" lIns="0" tIns="0" rIns="0" bIns="0" rtlCol="0" anchor="ctr"/>
          <a:lstStyle/>
          <a:p>
            <a:pPr marL="0" indent="0">
              <a:buNone/>
            </a:pPr>
            <a:r>
              <a:rPr lang="en-US" sz="1200" b="1" kern="0" spc="200" dirty="0">
                <a:solidFill>
                  <a:srgbClr val="1E2761"/>
                </a:solidFill>
                <a:latin typeface="Calibri" pitchFamily="34" charset="0"/>
                <a:ea typeface="Calibri" pitchFamily="34" charset="-122"/>
                <a:cs typeface="Calibri" pitchFamily="34" charset="-120"/>
              </a:rPr>
              <a:t>MODULE 2</a:t>
            </a:r>
            <a:endParaRPr lang="en-US" sz="1200" dirty="0"/>
          </a:p>
        </p:txBody>
      </p:sp>
      <p:sp>
        <p:nvSpPr>
          <p:cNvPr id="3" name="Text 1"/>
          <p:cNvSpPr txBox="1"/>
          <p:nvPr/>
        </p:nvSpPr>
        <p:spPr>
          <a:xfrm>
            <a:off x="548640" y="685800"/>
            <a:ext cx="9144000" cy="640080"/>
          </a:xfrm>
          <a:prstGeom prst="rect">
            <a:avLst/>
          </a:prstGeom>
          <a:noFill/>
          <a:ln/>
        </p:spPr>
        <p:txBody>
          <a:bodyPr wrap="square" lIns="0" tIns="0" rIns="0" bIns="0" rtlCol="0" anchor="ctr"/>
          <a:lstStyle/>
          <a:p>
            <a:pPr marL="0" indent="0">
              <a:buNone/>
            </a:pPr>
            <a:r>
              <a:rPr lang="en-US" sz="3000" b="1" dirty="0">
                <a:solidFill>
                  <a:srgbClr val="1B1B2A"/>
                </a:solidFill>
                <a:latin typeface="Cambria" pitchFamily="34" charset="0"/>
                <a:ea typeface="Cambria" pitchFamily="34" charset="-122"/>
                <a:cs typeface="Cambria" pitchFamily="34" charset="-120"/>
              </a:rPr>
              <a:t>Match the Model to the Task</a:t>
            </a:r>
            <a:endParaRPr lang="en-US" sz="3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3291840"/>
        </p:xfrm>
        <a:graphic>
          <a:graphicData uri="http://schemas.openxmlformats.org/drawingml/2006/table">
            <a:tbl>
              <a:tblPr/>
              <a:tblGrid>
                <a:gridCol w="1645920">
                  <a:extLst>
                    <a:ext uri="{9D8B030D-6E8A-4147-A177-3AD203B41FA5}">
                      <a16:colId xmlns:a16="http://schemas.microsoft.com/office/drawing/2014/main" val="20000"/>
                    </a:ext>
                  </a:extLst>
                </a:gridCol>
                <a:gridCol w="667512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658368">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Model</a:t>
                      </a:r>
                      <a:endParaRPr lang="en-US" sz="1400" dirty="0">
                        <a:latin typeface="Calibri" charset="0"/>
                        <a:ea typeface="Calibri" charset="0"/>
                        <a:cs typeface="Calibri" charset="0"/>
                      </a:endParaRPr>
                    </a:p>
                  </a:txBody>
                  <a:tcPr>
                    <a:lnL w="12700" cap="flat" cmpd="sng" algn="ctr">
                      <a:solidFill>
                        <a:srgbClr val="E3E7EF"/>
                      </a:solidFill>
                      <a:prstDash val="solid"/>
                      <a:round/>
                      <a:headEnd type="none" w="med" len="med"/>
                      <a:tailEnd type="none" w="med" len="med"/>
                    </a:lnL>
                    <a:lnR w="12700" cap="flat" cmpd="sng" algn="ctr">
                      <a:solidFill>
                        <a:srgbClr val="E3E7EF"/>
                      </a:solidFill>
                      <a:prstDash val="solid"/>
                      <a:round/>
                      <a:headEnd type="none" w="med" len="med"/>
                      <a:tailEnd type="none" w="med" len="med"/>
                    </a:lnR>
                    <a:lnT w="12700" cap="flat" cmpd="sng" algn="ctr">
                      <a:solidFill>
                        <a:srgbClr val="E3E7EF"/>
                      </a:solidFill>
                      <a:prstDash val="solid"/>
                      <a:round/>
                      <a:headEnd type="none" w="med" len="med"/>
                      <a:tailEnd type="none" w="med" len="med"/>
                    </a:lnT>
                    <a:lnB w="12700" cap="flat" cmpd="sng" algn="ctr">
                      <a:solidFill>
                        <a:srgbClr val="E3E7EF"/>
                      </a:solidFill>
                      <a:prstDash val="solid"/>
                      <a:round/>
                      <a:headEnd type="none" w="med" len="med"/>
                      <a:tailEnd type="none" w="med" len="med"/>
                    </a:lnB>
                    <a:solidFill>
                      <a:srgbClr val="1E2761"/>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Best for</a:t>
                      </a:r>
                      <a:endParaRPr lang="en-US" sz="1400" dirty="0">
                        <a:latin typeface="Calibri" charset="0"/>
                        <a:ea typeface="Calibri" charset="0"/>
                        <a:cs typeface="Calibri" charset="0"/>
                      </a:endParaRPr>
                    </a:p>
                  </a:txBody>
                  <a:tcPr>
                    <a:lnL w="12700" cap="flat" cmpd="sng" algn="ctr">
                      <a:solidFill>
                        <a:srgbClr val="E3E7EF"/>
                      </a:solidFill>
                      <a:prstDash val="solid"/>
                      <a:round/>
                      <a:headEnd type="none" w="med" len="med"/>
                      <a:tailEnd type="none" w="med" len="med"/>
                    </a:lnL>
                    <a:lnR w="12700" cap="flat" cmpd="sng" algn="ctr">
                      <a:solidFill>
                        <a:srgbClr val="E3E7EF"/>
                      </a:solidFill>
                      <a:prstDash val="solid"/>
                      <a:round/>
                      <a:headEnd type="none" w="med" len="med"/>
                      <a:tailEnd type="none" w="med" len="med"/>
                    </a:lnR>
                    <a:lnT w="12700" cap="flat" cmpd="sng" algn="ctr">
                      <a:solidFill>
                        <a:srgbClr val="E3E7EF"/>
                      </a:solidFill>
                      <a:prstDash val="solid"/>
                      <a:round/>
                      <a:headEnd type="none" w="med" len="med"/>
                      <a:tailEnd type="none" w="med" len="med"/>
                    </a:lnT>
                    <a:lnB w="12700" cap="flat" cmpd="sng" algn="ctr">
                      <a:solidFill>
                        <a:srgbClr val="E3E7EF"/>
                      </a:solidFill>
                      <a:prstDash val="solid"/>
                      <a:round/>
                      <a:headEnd type="none" w="med" len="med"/>
                      <a:tailEnd type="none" w="med" len="med"/>
                    </a:lnB>
                    <a:solidFill>
                      <a:srgbClr val="1E2761"/>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Profile</a:t>
                      </a:r>
                      <a:endParaRPr lang="en-US" sz="1400" dirty="0">
                        <a:latin typeface="Calibri" charset="0"/>
                        <a:ea typeface="Calibri" charset="0"/>
                        <a:cs typeface="Calibri" charset="0"/>
                      </a:endParaRPr>
                    </a:p>
                  </a:txBody>
                  <a:tcPr>
                    <a:lnL w="12700" cap="flat" cmpd="sng" algn="ctr">
                      <a:solidFill>
                        <a:srgbClr val="E3E7EF"/>
                      </a:solidFill>
                      <a:prstDash val="solid"/>
                      <a:round/>
                      <a:headEnd type="none" w="med" len="med"/>
                      <a:tailEnd type="none" w="med" len="med"/>
                    </a:lnL>
                    <a:lnR w="12700" cap="flat" cmpd="sng" algn="ctr">
                      <a:solidFill>
                        <a:srgbClr val="E3E7EF"/>
                      </a:solidFill>
                      <a:prstDash val="solid"/>
                      <a:round/>
                      <a:headEnd type="none" w="med" len="med"/>
                      <a:tailEnd type="none" w="med" len="med"/>
                    </a:lnR>
                    <a:lnT w="12700" cap="flat" cmpd="sng" algn="ctr">
                      <a:solidFill>
                        <a:srgbClr val="E3E7EF"/>
                      </a:solidFill>
                      <a:prstDash val="solid"/>
                      <a:round/>
                      <a:headEnd type="none" w="med" len="med"/>
                      <a:tailEnd type="none" w="med" len="med"/>
                    </a:lnT>
                    <a:lnB w="12700" cap="flat" cmpd="sng" algn="ctr">
                      <a:solidFill>
                        <a:srgbClr val="E3E7EF"/>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658368">
                <a:tc>
                  <a:txBody>
                    <a:bodyPr/>
                    <a:lstStyle/>
                    <a:p>
                      <a:pPr marL="0" indent="0">
                        <a:buNone/>
                      </a:pPr>
                      <a:r>
                        <a:rPr lang="en-US" sz="1400" b="1" dirty="0">
                          <a:solidFill>
                            <a:srgbClr val="1B1B2A"/>
                          </a:solidFill>
                          <a:latin typeface="Calibri" pitchFamily="34" charset="0"/>
                          <a:ea typeface="Calibri" pitchFamily="34" charset="-122"/>
                          <a:cs typeface="Calibri" pitchFamily="34" charset="-120"/>
                        </a:rPr>
                        <a:t>Haiku</a:t>
                      </a:r>
                      <a:endParaRPr lang="en-US" sz="1400" dirty="0">
                        <a:latin typeface="Calibri" charset="0"/>
                        <a:ea typeface="Calibri" charset="0"/>
                        <a:cs typeface="Calibri" charset="0"/>
                      </a:endParaRPr>
                    </a:p>
                  </a:txBody>
                  <a:tcPr>
                    <a:lnL w="12700" cap="flat" cmpd="sng" algn="ctr">
                      <a:solidFill>
                        <a:srgbClr val="E3E7EF"/>
                      </a:solidFill>
                      <a:prstDash val="solid"/>
                      <a:round/>
                      <a:headEnd type="none" w="med" len="med"/>
                      <a:tailEnd type="none" w="med" len="med"/>
                    </a:lnL>
                    <a:lnR w="12700" cap="flat" cmpd="sng" algn="ctr">
                      <a:solidFill>
                        <a:srgbClr val="E3E7EF"/>
                      </a:solidFill>
                      <a:prstDash val="solid"/>
                      <a:round/>
                      <a:headEnd type="none" w="med" len="med"/>
                      <a:tailEnd type="none" w="med" len="med"/>
                    </a:lnR>
                    <a:lnT w="12700" cap="flat" cmpd="sng" algn="ctr">
                      <a:solidFill>
                        <a:srgbClr val="E3E7EF"/>
                      </a:solidFill>
                      <a:prstDash val="solid"/>
                      <a:round/>
                      <a:headEnd type="none" w="med" len="med"/>
                      <a:tailEnd type="none" w="med" len="med"/>
                    </a:lnT>
                    <a:lnB w="12700" cap="flat" cmpd="sng" algn="ctr">
                      <a:solidFill>
                        <a:srgbClr val="E3E7EF"/>
                      </a:solidFill>
                      <a:prstDash val="solid"/>
                      <a:round/>
                      <a:headEnd type="none" w="med" len="med"/>
                      <a:tailEnd type="none" w="med" len="med"/>
                    </a:lnB>
                  </a:tcPr>
                </a:tc>
                <a:tc>
                  <a:txBody>
                    <a:bodyPr/>
                    <a:lstStyle/>
                    <a:p>
                      <a:pPr marL="0" indent="0">
                        <a:buNone/>
                      </a:pPr>
                      <a:r>
                        <a:rPr lang="en-US" sz="1400" dirty="0">
                          <a:solidFill>
                            <a:srgbClr val="1B1B2A"/>
                          </a:solidFill>
                          <a:latin typeface="Calibri" pitchFamily="34" charset="0"/>
                          <a:ea typeface="Calibri" pitchFamily="34" charset="-122"/>
                          <a:cs typeface="Calibri" pitchFamily="34" charset="-120"/>
                        </a:rPr>
                        <a:t>Small, well-specified, low-risk</a:t>
                      </a:r>
                      <a:endParaRPr lang="en-US" sz="1400" dirty="0">
                        <a:latin typeface="Calibri" charset="0"/>
                        <a:ea typeface="Calibri" charset="0"/>
                        <a:cs typeface="Calibri" charset="0"/>
                      </a:endParaRPr>
                    </a:p>
                  </a:txBody>
                  <a:tcPr>
                    <a:lnL w="12700" cap="flat" cmpd="sng" algn="ctr">
                      <a:solidFill>
                        <a:srgbClr val="E3E7EF"/>
                      </a:solidFill>
                      <a:prstDash val="solid"/>
                      <a:round/>
                      <a:headEnd type="none" w="med" len="med"/>
                      <a:tailEnd type="none" w="med" len="med"/>
                    </a:lnL>
                    <a:lnR w="12700" cap="flat" cmpd="sng" algn="ctr">
                      <a:solidFill>
                        <a:srgbClr val="E3E7EF"/>
                      </a:solidFill>
                      <a:prstDash val="solid"/>
                      <a:round/>
                      <a:headEnd type="none" w="med" len="med"/>
                      <a:tailEnd type="none" w="med" len="med"/>
                    </a:lnR>
                    <a:lnT w="12700" cap="flat" cmpd="sng" algn="ctr">
                      <a:solidFill>
                        <a:srgbClr val="E3E7EF"/>
                      </a:solidFill>
                      <a:prstDash val="solid"/>
                      <a:round/>
                      <a:headEnd type="none" w="med" len="med"/>
                      <a:tailEnd type="none" w="med" len="med"/>
                    </a:lnT>
                    <a:lnB w="12700" cap="flat" cmpd="sng" algn="ctr">
                      <a:solidFill>
                        <a:srgbClr val="E3E7EF"/>
                      </a:solidFill>
                      <a:prstDash val="solid"/>
                      <a:round/>
                      <a:headEnd type="none" w="med" len="med"/>
                      <a:tailEnd type="none" w="med" len="med"/>
                    </a:lnB>
                  </a:tcPr>
                </a:tc>
                <a:tc>
                  <a:txBody>
                    <a:bodyPr/>
                    <a:lstStyle/>
                    <a:p>
                      <a:pPr marL="0" indent="0">
                        <a:buNone/>
                      </a:pPr>
                      <a:r>
                        <a:rPr lang="en-US" sz="1400" i="1" dirty="0">
                          <a:solidFill>
                            <a:srgbClr val="5B6472"/>
                          </a:solidFill>
                          <a:latin typeface="Calibri" pitchFamily="34" charset="0"/>
                          <a:ea typeface="Calibri" pitchFamily="34" charset="-122"/>
                          <a:cs typeface="Calibri" pitchFamily="34" charset="-120"/>
                        </a:rPr>
                        <a:t>Fast, cheap</a:t>
                      </a:r>
                      <a:endParaRPr lang="en-US" sz="1400" dirty="0">
                        <a:latin typeface="Calibri" charset="0"/>
                        <a:ea typeface="Calibri" charset="0"/>
                        <a:cs typeface="Calibri" charset="0"/>
                      </a:endParaRPr>
                    </a:p>
                  </a:txBody>
                  <a:tcPr>
                    <a:lnL w="12700" cap="flat" cmpd="sng" algn="ctr">
                      <a:solidFill>
                        <a:srgbClr val="E3E7EF"/>
                      </a:solidFill>
                      <a:prstDash val="solid"/>
                      <a:round/>
                      <a:headEnd type="none" w="med" len="med"/>
                      <a:tailEnd type="none" w="med" len="med"/>
                    </a:lnL>
                    <a:lnR w="12700" cap="flat" cmpd="sng" algn="ctr">
                      <a:solidFill>
                        <a:srgbClr val="E3E7EF"/>
                      </a:solidFill>
                      <a:prstDash val="solid"/>
                      <a:round/>
                      <a:headEnd type="none" w="med" len="med"/>
                      <a:tailEnd type="none" w="med" len="med"/>
                    </a:lnR>
                    <a:lnT w="12700" cap="flat" cmpd="sng" algn="ctr">
                      <a:solidFill>
                        <a:srgbClr val="E3E7EF"/>
                      </a:solidFill>
                      <a:prstDash val="solid"/>
                      <a:round/>
                      <a:headEnd type="none" w="med" len="med"/>
                      <a:tailEnd type="none" w="med" len="med"/>
                    </a:lnT>
                    <a:lnB w="12700" cap="flat" cmpd="sng" algn="ctr">
                      <a:solidFill>
                        <a:srgbClr val="E3E7EF"/>
                      </a:solidFill>
                      <a:prstDash val="solid"/>
                      <a:round/>
                      <a:headEnd type="none" w="med" len="med"/>
                      <a:tailEnd type="none" w="med" len="med"/>
                    </a:lnB>
                  </a:tcPr>
                </a:tc>
                <a:extLst>
                  <a:ext uri="{0D108BD9-81ED-4DB2-BD59-A6C34878D82A}">
                    <a16:rowId xmlns:a16="http://schemas.microsoft.com/office/drawing/2014/main" val="10001"/>
                  </a:ext>
                </a:extLst>
              </a:tr>
              <a:tr h="658368">
                <a:tc>
                  <a:txBody>
                    <a:bodyPr/>
                    <a:lstStyle/>
                    <a:p>
                      <a:pPr marL="0" indent="0">
                        <a:buNone/>
                      </a:pPr>
                      <a:r>
                        <a:rPr lang="en-US" sz="1400" b="1" dirty="0">
                          <a:solidFill>
                            <a:srgbClr val="1B1B2A"/>
                          </a:solidFill>
                          <a:latin typeface="Calibri" pitchFamily="34" charset="0"/>
                          <a:ea typeface="Calibri" pitchFamily="34" charset="-122"/>
                          <a:cs typeface="Calibri" pitchFamily="34" charset="-120"/>
                        </a:rPr>
                        <a:t>Sonnet</a:t>
                      </a:r>
                      <a:endParaRPr lang="en-US" sz="1400" dirty="0">
                        <a:latin typeface="Calibri" charset="0"/>
                        <a:ea typeface="Calibri" charset="0"/>
                        <a:cs typeface="Calibri" charset="0"/>
                      </a:endParaRPr>
                    </a:p>
                  </a:txBody>
                  <a:tcPr>
                    <a:lnL w="12700" cap="flat" cmpd="sng" algn="ctr">
                      <a:solidFill>
                        <a:srgbClr val="E3E7EF"/>
                      </a:solidFill>
                      <a:prstDash val="solid"/>
                      <a:round/>
                      <a:headEnd type="none" w="med" len="med"/>
                      <a:tailEnd type="none" w="med" len="med"/>
                    </a:lnL>
                    <a:lnR w="12700" cap="flat" cmpd="sng" algn="ctr">
                      <a:solidFill>
                        <a:srgbClr val="E3E7EF"/>
                      </a:solidFill>
                      <a:prstDash val="solid"/>
                      <a:round/>
                      <a:headEnd type="none" w="med" len="med"/>
                      <a:tailEnd type="none" w="med" len="med"/>
                    </a:lnR>
                    <a:lnT w="12700" cap="flat" cmpd="sng" algn="ctr">
                      <a:solidFill>
                        <a:srgbClr val="E3E7EF"/>
                      </a:solidFill>
                      <a:prstDash val="solid"/>
                      <a:round/>
                      <a:headEnd type="none" w="med" len="med"/>
                      <a:tailEnd type="none" w="med" len="med"/>
                    </a:lnT>
                    <a:lnB w="12700" cap="flat" cmpd="sng" algn="ctr">
                      <a:solidFill>
                        <a:srgbClr val="E3E7EF"/>
                      </a:solidFill>
                      <a:prstDash val="solid"/>
                      <a:round/>
                      <a:headEnd type="none" w="med" len="med"/>
                      <a:tailEnd type="none" w="med" len="med"/>
                    </a:lnB>
                  </a:tcPr>
                </a:tc>
                <a:tc>
                  <a:txBody>
                    <a:bodyPr/>
                    <a:lstStyle/>
                    <a:p>
                      <a:pPr marL="0" indent="0">
                        <a:buNone/>
                      </a:pPr>
                      <a:r>
                        <a:rPr lang="en-US" sz="1400" dirty="0">
                          <a:solidFill>
                            <a:srgbClr val="1B1B2A"/>
                          </a:solidFill>
                          <a:latin typeface="Calibri" pitchFamily="34" charset="0"/>
                          <a:ea typeface="Calibri" pitchFamily="34" charset="-122"/>
                          <a:cs typeface="Calibri" pitchFamily="34" charset="-120"/>
                        </a:rPr>
                        <a:t>Default for day-to-day implementation</a:t>
                      </a:r>
                      <a:endParaRPr lang="en-US" sz="1400" dirty="0">
                        <a:latin typeface="Calibri" charset="0"/>
                        <a:ea typeface="Calibri" charset="0"/>
                        <a:cs typeface="Calibri" charset="0"/>
                      </a:endParaRPr>
                    </a:p>
                  </a:txBody>
                  <a:tcPr>
                    <a:lnL w="12700" cap="flat" cmpd="sng" algn="ctr">
                      <a:solidFill>
                        <a:srgbClr val="E3E7EF"/>
                      </a:solidFill>
                      <a:prstDash val="solid"/>
                      <a:round/>
                      <a:headEnd type="none" w="med" len="med"/>
                      <a:tailEnd type="none" w="med" len="med"/>
                    </a:lnL>
                    <a:lnR w="12700" cap="flat" cmpd="sng" algn="ctr">
                      <a:solidFill>
                        <a:srgbClr val="E3E7EF"/>
                      </a:solidFill>
                      <a:prstDash val="solid"/>
                      <a:round/>
                      <a:headEnd type="none" w="med" len="med"/>
                      <a:tailEnd type="none" w="med" len="med"/>
                    </a:lnR>
                    <a:lnT w="12700" cap="flat" cmpd="sng" algn="ctr">
                      <a:solidFill>
                        <a:srgbClr val="E3E7EF"/>
                      </a:solidFill>
                      <a:prstDash val="solid"/>
                      <a:round/>
                      <a:headEnd type="none" w="med" len="med"/>
                      <a:tailEnd type="none" w="med" len="med"/>
                    </a:lnT>
                    <a:lnB w="12700" cap="flat" cmpd="sng" algn="ctr">
                      <a:solidFill>
                        <a:srgbClr val="E3E7EF"/>
                      </a:solidFill>
                      <a:prstDash val="solid"/>
                      <a:round/>
                      <a:headEnd type="none" w="med" len="med"/>
                      <a:tailEnd type="none" w="med" len="med"/>
                    </a:lnB>
                  </a:tcPr>
                </a:tc>
                <a:tc>
                  <a:txBody>
                    <a:bodyPr/>
                    <a:lstStyle/>
                    <a:p>
                      <a:pPr marL="0" indent="0">
                        <a:buNone/>
                      </a:pPr>
                      <a:r>
                        <a:rPr lang="en-US" sz="1400" i="1" dirty="0">
                          <a:solidFill>
                            <a:srgbClr val="5B6472"/>
                          </a:solidFill>
                          <a:latin typeface="Calibri" pitchFamily="34" charset="0"/>
                          <a:ea typeface="Calibri" pitchFamily="34" charset="-122"/>
                          <a:cs typeface="Calibri" pitchFamily="34" charset="-120"/>
                        </a:rPr>
                        <a:t>Balanced</a:t>
                      </a:r>
                      <a:endParaRPr lang="en-US" sz="1400" dirty="0">
                        <a:latin typeface="Calibri" charset="0"/>
                        <a:ea typeface="Calibri" charset="0"/>
                        <a:cs typeface="Calibri" charset="0"/>
                      </a:endParaRPr>
                    </a:p>
                  </a:txBody>
                  <a:tcPr>
                    <a:lnL w="12700" cap="flat" cmpd="sng" algn="ctr">
                      <a:solidFill>
                        <a:srgbClr val="E3E7EF"/>
                      </a:solidFill>
                      <a:prstDash val="solid"/>
                      <a:round/>
                      <a:headEnd type="none" w="med" len="med"/>
                      <a:tailEnd type="none" w="med" len="med"/>
                    </a:lnL>
                    <a:lnR w="12700" cap="flat" cmpd="sng" algn="ctr">
                      <a:solidFill>
                        <a:srgbClr val="E3E7EF"/>
                      </a:solidFill>
                      <a:prstDash val="solid"/>
                      <a:round/>
                      <a:headEnd type="none" w="med" len="med"/>
                      <a:tailEnd type="none" w="med" len="med"/>
                    </a:lnR>
                    <a:lnT w="12700" cap="flat" cmpd="sng" algn="ctr">
                      <a:solidFill>
                        <a:srgbClr val="E3E7EF"/>
                      </a:solidFill>
                      <a:prstDash val="solid"/>
                      <a:round/>
                      <a:headEnd type="none" w="med" len="med"/>
                      <a:tailEnd type="none" w="med" len="med"/>
                    </a:lnT>
                    <a:lnB w="12700" cap="flat" cmpd="sng" algn="ctr">
                      <a:solidFill>
                        <a:srgbClr val="E3E7EF"/>
                      </a:solidFill>
                      <a:prstDash val="solid"/>
                      <a:round/>
                      <a:headEnd type="none" w="med" len="med"/>
                      <a:tailEnd type="none" w="med" len="med"/>
                    </a:lnB>
                  </a:tcPr>
                </a:tc>
                <a:extLst>
                  <a:ext uri="{0D108BD9-81ED-4DB2-BD59-A6C34878D82A}">
                    <a16:rowId xmlns:a16="http://schemas.microsoft.com/office/drawing/2014/main" val="10002"/>
                  </a:ext>
                </a:extLst>
              </a:tr>
              <a:tr h="658368">
                <a:tc>
                  <a:txBody>
                    <a:bodyPr/>
                    <a:lstStyle/>
                    <a:p>
                      <a:pPr marL="0" indent="0">
                        <a:buNone/>
                      </a:pPr>
                      <a:r>
                        <a:rPr lang="en-US" sz="1400" b="1" dirty="0">
                          <a:solidFill>
                            <a:srgbClr val="1B1B2A"/>
                          </a:solidFill>
                          <a:latin typeface="Calibri" pitchFamily="34" charset="0"/>
                          <a:ea typeface="Calibri" pitchFamily="34" charset="-122"/>
                          <a:cs typeface="Calibri" pitchFamily="34" charset="-120"/>
                        </a:rPr>
                        <a:t>Opus</a:t>
                      </a:r>
                      <a:endParaRPr lang="en-US" sz="1400" dirty="0">
                        <a:latin typeface="Calibri" charset="0"/>
                        <a:ea typeface="Calibri" charset="0"/>
                        <a:cs typeface="Calibri" charset="0"/>
                      </a:endParaRPr>
                    </a:p>
                  </a:txBody>
                  <a:tcPr>
                    <a:lnL w="12700" cap="flat" cmpd="sng" algn="ctr">
                      <a:solidFill>
                        <a:srgbClr val="E3E7EF"/>
                      </a:solidFill>
                      <a:prstDash val="solid"/>
                      <a:round/>
                      <a:headEnd type="none" w="med" len="med"/>
                      <a:tailEnd type="none" w="med" len="med"/>
                    </a:lnL>
                    <a:lnR w="12700" cap="flat" cmpd="sng" algn="ctr">
                      <a:solidFill>
                        <a:srgbClr val="E3E7EF"/>
                      </a:solidFill>
                      <a:prstDash val="solid"/>
                      <a:round/>
                      <a:headEnd type="none" w="med" len="med"/>
                      <a:tailEnd type="none" w="med" len="med"/>
                    </a:lnR>
                    <a:lnT w="12700" cap="flat" cmpd="sng" algn="ctr">
                      <a:solidFill>
                        <a:srgbClr val="E3E7EF"/>
                      </a:solidFill>
                      <a:prstDash val="solid"/>
                      <a:round/>
                      <a:headEnd type="none" w="med" len="med"/>
                      <a:tailEnd type="none" w="med" len="med"/>
                    </a:lnT>
                    <a:lnB w="12700" cap="flat" cmpd="sng" algn="ctr">
                      <a:solidFill>
                        <a:srgbClr val="E3E7EF"/>
                      </a:solidFill>
                      <a:prstDash val="solid"/>
                      <a:round/>
                      <a:headEnd type="none" w="med" len="med"/>
                      <a:tailEnd type="none" w="med" len="med"/>
                    </a:lnB>
                  </a:tcPr>
                </a:tc>
                <a:tc>
                  <a:txBody>
                    <a:bodyPr/>
                    <a:lstStyle/>
                    <a:p>
                      <a:pPr marL="0" indent="0">
                        <a:buNone/>
                      </a:pPr>
                      <a:r>
                        <a:rPr lang="en-US" sz="1400" dirty="0">
                          <a:solidFill>
                            <a:srgbClr val="1B1B2A"/>
                          </a:solidFill>
                          <a:latin typeface="Calibri" pitchFamily="34" charset="0"/>
                          <a:ea typeface="Calibri" pitchFamily="34" charset="-122"/>
                          <a:cs typeface="Calibri" pitchFamily="34" charset="-120"/>
                        </a:rPr>
                        <a:t>Architecture decisions, foundational/shared code, higher risk</a:t>
                      </a:r>
                      <a:endParaRPr lang="en-US" sz="1400" dirty="0">
                        <a:latin typeface="Calibri" charset="0"/>
                        <a:ea typeface="Calibri" charset="0"/>
                        <a:cs typeface="Calibri" charset="0"/>
                      </a:endParaRPr>
                    </a:p>
                  </a:txBody>
                  <a:tcPr>
                    <a:lnL w="12700" cap="flat" cmpd="sng" algn="ctr">
                      <a:solidFill>
                        <a:srgbClr val="E3E7EF"/>
                      </a:solidFill>
                      <a:prstDash val="solid"/>
                      <a:round/>
                      <a:headEnd type="none" w="med" len="med"/>
                      <a:tailEnd type="none" w="med" len="med"/>
                    </a:lnL>
                    <a:lnR w="12700" cap="flat" cmpd="sng" algn="ctr">
                      <a:solidFill>
                        <a:srgbClr val="E3E7EF"/>
                      </a:solidFill>
                      <a:prstDash val="solid"/>
                      <a:round/>
                      <a:headEnd type="none" w="med" len="med"/>
                      <a:tailEnd type="none" w="med" len="med"/>
                    </a:lnR>
                    <a:lnT w="12700" cap="flat" cmpd="sng" algn="ctr">
                      <a:solidFill>
                        <a:srgbClr val="E3E7EF"/>
                      </a:solidFill>
                      <a:prstDash val="solid"/>
                      <a:round/>
                      <a:headEnd type="none" w="med" len="med"/>
                      <a:tailEnd type="none" w="med" len="med"/>
                    </a:lnT>
                    <a:lnB w="12700" cap="flat" cmpd="sng" algn="ctr">
                      <a:solidFill>
                        <a:srgbClr val="E3E7EF"/>
                      </a:solidFill>
                      <a:prstDash val="solid"/>
                      <a:round/>
                      <a:headEnd type="none" w="med" len="med"/>
                      <a:tailEnd type="none" w="med" len="med"/>
                    </a:lnB>
                  </a:tcPr>
                </a:tc>
                <a:tc>
                  <a:txBody>
                    <a:bodyPr/>
                    <a:lstStyle/>
                    <a:p>
                      <a:pPr marL="0" indent="0">
                        <a:buNone/>
                      </a:pPr>
                      <a:r>
                        <a:rPr lang="en-US" sz="1400" i="1" dirty="0">
                          <a:solidFill>
                            <a:srgbClr val="5B6472"/>
                          </a:solidFill>
                          <a:latin typeface="Calibri" pitchFamily="34" charset="0"/>
                          <a:ea typeface="Calibri" pitchFamily="34" charset="-122"/>
                          <a:cs typeface="Calibri" pitchFamily="34" charset="-120"/>
                        </a:rPr>
                        <a:t>Deeper reasoning</a:t>
                      </a:r>
                      <a:endParaRPr lang="en-US" sz="1400" dirty="0">
                        <a:latin typeface="Calibri" charset="0"/>
                        <a:ea typeface="Calibri" charset="0"/>
                        <a:cs typeface="Calibri" charset="0"/>
                      </a:endParaRPr>
                    </a:p>
                  </a:txBody>
                  <a:tcPr>
                    <a:lnL w="12700" cap="flat" cmpd="sng" algn="ctr">
                      <a:solidFill>
                        <a:srgbClr val="E3E7EF"/>
                      </a:solidFill>
                      <a:prstDash val="solid"/>
                      <a:round/>
                      <a:headEnd type="none" w="med" len="med"/>
                      <a:tailEnd type="none" w="med" len="med"/>
                    </a:lnL>
                    <a:lnR w="12700" cap="flat" cmpd="sng" algn="ctr">
                      <a:solidFill>
                        <a:srgbClr val="E3E7EF"/>
                      </a:solidFill>
                      <a:prstDash val="solid"/>
                      <a:round/>
                      <a:headEnd type="none" w="med" len="med"/>
                      <a:tailEnd type="none" w="med" len="med"/>
                    </a:lnR>
                    <a:lnT w="12700" cap="flat" cmpd="sng" algn="ctr">
                      <a:solidFill>
                        <a:srgbClr val="E3E7EF"/>
                      </a:solidFill>
                      <a:prstDash val="solid"/>
                      <a:round/>
                      <a:headEnd type="none" w="med" len="med"/>
                      <a:tailEnd type="none" w="med" len="med"/>
                    </a:lnT>
                    <a:lnB w="12700" cap="flat" cmpd="sng" algn="ctr">
                      <a:solidFill>
                        <a:srgbClr val="E3E7EF"/>
                      </a:solidFill>
                      <a:prstDash val="solid"/>
                      <a:round/>
                      <a:headEnd type="none" w="med" len="med"/>
                      <a:tailEnd type="none" w="med" len="med"/>
                    </a:lnB>
                  </a:tcPr>
                </a:tc>
                <a:extLst>
                  <a:ext uri="{0D108BD9-81ED-4DB2-BD59-A6C34878D82A}">
                    <a16:rowId xmlns:a16="http://schemas.microsoft.com/office/drawing/2014/main" val="10003"/>
                  </a:ext>
                </a:extLst>
              </a:tr>
              <a:tr h="658368">
                <a:tc>
                  <a:txBody>
                    <a:bodyPr/>
                    <a:lstStyle/>
                    <a:p>
                      <a:pPr marL="0" indent="0">
                        <a:buNone/>
                      </a:pPr>
                      <a:r>
                        <a:rPr lang="en-US" sz="1400" b="1" dirty="0">
                          <a:solidFill>
                            <a:srgbClr val="1B1B2A"/>
                          </a:solidFill>
                          <a:latin typeface="Calibri" pitchFamily="34" charset="0"/>
                          <a:ea typeface="Calibri" pitchFamily="34" charset="-122"/>
                          <a:cs typeface="Calibri" pitchFamily="34" charset="-120"/>
                        </a:rPr>
                        <a:t>Fable</a:t>
                      </a:r>
                      <a:endParaRPr lang="en-US" sz="1400" dirty="0">
                        <a:latin typeface="Calibri" charset="0"/>
                        <a:ea typeface="Calibri" charset="0"/>
                        <a:cs typeface="Calibri" charset="0"/>
                      </a:endParaRPr>
                    </a:p>
                  </a:txBody>
                  <a:tcPr>
                    <a:lnL w="12700" cap="flat" cmpd="sng" algn="ctr">
                      <a:solidFill>
                        <a:srgbClr val="E3E7EF"/>
                      </a:solidFill>
                      <a:prstDash val="solid"/>
                      <a:round/>
                      <a:headEnd type="none" w="med" len="med"/>
                      <a:tailEnd type="none" w="med" len="med"/>
                    </a:lnL>
                    <a:lnR w="12700" cap="flat" cmpd="sng" algn="ctr">
                      <a:solidFill>
                        <a:srgbClr val="E3E7EF"/>
                      </a:solidFill>
                      <a:prstDash val="solid"/>
                      <a:round/>
                      <a:headEnd type="none" w="med" len="med"/>
                      <a:tailEnd type="none" w="med" len="med"/>
                    </a:lnR>
                    <a:lnT w="12700" cap="flat" cmpd="sng" algn="ctr">
                      <a:solidFill>
                        <a:srgbClr val="E3E7EF"/>
                      </a:solidFill>
                      <a:prstDash val="solid"/>
                      <a:round/>
                      <a:headEnd type="none" w="med" len="med"/>
                      <a:tailEnd type="none" w="med" len="med"/>
                    </a:lnT>
                    <a:lnB w="12700" cap="flat" cmpd="sng" algn="ctr">
                      <a:solidFill>
                        <a:srgbClr val="E3E7EF"/>
                      </a:solidFill>
                      <a:prstDash val="solid"/>
                      <a:round/>
                      <a:headEnd type="none" w="med" len="med"/>
                      <a:tailEnd type="none" w="med" len="med"/>
                    </a:lnB>
                  </a:tcPr>
                </a:tc>
                <a:tc>
                  <a:txBody>
                    <a:bodyPr/>
                    <a:lstStyle/>
                    <a:p>
                      <a:pPr marL="0" indent="0">
                        <a:buNone/>
                      </a:pPr>
                      <a:r>
                        <a:rPr lang="en-US" sz="1400" dirty="0">
                          <a:solidFill>
                            <a:srgbClr val="1B1B2A"/>
                          </a:solidFill>
                          <a:latin typeface="Calibri" pitchFamily="34" charset="0"/>
                          <a:ea typeface="Calibri" pitchFamily="34" charset="-122"/>
                          <a:cs typeface="Calibri" pitchFamily="34" charset="-120"/>
                        </a:rPr>
                        <a:t>Long, ambiguous, investigative work</a:t>
                      </a:r>
                      <a:endParaRPr lang="en-US" sz="1400" dirty="0">
                        <a:latin typeface="Calibri" charset="0"/>
                        <a:ea typeface="Calibri" charset="0"/>
                        <a:cs typeface="Calibri" charset="0"/>
                      </a:endParaRPr>
                    </a:p>
                  </a:txBody>
                  <a:tcPr>
                    <a:lnL w="12700" cap="flat" cmpd="sng" algn="ctr">
                      <a:solidFill>
                        <a:srgbClr val="E3E7EF"/>
                      </a:solidFill>
                      <a:prstDash val="solid"/>
                      <a:round/>
                      <a:headEnd type="none" w="med" len="med"/>
                      <a:tailEnd type="none" w="med" len="med"/>
                    </a:lnL>
                    <a:lnR w="12700" cap="flat" cmpd="sng" algn="ctr">
                      <a:solidFill>
                        <a:srgbClr val="E3E7EF"/>
                      </a:solidFill>
                      <a:prstDash val="solid"/>
                      <a:round/>
                      <a:headEnd type="none" w="med" len="med"/>
                      <a:tailEnd type="none" w="med" len="med"/>
                    </a:lnR>
                    <a:lnT w="12700" cap="flat" cmpd="sng" algn="ctr">
                      <a:solidFill>
                        <a:srgbClr val="E3E7EF"/>
                      </a:solidFill>
                      <a:prstDash val="solid"/>
                      <a:round/>
                      <a:headEnd type="none" w="med" len="med"/>
                      <a:tailEnd type="none" w="med" len="med"/>
                    </a:lnT>
                    <a:lnB w="12700" cap="flat" cmpd="sng" algn="ctr">
                      <a:solidFill>
                        <a:srgbClr val="E3E7EF"/>
                      </a:solidFill>
                      <a:prstDash val="solid"/>
                      <a:round/>
                      <a:headEnd type="none" w="med" len="med"/>
                      <a:tailEnd type="none" w="med" len="med"/>
                    </a:lnB>
                  </a:tcPr>
                </a:tc>
                <a:tc>
                  <a:txBody>
                    <a:bodyPr/>
                    <a:lstStyle/>
                    <a:p>
                      <a:pPr marL="0" indent="0">
                        <a:buNone/>
                      </a:pPr>
                      <a:r>
                        <a:rPr lang="en-US" sz="1400" i="1" dirty="0">
                          <a:solidFill>
                            <a:srgbClr val="5B6472"/>
                          </a:solidFill>
                          <a:latin typeface="Calibri" pitchFamily="34" charset="0"/>
                          <a:ea typeface="Calibri" pitchFamily="34" charset="-122"/>
                          <a:cs typeface="Calibri" pitchFamily="34" charset="-120"/>
                        </a:rPr>
                        <a:t>Most capable, not default</a:t>
                      </a:r>
                      <a:endParaRPr lang="en-US" sz="1400" dirty="0">
                        <a:latin typeface="Calibri" charset="0"/>
                        <a:ea typeface="Calibri" charset="0"/>
                        <a:cs typeface="Calibri" charset="0"/>
                      </a:endParaRPr>
                    </a:p>
                  </a:txBody>
                  <a:tcPr>
                    <a:lnL w="12700" cap="flat" cmpd="sng" algn="ctr">
                      <a:solidFill>
                        <a:srgbClr val="E3E7EF"/>
                      </a:solidFill>
                      <a:prstDash val="solid"/>
                      <a:round/>
                      <a:headEnd type="none" w="med" len="med"/>
                      <a:tailEnd type="none" w="med" len="med"/>
                    </a:lnL>
                    <a:lnR w="12700" cap="flat" cmpd="sng" algn="ctr">
                      <a:solidFill>
                        <a:srgbClr val="E3E7EF"/>
                      </a:solidFill>
                      <a:prstDash val="solid"/>
                      <a:round/>
                      <a:headEnd type="none" w="med" len="med"/>
                      <a:tailEnd type="none" w="med" len="med"/>
                    </a:lnR>
                    <a:lnT w="12700" cap="flat" cmpd="sng" algn="ctr">
                      <a:solidFill>
                        <a:srgbClr val="E3E7EF"/>
                      </a:solidFill>
                      <a:prstDash val="solid"/>
                      <a:round/>
                      <a:headEnd type="none" w="med" len="med"/>
                      <a:tailEnd type="none" w="med" len="med"/>
                    </a:lnT>
                    <a:lnB w="12700" cap="flat" cmpd="sng" algn="ctr">
                      <a:solidFill>
                        <a:srgbClr val="E3E7EF"/>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Text 2"/>
          <p:cNvSpPr txBox="1"/>
          <p:nvPr/>
        </p:nvSpPr>
        <p:spPr>
          <a:xfrm>
            <a:off x="548640" y="5120640"/>
            <a:ext cx="10972800" cy="457200"/>
          </a:xfrm>
          <a:prstGeom prst="rect">
            <a:avLst/>
          </a:prstGeom>
          <a:noFill/>
          <a:ln/>
        </p:spPr>
        <p:txBody>
          <a:bodyPr wrap="square" lIns="0" tIns="0" rIns="0" bIns="0" rtlCol="0" anchor="ctr"/>
          <a:lstStyle/>
          <a:p>
            <a:pPr marL="0" indent="0">
              <a:buNone/>
            </a:pPr>
            <a:r>
              <a:rPr lang="en-US" sz="1400" i="1" dirty="0">
                <a:solidFill>
                  <a:srgbClr val="5B6472"/>
                </a:solidFill>
                <a:latin typeface="Calibri" pitchFamily="34" charset="0"/>
                <a:ea typeface="Calibri" pitchFamily="34" charset="-122"/>
                <a:cs typeface="Calibri" pitchFamily="34" charset="-120"/>
              </a:rPr>
              <a:t>Effort level (low / medium / high / xhigh / max) is a separate dial from model choice.</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7315200" cy="365760"/>
          </a:xfrm>
          <a:prstGeom prst="rect">
            <a:avLst/>
          </a:prstGeom>
          <a:noFill/>
          <a:ln/>
        </p:spPr>
        <p:txBody>
          <a:bodyPr wrap="square" lIns="0" tIns="0" rIns="0" bIns="0" rtlCol="0" anchor="ctr"/>
          <a:lstStyle/>
          <a:p>
            <a:pPr marL="0" indent="0">
              <a:buNone/>
            </a:pPr>
            <a:r>
              <a:rPr lang="en-US" sz="1200" b="1" kern="0" spc="200" dirty="0">
                <a:solidFill>
                  <a:srgbClr val="1E2761"/>
                </a:solidFill>
                <a:latin typeface="Calibri" pitchFamily="34" charset="0"/>
                <a:ea typeface="Calibri" pitchFamily="34" charset="-122"/>
                <a:cs typeface="Calibri" pitchFamily="34" charset="-120"/>
              </a:rPr>
              <a:t>MODULE 2</a:t>
            </a:r>
            <a:endParaRPr lang="en-US" sz="1200" dirty="0"/>
          </a:p>
        </p:txBody>
      </p:sp>
      <p:sp>
        <p:nvSpPr>
          <p:cNvPr id="3" name="Text 1"/>
          <p:cNvSpPr txBox="1"/>
          <p:nvPr/>
        </p:nvSpPr>
        <p:spPr>
          <a:xfrm>
            <a:off x="548640" y="685800"/>
            <a:ext cx="9144000" cy="640080"/>
          </a:xfrm>
          <a:prstGeom prst="rect">
            <a:avLst/>
          </a:prstGeom>
          <a:noFill/>
          <a:ln/>
        </p:spPr>
        <p:txBody>
          <a:bodyPr wrap="square" lIns="0" tIns="0" rIns="0" bIns="0" rtlCol="0" anchor="ctr"/>
          <a:lstStyle/>
          <a:p>
            <a:pPr marL="0" indent="0">
              <a:buNone/>
            </a:pPr>
            <a:r>
              <a:rPr lang="en-US" sz="3000" b="1" dirty="0">
                <a:solidFill>
                  <a:srgbClr val="1B1B2A"/>
                </a:solidFill>
                <a:latin typeface="Cambria" pitchFamily="34" charset="0"/>
                <a:ea typeface="Cambria" pitchFamily="34" charset="-122"/>
                <a:cs typeface="Cambria" pitchFamily="34" charset="-120"/>
              </a:rPr>
              <a:t>Switching Models Mid-Session</a:t>
            </a:r>
            <a:endParaRPr lang="en-US" sz="3000" dirty="0"/>
          </a:p>
        </p:txBody>
      </p:sp>
      <p:sp>
        <p:nvSpPr>
          <p:cNvPr id="4" name="Shape 2"/>
          <p:cNvSpPr/>
          <p:nvPr/>
        </p:nvSpPr>
        <p:spPr>
          <a:xfrm>
            <a:off x="548640" y="1600200"/>
            <a:ext cx="11064240" cy="2103120"/>
          </a:xfrm>
          <a:prstGeom prst="roundRect">
            <a:avLst>
              <a:gd name="adj" fmla="val 3478"/>
            </a:avLst>
          </a:prstGeom>
          <a:solidFill>
            <a:srgbClr val="1B1B2A"/>
          </a:solidFill>
          <a:ln/>
        </p:spPr>
        <p:txBody>
          <a:bodyPr/>
          <a:lstStyle/>
          <a:p>
            <a:endParaRPr lang="en-US"/>
          </a:p>
        </p:txBody>
      </p:sp>
      <p:sp>
        <p:nvSpPr>
          <p:cNvPr id="5" name="Text 3"/>
          <p:cNvSpPr txBox="1"/>
          <p:nvPr/>
        </p:nvSpPr>
        <p:spPr>
          <a:xfrm>
            <a:off x="914400" y="1874520"/>
            <a:ext cx="10332720" cy="411480"/>
          </a:xfrm>
          <a:prstGeom prst="rect">
            <a:avLst/>
          </a:prstGeom>
          <a:noFill/>
          <a:ln/>
        </p:spPr>
        <p:txBody>
          <a:bodyPr wrap="square" lIns="0" tIns="0" rIns="0" bIns="0" rtlCol="0" anchor="ctr"/>
          <a:lstStyle/>
          <a:p>
            <a:pPr marL="0" indent="0">
              <a:buNone/>
            </a:pPr>
            <a:r>
              <a:rPr lang="en-US" sz="1500" dirty="0">
                <a:solidFill>
                  <a:srgbClr val="7CFC9C"/>
                </a:solidFill>
                <a:latin typeface="Consolas" pitchFamily="34" charset="0"/>
                <a:ea typeface="Consolas" pitchFamily="34" charset="-122"/>
                <a:cs typeface="Consolas" pitchFamily="34" charset="-120"/>
              </a:rPr>
              <a:t>/model            # open picker</a:t>
            </a:r>
            <a:endParaRPr lang="en-US" sz="1500" dirty="0"/>
          </a:p>
        </p:txBody>
      </p:sp>
      <p:sp>
        <p:nvSpPr>
          <p:cNvPr id="6" name="Text 4"/>
          <p:cNvSpPr txBox="1"/>
          <p:nvPr/>
        </p:nvSpPr>
        <p:spPr>
          <a:xfrm>
            <a:off x="914400" y="2331720"/>
            <a:ext cx="10332720" cy="411480"/>
          </a:xfrm>
          <a:prstGeom prst="rect">
            <a:avLst/>
          </a:prstGeom>
          <a:noFill/>
          <a:ln/>
        </p:spPr>
        <p:txBody>
          <a:bodyPr wrap="square" lIns="0" tIns="0" rIns="0" bIns="0" rtlCol="0" anchor="ctr"/>
          <a:lstStyle/>
          <a:p>
            <a:pPr marL="0" indent="0">
              <a:buNone/>
            </a:pPr>
            <a:r>
              <a:rPr lang="en-US" sz="1500" dirty="0">
                <a:solidFill>
                  <a:srgbClr val="7CFC9C"/>
                </a:solidFill>
                <a:latin typeface="Consolas" pitchFamily="34" charset="0"/>
                <a:ea typeface="Consolas" pitchFamily="34" charset="-122"/>
                <a:cs typeface="Consolas" pitchFamily="34" charset="-120"/>
              </a:rPr>
              <a:t>/model opus       # switch directly</a:t>
            </a:r>
            <a:endParaRPr lang="en-US" sz="1500" dirty="0"/>
          </a:p>
        </p:txBody>
      </p:sp>
      <p:sp>
        <p:nvSpPr>
          <p:cNvPr id="7" name="Text 5"/>
          <p:cNvSpPr txBox="1"/>
          <p:nvPr/>
        </p:nvSpPr>
        <p:spPr>
          <a:xfrm>
            <a:off x="914400" y="2788920"/>
            <a:ext cx="10332720" cy="411480"/>
          </a:xfrm>
          <a:prstGeom prst="rect">
            <a:avLst/>
          </a:prstGeom>
          <a:noFill/>
          <a:ln/>
        </p:spPr>
        <p:txBody>
          <a:bodyPr wrap="square" lIns="0" tIns="0" rIns="0" bIns="0" rtlCol="0" anchor="ctr"/>
          <a:lstStyle/>
          <a:p>
            <a:pPr marL="0" indent="0">
              <a:buNone/>
            </a:pPr>
            <a:r>
              <a:rPr lang="en-US" sz="1500" dirty="0">
                <a:solidFill>
                  <a:srgbClr val="7CFC9C"/>
                </a:solidFill>
                <a:latin typeface="Consolas" pitchFamily="34" charset="0"/>
                <a:ea typeface="Consolas" pitchFamily="34" charset="-122"/>
                <a:cs typeface="Consolas" pitchFamily="34" charset="-120"/>
              </a:rPr>
              <a:t>/model sonnet</a:t>
            </a:r>
            <a:endParaRPr lang="en-US" sz="1500" dirty="0"/>
          </a:p>
        </p:txBody>
      </p:sp>
      <p:sp>
        <p:nvSpPr>
          <p:cNvPr id="8" name="Text 6"/>
          <p:cNvSpPr txBox="1"/>
          <p:nvPr/>
        </p:nvSpPr>
        <p:spPr>
          <a:xfrm>
            <a:off x="914400" y="3246120"/>
            <a:ext cx="10332720" cy="411480"/>
          </a:xfrm>
          <a:prstGeom prst="rect">
            <a:avLst/>
          </a:prstGeom>
          <a:noFill/>
          <a:ln/>
        </p:spPr>
        <p:txBody>
          <a:bodyPr wrap="square" lIns="0" tIns="0" rIns="0" bIns="0" rtlCol="0" anchor="ctr"/>
          <a:lstStyle/>
          <a:p>
            <a:pPr marL="0" indent="0">
              <a:buNone/>
            </a:pPr>
            <a:r>
              <a:rPr lang="en-US" sz="1500" dirty="0">
                <a:solidFill>
                  <a:srgbClr val="7CFC9C"/>
                </a:solidFill>
                <a:latin typeface="Consolas" pitchFamily="34" charset="0"/>
                <a:ea typeface="Consolas" pitchFamily="34" charset="-122"/>
                <a:cs typeface="Consolas" pitchFamily="34" charset="-120"/>
              </a:rPr>
              <a:t>s                 # (in picker) apply to this session only</a:t>
            </a:r>
            <a:endParaRPr lang="en-US" sz="1500" dirty="0"/>
          </a:p>
        </p:txBody>
      </p:sp>
      <p:sp>
        <p:nvSpPr>
          <p:cNvPr id="9" name="Text 7"/>
          <p:cNvSpPr txBox="1"/>
          <p:nvPr/>
        </p:nvSpPr>
        <p:spPr>
          <a:xfrm>
            <a:off x="548640" y="3931920"/>
            <a:ext cx="10972800" cy="822960"/>
          </a:xfrm>
          <a:prstGeom prst="rect">
            <a:avLst/>
          </a:prstGeom>
          <a:noFill/>
          <a:ln/>
        </p:spPr>
        <p:txBody>
          <a:bodyPr wrap="square" lIns="0" tIns="0" rIns="0" bIns="0" rtlCol="0" anchor="ctr"/>
          <a:lstStyle/>
          <a:p>
            <a:pPr marL="0" indent="0">
              <a:buNone/>
            </a:pPr>
            <a:r>
              <a:rPr lang="en-US" sz="1500" dirty="0">
                <a:solidFill>
                  <a:srgbClr val="5B6472"/>
                </a:solidFill>
                <a:latin typeface="Calibri" pitchFamily="34" charset="0"/>
                <a:ea typeface="Calibri" pitchFamily="34" charset="-122"/>
                <a:cs typeface="Calibri" pitchFamily="34" charset="-120"/>
              </a:rPr>
              <a:t>Escalate mid-task when a Sonnet session is stuck or the stakes turn out higher than expected. Downgrade when a task is proving simpler than planned.</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1">
    <p:bg>
      <p:bgPr>
        <a:solidFill>
          <a:srgbClr val="1E2761"/>
        </a:solidFill>
        <a:effectLst/>
      </p:bgPr>
    </p:bg>
    <p:spTree>
      <p:nvGrpSpPr>
        <p:cNvPr id="1" name=""/>
        <p:cNvGrpSpPr/>
        <p:nvPr/>
      </p:nvGrpSpPr>
      <p:grpSpPr>
        <a:xfrm>
          <a:off x="0" y="0"/>
          <a:ext cx="0" cy="0"/>
          <a:chOff x="0" y="0"/>
          <a:chExt cx="0" cy="0"/>
        </a:xfrm>
      </p:grpSpPr>
      <p:sp>
        <p:nvSpPr>
          <p:cNvPr id="2" name="Text 0"/>
          <p:cNvSpPr txBox="1"/>
          <p:nvPr/>
        </p:nvSpPr>
        <p:spPr>
          <a:xfrm>
            <a:off x="731520" y="2377440"/>
            <a:ext cx="5486400" cy="457200"/>
          </a:xfrm>
          <a:prstGeom prst="rect">
            <a:avLst/>
          </a:prstGeom>
          <a:noFill/>
          <a:ln/>
        </p:spPr>
        <p:txBody>
          <a:bodyPr wrap="square" lIns="0" tIns="0" rIns="0" bIns="0" rtlCol="0" anchor="ctr"/>
          <a:lstStyle/>
          <a:p>
            <a:pPr marL="0" indent="0">
              <a:buNone/>
            </a:pPr>
            <a:r>
              <a:rPr lang="en-US" sz="1400" b="1" kern="0" spc="300" dirty="0">
                <a:solidFill>
                  <a:srgbClr val="CADCFC"/>
                </a:solidFill>
                <a:latin typeface="Calibri" pitchFamily="34" charset="0"/>
                <a:ea typeface="Calibri" pitchFamily="34" charset="-122"/>
                <a:cs typeface="Calibri" pitchFamily="34" charset="-120"/>
              </a:rPr>
              <a:t>MODULE 3</a:t>
            </a:r>
            <a:endParaRPr lang="en-US" sz="1400" dirty="0"/>
          </a:p>
        </p:txBody>
      </p:sp>
      <p:sp>
        <p:nvSpPr>
          <p:cNvPr id="3" name="Text 1"/>
          <p:cNvSpPr txBox="1"/>
          <p:nvPr/>
        </p:nvSpPr>
        <p:spPr>
          <a:xfrm>
            <a:off x="731520" y="2788920"/>
            <a:ext cx="10515600" cy="137160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Orchestrating Multiple</a:t>
            </a:r>
            <a:endParaRPr lang="en-US" sz="3400" dirty="0"/>
          </a:p>
          <a:p>
            <a:pPr marL="0" indent="0">
              <a:buNone/>
            </a:pPr>
            <a:r>
              <a:rPr lang="en-US" sz="3400" b="1" dirty="0">
                <a:solidFill>
                  <a:srgbClr val="FFFFFF"/>
                </a:solidFill>
                <a:latin typeface="Cambria" pitchFamily="34" charset="0"/>
                <a:ea typeface="Cambria" pitchFamily="34" charset="-122"/>
                <a:cs typeface="Cambria" pitchFamily="34" charset="-120"/>
              </a:rPr>
              <a:t>Agent Sessions</a:t>
            </a:r>
            <a:endParaRPr lang="en-US" sz="3400" dirty="0"/>
          </a:p>
        </p:txBody>
      </p:sp>
      <p:sp>
        <p:nvSpPr>
          <p:cNvPr id="4" name="Text 2"/>
          <p:cNvSpPr txBox="1"/>
          <p:nvPr/>
        </p:nvSpPr>
        <p:spPr>
          <a:xfrm>
            <a:off x="731520" y="4114800"/>
            <a:ext cx="9601200" cy="548640"/>
          </a:xfrm>
          <a:prstGeom prst="rect">
            <a:avLst/>
          </a:prstGeom>
          <a:noFill/>
          <a:ln/>
        </p:spPr>
        <p:txBody>
          <a:bodyPr wrap="square" lIns="0" tIns="0" rIns="0" bIns="0" rtlCol="0" anchor="ctr"/>
          <a:lstStyle/>
          <a:p>
            <a:pPr marL="0" indent="0">
              <a:buNone/>
            </a:pPr>
            <a:r>
              <a:rPr lang="en-US" sz="1600" dirty="0">
                <a:solidFill>
                  <a:srgbClr val="CADCFC"/>
                </a:solidFill>
                <a:latin typeface="Calibri" pitchFamily="34" charset="0"/>
                <a:ea typeface="Calibri" pitchFamily="34" charset="-122"/>
                <a:cs typeface="Calibri" pitchFamily="34" charset="-120"/>
              </a:rPr>
              <a:t>Lecture 20 min  •  Lab 60 min</a:t>
            </a: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320040"/>
            <a:ext cx="7315200" cy="365760"/>
          </a:xfrm>
          <a:prstGeom prst="rect">
            <a:avLst/>
          </a:prstGeom>
          <a:noFill/>
          <a:ln/>
        </p:spPr>
        <p:txBody>
          <a:bodyPr wrap="square" lIns="0" tIns="0" rIns="0" bIns="0" rtlCol="0" anchor="ctr"/>
          <a:lstStyle/>
          <a:p>
            <a:pPr marL="0" indent="0">
              <a:buNone/>
            </a:pPr>
            <a:r>
              <a:rPr lang="en-US" sz="1200" b="1" kern="0" spc="200" dirty="0">
                <a:solidFill>
                  <a:srgbClr val="1E2761"/>
                </a:solidFill>
                <a:latin typeface="Calibri" pitchFamily="34" charset="0"/>
                <a:ea typeface="Calibri" pitchFamily="34" charset="-122"/>
                <a:cs typeface="Calibri" pitchFamily="34" charset="-120"/>
              </a:rPr>
              <a:t>MODULE 3</a:t>
            </a:r>
            <a:endParaRPr lang="en-US" sz="1200" dirty="0"/>
          </a:p>
        </p:txBody>
      </p:sp>
      <p:sp>
        <p:nvSpPr>
          <p:cNvPr id="3" name="Text 1"/>
          <p:cNvSpPr txBox="1"/>
          <p:nvPr/>
        </p:nvSpPr>
        <p:spPr>
          <a:xfrm>
            <a:off x="548640" y="685800"/>
            <a:ext cx="9144000" cy="640080"/>
          </a:xfrm>
          <a:prstGeom prst="rect">
            <a:avLst/>
          </a:prstGeom>
          <a:noFill/>
          <a:ln/>
        </p:spPr>
        <p:txBody>
          <a:bodyPr wrap="square" lIns="0" tIns="0" rIns="0" bIns="0" rtlCol="0" anchor="ctr"/>
          <a:lstStyle/>
          <a:p>
            <a:pPr marL="0" indent="0">
              <a:buNone/>
            </a:pPr>
            <a:r>
              <a:rPr lang="en-US" sz="3000" b="1" dirty="0">
                <a:solidFill>
                  <a:srgbClr val="1B1B2A"/>
                </a:solidFill>
                <a:latin typeface="Cambria" pitchFamily="34" charset="0"/>
                <a:ea typeface="Cambria" pitchFamily="34" charset="-122"/>
                <a:cs typeface="Cambria" pitchFamily="34" charset="-120"/>
              </a:rPr>
              <a:t>Git Worktrees vs. Alternatives</a:t>
            </a:r>
            <a:endParaRPr lang="en-US" sz="3000" dirty="0"/>
          </a:p>
        </p:txBody>
      </p:sp>
      <p:sp>
        <p:nvSpPr>
          <p:cNvPr id="4" name="Shape 2"/>
          <p:cNvSpPr/>
          <p:nvPr/>
        </p:nvSpPr>
        <p:spPr>
          <a:xfrm>
            <a:off x="548640" y="1554480"/>
            <a:ext cx="5394960" cy="4297680"/>
          </a:xfrm>
          <a:prstGeom prst="roundRect">
            <a:avLst>
              <a:gd name="adj" fmla="val 1702"/>
            </a:avLst>
          </a:prstGeom>
          <a:solidFill>
            <a:srgbClr val="F4F6FB"/>
          </a:solidFill>
          <a:ln/>
        </p:spPr>
        <p:txBody>
          <a:bodyPr/>
          <a:lstStyle/>
          <a:p>
            <a:endParaRPr lang="en-US"/>
          </a:p>
        </p:txBody>
      </p:sp>
      <p:sp>
        <p:nvSpPr>
          <p:cNvPr id="5" name="Text 3"/>
          <p:cNvSpPr txBox="1"/>
          <p:nvPr/>
        </p:nvSpPr>
        <p:spPr>
          <a:xfrm>
            <a:off x="822960" y="1783080"/>
            <a:ext cx="2743200" cy="365760"/>
          </a:xfrm>
          <a:prstGeom prst="rect">
            <a:avLst/>
          </a:prstGeom>
          <a:noFill/>
          <a:ln/>
        </p:spPr>
        <p:txBody>
          <a:bodyPr wrap="square" lIns="0" tIns="0" rIns="0" bIns="0" rtlCol="0" anchor="ctr"/>
          <a:lstStyle/>
          <a:p>
            <a:pPr marL="0" indent="0">
              <a:buNone/>
            </a:pPr>
            <a:r>
              <a:rPr lang="en-US" sz="1300" b="1" dirty="0">
                <a:solidFill>
                  <a:srgbClr val="B23A3A"/>
                </a:solidFill>
                <a:latin typeface="Calibri" pitchFamily="34" charset="0"/>
                <a:ea typeface="Calibri" pitchFamily="34" charset="-122"/>
                <a:cs typeface="Calibri" pitchFamily="34" charset="-120"/>
              </a:rPr>
              <a:t>ALTERNATIVES</a:t>
            </a:r>
            <a:endParaRPr lang="en-US" sz="1300" dirty="0"/>
          </a:p>
        </p:txBody>
      </p:sp>
      <p:sp>
        <p:nvSpPr>
          <p:cNvPr id="6" name="Text 4"/>
          <p:cNvSpPr txBox="1"/>
          <p:nvPr/>
        </p:nvSpPr>
        <p:spPr>
          <a:xfrm>
            <a:off x="822960" y="2194560"/>
            <a:ext cx="4846320" cy="731520"/>
          </a:xfrm>
          <a:prstGeom prst="rect">
            <a:avLst/>
          </a:prstGeom>
          <a:noFill/>
          <a:ln/>
        </p:spPr>
        <p:txBody>
          <a:bodyPr wrap="square" lIns="0" tIns="0" rIns="0" bIns="0" rtlCol="0" anchor="ctr"/>
          <a:lstStyle/>
          <a:p>
            <a:pPr marL="0" indent="0">
              <a:buNone/>
            </a:pPr>
            <a:r>
              <a:rPr lang="en-US" sz="2000" i="1" dirty="0">
                <a:solidFill>
                  <a:srgbClr val="1B1B2A"/>
                </a:solidFill>
                <a:latin typeface="Calibri" pitchFamily="34" charset="0"/>
                <a:ea typeface="Calibri" pitchFamily="34" charset="-122"/>
                <a:cs typeface="Calibri" pitchFamily="34" charset="-120"/>
              </a:rPr>
              <a:t>Separate clones, or one directory switching branches</a:t>
            </a:r>
            <a:endParaRPr lang="en-US" sz="2000" dirty="0"/>
          </a:p>
        </p:txBody>
      </p:sp>
      <p:sp>
        <p:nvSpPr>
          <p:cNvPr id="7" name="Text 5"/>
          <p:cNvSpPr txBox="1"/>
          <p:nvPr/>
        </p:nvSpPr>
        <p:spPr>
          <a:xfrm>
            <a:off x="822960" y="3017520"/>
            <a:ext cx="4846320" cy="2560320"/>
          </a:xfrm>
          <a:prstGeom prst="rect">
            <a:avLst/>
          </a:prstGeom>
          <a:noFill/>
          <a:ln/>
        </p:spPr>
        <p:txBody>
          <a:bodyPr wrap="square" lIns="0" tIns="0" rIns="0" bIns="0" rtlCol="0" anchor="ctr"/>
          <a:lstStyle/>
          <a:p>
            <a:pPr marL="285750" indent="-285750">
              <a:spcAft>
                <a:spcPts val="1000"/>
              </a:spcAft>
              <a:buSzPct val="100000"/>
              <a:buFont typeface="Arial" panose="020B0604020202020204" pitchFamily="34" charset="0"/>
              <a:buChar char="•"/>
            </a:pPr>
            <a:r>
              <a:rPr lang="en-US" dirty="0">
                <a:solidFill>
                  <a:srgbClr val="5B6472"/>
                </a:solidFill>
                <a:latin typeface="Calibri" pitchFamily="34" charset="0"/>
                <a:ea typeface="Calibri" pitchFamily="34" charset="-122"/>
                <a:cs typeface="Calibri" pitchFamily="34" charset="-120"/>
              </a:rPr>
              <a:t>Full clone per task — duplicates git history and installed dependencies every time</a:t>
            </a:r>
            <a:endParaRPr lang="en-US" dirty="0"/>
          </a:p>
          <a:p>
            <a:pPr marL="285750" indent="-285750">
              <a:spcAft>
                <a:spcPts val="1000"/>
              </a:spcAft>
              <a:buFont typeface="Arial" panose="020B0604020202020204" pitchFamily="34" charset="0"/>
              <a:buChar char="•"/>
            </a:pPr>
            <a:r>
              <a:rPr lang="en-US" dirty="0">
                <a:solidFill>
                  <a:srgbClr val="5B6472"/>
                </a:solidFill>
                <a:latin typeface="Calibri" pitchFamily="34" charset="0"/>
                <a:ea typeface="Calibri" pitchFamily="34" charset="-122"/>
                <a:cs typeface="Calibri" pitchFamily="34" charset="-120"/>
              </a:rPr>
              <a:t>Branch-switching in one directory — sequential only, and clobbers uncommitted work</a:t>
            </a:r>
            <a:endParaRPr lang="en-US" dirty="0"/>
          </a:p>
          <a:p>
            <a:pPr marL="285750" indent="-285750">
              <a:spcAft>
                <a:spcPts val="1000"/>
              </a:spcAft>
              <a:buFont typeface="Arial" panose="020B0604020202020204" pitchFamily="34" charset="0"/>
              <a:buChar char="•"/>
            </a:pPr>
            <a:r>
              <a:rPr lang="en-US" dirty="0">
                <a:solidFill>
                  <a:srgbClr val="5B6472"/>
                </a:solidFill>
                <a:latin typeface="Calibri" pitchFamily="34" charset="0"/>
                <a:ea typeface="Calibri" pitchFamily="34" charset="-122"/>
                <a:cs typeface="Calibri" pitchFamily="34" charset="-120"/>
              </a:rPr>
              <a:t>Multiple sessions, one shared directory — uncommitted edits can overwrite each other</a:t>
            </a:r>
            <a:endParaRPr lang="en-US" dirty="0"/>
          </a:p>
          <a:p>
            <a:pPr marL="285750" indent="-285750">
              <a:spcAft>
                <a:spcPts val="1000"/>
              </a:spcAft>
              <a:buFont typeface="Arial" panose="020B0604020202020204" pitchFamily="34" charset="0"/>
              <a:buChar char="•"/>
            </a:pPr>
            <a:r>
              <a:rPr lang="en-US" dirty="0">
                <a:solidFill>
                  <a:srgbClr val="5B6472"/>
                </a:solidFill>
                <a:latin typeface="Calibri" pitchFamily="34" charset="0"/>
                <a:ea typeface="Calibri" pitchFamily="34" charset="-122"/>
                <a:cs typeface="Calibri" pitchFamily="34" charset="-120"/>
              </a:rPr>
              <a:t>No shared history — new commits need a push/pull before another checkout can see them</a:t>
            </a:r>
            <a:endParaRPr lang="en-US" dirty="0"/>
          </a:p>
        </p:txBody>
      </p:sp>
      <p:sp>
        <p:nvSpPr>
          <p:cNvPr id="8" name="Shape 6"/>
          <p:cNvSpPr/>
          <p:nvPr/>
        </p:nvSpPr>
        <p:spPr>
          <a:xfrm>
            <a:off x="6217920" y="1554480"/>
            <a:ext cx="5394960" cy="4297680"/>
          </a:xfrm>
          <a:prstGeom prst="roundRect">
            <a:avLst>
              <a:gd name="adj" fmla="val 1702"/>
            </a:avLst>
          </a:prstGeom>
          <a:solidFill>
            <a:srgbClr val="1E2761"/>
          </a:solidFill>
          <a:ln/>
        </p:spPr>
        <p:txBody>
          <a:bodyPr/>
          <a:lstStyle/>
          <a:p>
            <a:endParaRPr lang="en-US"/>
          </a:p>
        </p:txBody>
      </p:sp>
      <p:sp>
        <p:nvSpPr>
          <p:cNvPr id="9" name="Text 7"/>
          <p:cNvSpPr txBox="1"/>
          <p:nvPr/>
        </p:nvSpPr>
        <p:spPr>
          <a:xfrm>
            <a:off x="6492240" y="1783080"/>
            <a:ext cx="2743200" cy="365760"/>
          </a:xfrm>
          <a:prstGeom prst="rect">
            <a:avLst/>
          </a:prstGeom>
          <a:noFill/>
          <a:ln/>
        </p:spPr>
        <p:txBody>
          <a:bodyPr wrap="square" lIns="0" tIns="0" rIns="0" bIns="0" rtlCol="0" anchor="ctr"/>
          <a:lstStyle/>
          <a:p>
            <a:pPr marL="0" indent="0">
              <a:buNone/>
            </a:pPr>
            <a:r>
              <a:rPr lang="en-US" sz="1300" b="1" dirty="0">
                <a:solidFill>
                  <a:srgbClr val="7CFC9C"/>
                </a:solidFill>
                <a:latin typeface="Calibri" pitchFamily="34" charset="0"/>
                <a:ea typeface="Calibri" pitchFamily="34" charset="-122"/>
                <a:cs typeface="Calibri" pitchFamily="34" charset="-120"/>
              </a:rPr>
              <a:t>WORKTREES</a:t>
            </a:r>
            <a:endParaRPr lang="en-US" sz="1300" dirty="0"/>
          </a:p>
        </p:txBody>
      </p:sp>
      <p:sp>
        <p:nvSpPr>
          <p:cNvPr id="10" name="Text 8"/>
          <p:cNvSpPr txBox="1"/>
          <p:nvPr/>
        </p:nvSpPr>
        <p:spPr>
          <a:xfrm>
            <a:off x="6492240" y="2194560"/>
            <a:ext cx="4846320" cy="914400"/>
          </a:xfrm>
          <a:prstGeom prst="rect">
            <a:avLst/>
          </a:prstGeom>
          <a:noFill/>
          <a:ln/>
        </p:spPr>
        <p:txBody>
          <a:bodyPr wrap="square" lIns="0" tIns="0" rIns="0" bIns="0" rtlCol="0" anchor="ctr"/>
          <a:lstStyle/>
          <a:p>
            <a:pPr marL="0" indent="0">
              <a:buNone/>
            </a:pPr>
            <a:r>
              <a:rPr lang="en-US" sz="2000" dirty="0">
                <a:solidFill>
                  <a:srgbClr val="FFFFFF"/>
                </a:solidFill>
                <a:latin typeface="Calibri" pitchFamily="34" charset="0"/>
                <a:ea typeface="Calibri" pitchFamily="34" charset="-122"/>
                <a:cs typeface="Calibri" pitchFamily="34" charset="-120"/>
              </a:rPr>
              <a:t>One shared .git history — a separate working directory and branch per session.</a:t>
            </a:r>
            <a:endParaRPr lang="en-US" sz="2000" dirty="0"/>
          </a:p>
        </p:txBody>
      </p:sp>
      <p:sp>
        <p:nvSpPr>
          <p:cNvPr id="11" name="Text 9"/>
          <p:cNvSpPr txBox="1"/>
          <p:nvPr/>
        </p:nvSpPr>
        <p:spPr>
          <a:xfrm>
            <a:off x="6492240" y="3246120"/>
            <a:ext cx="4846320" cy="2377440"/>
          </a:xfrm>
          <a:prstGeom prst="rect">
            <a:avLst/>
          </a:prstGeom>
          <a:noFill/>
          <a:ln/>
        </p:spPr>
        <p:txBody>
          <a:bodyPr wrap="square" lIns="0" tIns="0" rIns="0" bIns="0" rtlCol="0" anchor="ctr"/>
          <a:lstStyle/>
          <a:p>
            <a:pPr marL="285750" indent="-285750">
              <a:spcAft>
                <a:spcPts val="1000"/>
              </a:spcAft>
              <a:buSzPct val="100000"/>
              <a:buFont typeface="Arial" panose="020B0604020202020204" pitchFamily="34" charset="0"/>
              <a:buChar char="•"/>
            </a:pPr>
            <a:r>
              <a:rPr lang="en-US" dirty="0">
                <a:solidFill>
                  <a:srgbClr val="CADCFC"/>
                </a:solidFill>
                <a:latin typeface="Calibri" pitchFamily="34" charset="0"/>
                <a:ea typeface="Calibri" pitchFamily="34" charset="-122"/>
                <a:cs typeface="Calibri" pitchFamily="34" charset="-120"/>
              </a:rPr>
              <a:t>One shared .git object store — no duplicated history, no clone per task</a:t>
            </a:r>
            <a:endParaRPr lang="en-US" dirty="0"/>
          </a:p>
          <a:p>
            <a:pPr marL="285750" indent="-285750">
              <a:spcAft>
                <a:spcPts val="1000"/>
              </a:spcAft>
              <a:buFont typeface="Arial" panose="020B0604020202020204" pitchFamily="34" charset="0"/>
              <a:buChar char="•"/>
            </a:pPr>
            <a:r>
              <a:rPr lang="en-US" dirty="0">
                <a:solidFill>
                  <a:srgbClr val="CADCFC"/>
                </a:solidFill>
                <a:latin typeface="Calibri" pitchFamily="34" charset="0"/>
                <a:ea typeface="Calibri" pitchFamily="34" charset="-122"/>
                <a:cs typeface="Calibri" pitchFamily="34" charset="-120"/>
              </a:rPr>
              <a:t>Separate working directory per branch — truly parallel, nothing to clobber</a:t>
            </a:r>
            <a:endParaRPr lang="en-US" dirty="0"/>
          </a:p>
          <a:p>
            <a:pPr marL="285750" indent="-285750">
              <a:spcAft>
                <a:spcPts val="1000"/>
              </a:spcAft>
              <a:buFont typeface="Arial" panose="020B0604020202020204" pitchFamily="34" charset="0"/>
              <a:buChar char="•"/>
            </a:pPr>
            <a:r>
              <a:rPr lang="en-US" dirty="0">
                <a:solidFill>
                  <a:srgbClr val="CADCFC"/>
                </a:solidFill>
                <a:latin typeface="Calibri" pitchFamily="34" charset="0"/>
                <a:ea typeface="Calibri" pitchFamily="34" charset="-122"/>
                <a:cs typeface="Calibri" pitchFamily="34" charset="-120"/>
              </a:rPr>
              <a:t>New commits visible instantly across worktrees — no push/pull needed</a:t>
            </a:r>
            <a:endParaRPr lang="en-US" dirty="0"/>
          </a:p>
          <a:p>
            <a:pPr marL="285750" indent="-285750">
              <a:spcAft>
                <a:spcPts val="1000"/>
              </a:spcAft>
              <a:buFont typeface="Arial" panose="020B0604020202020204" pitchFamily="34" charset="0"/>
              <a:buChar char="•"/>
            </a:pPr>
            <a:r>
              <a:rPr lang="en-US" dirty="0">
                <a:solidFill>
                  <a:srgbClr val="CADCFC"/>
                </a:solidFill>
                <a:latin typeface="Calibri" pitchFamily="34" charset="0"/>
                <a:ea typeface="Calibri" pitchFamily="34" charset="-122"/>
                <a:cs typeface="Calibri" pitchFamily="34" charset="-120"/>
              </a:rPr>
              <a:t>Created and torn down in seconds — git worktree add / remove</a:t>
            </a:r>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7315200" cy="365760"/>
          </a:xfrm>
          <a:prstGeom prst="rect">
            <a:avLst/>
          </a:prstGeom>
          <a:noFill/>
          <a:ln/>
        </p:spPr>
        <p:txBody>
          <a:bodyPr wrap="square" lIns="0" tIns="0" rIns="0" bIns="0" rtlCol="0" anchor="ctr"/>
          <a:lstStyle/>
          <a:p>
            <a:pPr marL="0" indent="0">
              <a:buNone/>
            </a:pPr>
            <a:r>
              <a:rPr lang="en-US" sz="1200" b="1" kern="0" spc="200" dirty="0">
                <a:solidFill>
                  <a:srgbClr val="1E2761"/>
                </a:solidFill>
                <a:latin typeface="Calibri" pitchFamily="34" charset="0"/>
                <a:ea typeface="Calibri" pitchFamily="34" charset="-122"/>
                <a:cs typeface="Calibri" pitchFamily="34" charset="-120"/>
              </a:rPr>
              <a:t>MODULE 3</a:t>
            </a:r>
            <a:endParaRPr lang="en-US" sz="1200" dirty="0"/>
          </a:p>
        </p:txBody>
      </p:sp>
      <p:sp>
        <p:nvSpPr>
          <p:cNvPr id="3" name="Text 1"/>
          <p:cNvSpPr txBox="1"/>
          <p:nvPr/>
        </p:nvSpPr>
        <p:spPr>
          <a:xfrm>
            <a:off x="548640" y="685800"/>
            <a:ext cx="10058400" cy="640080"/>
          </a:xfrm>
          <a:prstGeom prst="rect">
            <a:avLst/>
          </a:prstGeom>
          <a:noFill/>
          <a:ln/>
        </p:spPr>
        <p:txBody>
          <a:bodyPr wrap="square" lIns="0" tIns="0" rIns="0" bIns="0" rtlCol="0" anchor="ctr"/>
          <a:lstStyle/>
          <a:p>
            <a:pPr marL="0" indent="0">
              <a:buNone/>
            </a:pPr>
            <a:r>
              <a:rPr lang="en-US" sz="3000" b="1" dirty="0">
                <a:solidFill>
                  <a:srgbClr val="1B1B2A"/>
                </a:solidFill>
                <a:latin typeface="Cambria" pitchFamily="34" charset="0"/>
                <a:ea typeface="Cambria" pitchFamily="34" charset="-122"/>
                <a:cs typeface="Cambria" pitchFamily="34" charset="-120"/>
              </a:rPr>
              <a:t>Git Worktrees: Parallel Sessions</a:t>
            </a:r>
            <a:endParaRPr lang="en-US" sz="3000" dirty="0"/>
          </a:p>
        </p:txBody>
      </p:sp>
      <p:sp>
        <p:nvSpPr>
          <p:cNvPr id="4" name="Shape 2"/>
          <p:cNvSpPr/>
          <p:nvPr/>
        </p:nvSpPr>
        <p:spPr>
          <a:xfrm>
            <a:off x="640080" y="1645920"/>
            <a:ext cx="502920" cy="502920"/>
          </a:xfrm>
          <a:prstGeom prst="ellipse">
            <a:avLst/>
          </a:prstGeom>
          <a:solidFill>
            <a:srgbClr val="1E2761"/>
          </a:solidFill>
          <a:ln/>
        </p:spPr>
        <p:txBody>
          <a:bodyPr/>
          <a:lstStyle/>
          <a:p>
            <a:endParaRPr lang="en-US"/>
          </a:p>
        </p:txBody>
      </p:sp>
      <p:sp>
        <p:nvSpPr>
          <p:cNvPr id="5" name="Text 3"/>
          <p:cNvSpPr txBox="1"/>
          <p:nvPr/>
        </p:nvSpPr>
        <p:spPr>
          <a:xfrm>
            <a:off x="640080" y="164592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6" name="Text 4"/>
          <p:cNvSpPr txBox="1"/>
          <p:nvPr/>
        </p:nvSpPr>
        <p:spPr>
          <a:xfrm>
            <a:off x="1417320" y="1572768"/>
            <a:ext cx="9875520" cy="365760"/>
          </a:xfrm>
          <a:prstGeom prst="rect">
            <a:avLst/>
          </a:prstGeom>
          <a:noFill/>
          <a:ln/>
        </p:spPr>
        <p:txBody>
          <a:bodyPr wrap="square" lIns="0" tIns="0" rIns="0" bIns="0" rtlCol="0" anchor="ctr"/>
          <a:lstStyle/>
          <a:p>
            <a:pPr marL="0" indent="0">
              <a:buNone/>
            </a:pPr>
            <a:r>
              <a:rPr lang="en-US" sz="1600" b="1" dirty="0">
                <a:solidFill>
                  <a:srgbClr val="1B1B2A"/>
                </a:solidFill>
                <a:latin typeface="Calibri" pitchFamily="34" charset="0"/>
                <a:ea typeface="Calibri" pitchFamily="34" charset="-122"/>
                <a:cs typeface="Calibri" pitchFamily="34" charset="-120"/>
              </a:rPr>
              <a:t>Land dependencies first</a:t>
            </a:r>
            <a:endParaRPr lang="en-US" sz="1600" dirty="0"/>
          </a:p>
        </p:txBody>
      </p:sp>
      <p:sp>
        <p:nvSpPr>
          <p:cNvPr id="7" name="Text 5"/>
          <p:cNvSpPr txBox="1"/>
          <p:nvPr/>
        </p:nvSpPr>
        <p:spPr>
          <a:xfrm>
            <a:off x="1417320" y="1901952"/>
            <a:ext cx="9966960" cy="457200"/>
          </a:xfrm>
          <a:prstGeom prst="rect">
            <a:avLst/>
          </a:prstGeom>
          <a:noFill/>
          <a:ln/>
        </p:spPr>
        <p:txBody>
          <a:bodyPr wrap="square" lIns="0" tIns="0" rIns="0" bIns="0" rtlCol="0" anchor="ctr"/>
          <a:lstStyle/>
          <a:p>
            <a:pPr marL="0" indent="0">
              <a:buNone/>
            </a:pPr>
            <a:r>
              <a:rPr lang="en-US" sz="1300" dirty="0">
                <a:solidFill>
                  <a:srgbClr val="5B6472"/>
                </a:solidFill>
                <a:latin typeface="Calibri" pitchFamily="34" charset="0"/>
                <a:ea typeface="Calibri" pitchFamily="34" charset="-122"/>
                <a:cs typeface="Calibri" pitchFamily="34" charset="-120"/>
              </a:rPr>
              <a:t>Foundational/sequential work (e.g. a schema change) goes on main, alone.</a:t>
            </a:r>
            <a:endParaRPr lang="en-US" sz="1300" dirty="0"/>
          </a:p>
        </p:txBody>
      </p:sp>
      <p:sp>
        <p:nvSpPr>
          <p:cNvPr id="8" name="Shape 6"/>
          <p:cNvSpPr/>
          <p:nvPr/>
        </p:nvSpPr>
        <p:spPr>
          <a:xfrm>
            <a:off x="640080" y="2606040"/>
            <a:ext cx="502920" cy="502920"/>
          </a:xfrm>
          <a:prstGeom prst="ellipse">
            <a:avLst/>
          </a:prstGeom>
          <a:solidFill>
            <a:srgbClr val="1E2761"/>
          </a:solidFill>
          <a:ln/>
        </p:spPr>
        <p:txBody>
          <a:bodyPr/>
          <a:lstStyle/>
          <a:p>
            <a:endParaRPr lang="en-US"/>
          </a:p>
        </p:txBody>
      </p:sp>
      <p:sp>
        <p:nvSpPr>
          <p:cNvPr id="9" name="Text 7"/>
          <p:cNvSpPr txBox="1"/>
          <p:nvPr/>
        </p:nvSpPr>
        <p:spPr>
          <a:xfrm>
            <a:off x="640080" y="260604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0" name="Text 8"/>
          <p:cNvSpPr txBox="1"/>
          <p:nvPr/>
        </p:nvSpPr>
        <p:spPr>
          <a:xfrm>
            <a:off x="1417320" y="2532888"/>
            <a:ext cx="9875520" cy="365760"/>
          </a:xfrm>
          <a:prstGeom prst="rect">
            <a:avLst/>
          </a:prstGeom>
          <a:noFill/>
          <a:ln/>
        </p:spPr>
        <p:txBody>
          <a:bodyPr wrap="square" lIns="0" tIns="0" rIns="0" bIns="0" rtlCol="0" anchor="ctr"/>
          <a:lstStyle/>
          <a:p>
            <a:pPr marL="0" indent="0">
              <a:buNone/>
            </a:pPr>
            <a:r>
              <a:rPr lang="en-US" sz="1600" b="1" dirty="0">
                <a:solidFill>
                  <a:srgbClr val="1B1B2A"/>
                </a:solidFill>
                <a:latin typeface="Calibri" pitchFamily="34" charset="0"/>
                <a:ea typeface="Calibri" pitchFamily="34" charset="-122"/>
                <a:cs typeface="Calibri" pitchFamily="34" charset="-120"/>
              </a:rPr>
              <a:t>Create one worktree per independent unit</a:t>
            </a:r>
            <a:endParaRPr lang="en-US" sz="1600" dirty="0"/>
          </a:p>
        </p:txBody>
      </p:sp>
      <p:sp>
        <p:nvSpPr>
          <p:cNvPr id="11" name="Text 9"/>
          <p:cNvSpPr txBox="1"/>
          <p:nvPr/>
        </p:nvSpPr>
        <p:spPr>
          <a:xfrm>
            <a:off x="1417320" y="2862072"/>
            <a:ext cx="9966960" cy="457200"/>
          </a:xfrm>
          <a:prstGeom prst="rect">
            <a:avLst/>
          </a:prstGeom>
          <a:noFill/>
          <a:ln/>
        </p:spPr>
        <p:txBody>
          <a:bodyPr wrap="square" lIns="0" tIns="0" rIns="0" bIns="0" rtlCol="0" anchor="ctr"/>
          <a:lstStyle/>
          <a:p>
            <a:pPr marL="0" indent="0">
              <a:buNone/>
            </a:pPr>
            <a:r>
              <a:rPr lang="en-US" sz="1300" dirty="0">
                <a:solidFill>
                  <a:srgbClr val="5B6472"/>
                </a:solidFill>
                <a:latin typeface="Calibri" pitchFamily="34" charset="0"/>
                <a:ea typeface="Calibri" pitchFamily="34" charset="-122"/>
                <a:cs typeface="Calibri" pitchFamily="34" charset="-120"/>
              </a:rPr>
              <a:t>claude --worktree &lt;name&gt; — separate directory, separate branch.</a:t>
            </a:r>
            <a:endParaRPr lang="en-US" sz="1300" dirty="0"/>
          </a:p>
        </p:txBody>
      </p:sp>
      <p:sp>
        <p:nvSpPr>
          <p:cNvPr id="12" name="Shape 10"/>
          <p:cNvSpPr/>
          <p:nvPr/>
        </p:nvSpPr>
        <p:spPr>
          <a:xfrm>
            <a:off x="640080" y="3566160"/>
            <a:ext cx="502920" cy="502920"/>
          </a:xfrm>
          <a:prstGeom prst="ellipse">
            <a:avLst/>
          </a:prstGeom>
          <a:solidFill>
            <a:srgbClr val="1E2761"/>
          </a:solidFill>
          <a:ln/>
        </p:spPr>
        <p:txBody>
          <a:bodyPr/>
          <a:lstStyle/>
          <a:p>
            <a:endParaRPr lang="en-US"/>
          </a:p>
        </p:txBody>
      </p:sp>
      <p:sp>
        <p:nvSpPr>
          <p:cNvPr id="13" name="Text 11"/>
          <p:cNvSpPr txBox="1"/>
          <p:nvPr/>
        </p:nvSpPr>
        <p:spPr>
          <a:xfrm>
            <a:off x="640080" y="356616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4" name="Text 12"/>
          <p:cNvSpPr txBox="1"/>
          <p:nvPr/>
        </p:nvSpPr>
        <p:spPr>
          <a:xfrm>
            <a:off x="1417320" y="3493008"/>
            <a:ext cx="9875520" cy="365760"/>
          </a:xfrm>
          <a:prstGeom prst="rect">
            <a:avLst/>
          </a:prstGeom>
          <a:noFill/>
          <a:ln/>
        </p:spPr>
        <p:txBody>
          <a:bodyPr wrap="square" lIns="0" tIns="0" rIns="0" bIns="0" rtlCol="0" anchor="ctr"/>
          <a:lstStyle/>
          <a:p>
            <a:pPr marL="0" indent="0">
              <a:buNone/>
            </a:pPr>
            <a:r>
              <a:rPr lang="en-US" sz="1600" b="1" dirty="0">
                <a:solidFill>
                  <a:srgbClr val="1B1B2A"/>
                </a:solidFill>
                <a:latin typeface="Calibri" pitchFamily="34" charset="0"/>
                <a:ea typeface="Calibri" pitchFamily="34" charset="-122"/>
                <a:cs typeface="Calibri" pitchFamily="34" charset="-120"/>
              </a:rPr>
              <a:t>Verify inside each worktree</a:t>
            </a:r>
            <a:endParaRPr lang="en-US" sz="1600" dirty="0"/>
          </a:p>
        </p:txBody>
      </p:sp>
      <p:sp>
        <p:nvSpPr>
          <p:cNvPr id="15" name="Text 13"/>
          <p:cNvSpPr txBox="1"/>
          <p:nvPr/>
        </p:nvSpPr>
        <p:spPr>
          <a:xfrm>
            <a:off x="1417320" y="3822192"/>
            <a:ext cx="9966960" cy="457200"/>
          </a:xfrm>
          <a:prstGeom prst="rect">
            <a:avLst/>
          </a:prstGeom>
          <a:noFill/>
          <a:ln/>
        </p:spPr>
        <p:txBody>
          <a:bodyPr wrap="square" lIns="0" tIns="0" rIns="0" bIns="0" rtlCol="0" anchor="ctr"/>
          <a:lstStyle/>
          <a:p>
            <a:pPr marL="0" indent="0">
              <a:buNone/>
            </a:pPr>
            <a:r>
              <a:rPr lang="en-US" sz="1300" dirty="0">
                <a:solidFill>
                  <a:srgbClr val="5B6472"/>
                </a:solidFill>
                <a:latin typeface="Calibri" pitchFamily="34" charset="0"/>
                <a:ea typeface="Calibri" pitchFamily="34" charset="-122"/>
                <a:cs typeface="Calibri" pitchFamily="34" charset="-120"/>
              </a:rPr>
              <a:t>Run tests before merging anything back.</a:t>
            </a:r>
            <a:endParaRPr lang="en-US" sz="1300" dirty="0"/>
          </a:p>
        </p:txBody>
      </p:sp>
      <p:sp>
        <p:nvSpPr>
          <p:cNvPr id="16" name="Shape 14"/>
          <p:cNvSpPr/>
          <p:nvPr/>
        </p:nvSpPr>
        <p:spPr>
          <a:xfrm>
            <a:off x="640080" y="4526280"/>
            <a:ext cx="502920" cy="502920"/>
          </a:xfrm>
          <a:prstGeom prst="ellipse">
            <a:avLst/>
          </a:prstGeom>
          <a:solidFill>
            <a:srgbClr val="1E2761"/>
          </a:solidFill>
          <a:ln/>
        </p:spPr>
        <p:txBody>
          <a:bodyPr/>
          <a:lstStyle/>
          <a:p>
            <a:endParaRPr lang="en-US"/>
          </a:p>
        </p:txBody>
      </p:sp>
      <p:sp>
        <p:nvSpPr>
          <p:cNvPr id="17" name="Text 15"/>
          <p:cNvSpPr txBox="1"/>
          <p:nvPr/>
        </p:nvSpPr>
        <p:spPr>
          <a:xfrm>
            <a:off x="640080" y="452628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8" name="Text 16"/>
          <p:cNvSpPr txBox="1"/>
          <p:nvPr/>
        </p:nvSpPr>
        <p:spPr>
          <a:xfrm>
            <a:off x="1417320" y="4453128"/>
            <a:ext cx="9875520" cy="365760"/>
          </a:xfrm>
          <a:prstGeom prst="rect">
            <a:avLst/>
          </a:prstGeom>
          <a:noFill/>
          <a:ln/>
        </p:spPr>
        <p:txBody>
          <a:bodyPr wrap="square" lIns="0" tIns="0" rIns="0" bIns="0" rtlCol="0" anchor="ctr"/>
          <a:lstStyle/>
          <a:p>
            <a:pPr marL="0" indent="0">
              <a:buNone/>
            </a:pPr>
            <a:r>
              <a:rPr lang="en-US" sz="1600" b="1" dirty="0">
                <a:solidFill>
                  <a:srgbClr val="1B1B2A"/>
                </a:solidFill>
                <a:latin typeface="Calibri" pitchFamily="34" charset="0"/>
                <a:ea typeface="Calibri" pitchFamily="34" charset="-122"/>
                <a:cs typeface="Calibri" pitchFamily="34" charset="-120"/>
              </a:rPr>
              <a:t>Merge one at a time</a:t>
            </a:r>
            <a:endParaRPr lang="en-US" sz="1600" dirty="0"/>
          </a:p>
        </p:txBody>
      </p:sp>
      <p:sp>
        <p:nvSpPr>
          <p:cNvPr id="19" name="Text 17"/>
          <p:cNvSpPr txBox="1"/>
          <p:nvPr/>
        </p:nvSpPr>
        <p:spPr>
          <a:xfrm>
            <a:off x="1417320" y="4782312"/>
            <a:ext cx="9966960" cy="457200"/>
          </a:xfrm>
          <a:prstGeom prst="rect">
            <a:avLst/>
          </a:prstGeom>
          <a:noFill/>
          <a:ln/>
        </p:spPr>
        <p:txBody>
          <a:bodyPr wrap="square" lIns="0" tIns="0" rIns="0" bIns="0" rtlCol="0" anchor="ctr"/>
          <a:lstStyle/>
          <a:p>
            <a:pPr marL="0" indent="0">
              <a:buNone/>
            </a:pPr>
            <a:r>
              <a:rPr lang="en-US" sz="1300" dirty="0">
                <a:solidFill>
                  <a:srgbClr val="5B6472"/>
                </a:solidFill>
                <a:latin typeface="Calibri" pitchFamily="34" charset="0"/>
                <a:ea typeface="Calibri" pitchFamily="34" charset="-122"/>
                <a:cs typeface="Calibri" pitchFamily="34" charset="-120"/>
              </a:rPr>
              <a:t>Verify between each merge, not after all of them.</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7315200" cy="365760"/>
          </a:xfrm>
          <a:prstGeom prst="rect">
            <a:avLst/>
          </a:prstGeom>
          <a:noFill/>
          <a:ln/>
        </p:spPr>
        <p:txBody>
          <a:bodyPr wrap="square" lIns="0" tIns="0" rIns="0" bIns="0" rtlCol="0" anchor="ctr"/>
          <a:lstStyle/>
          <a:p>
            <a:pPr marL="0" indent="0">
              <a:buNone/>
            </a:pPr>
            <a:r>
              <a:rPr lang="en-US" sz="1200" b="1" kern="0" spc="200" dirty="0">
                <a:solidFill>
                  <a:srgbClr val="1E2761"/>
                </a:solidFill>
                <a:latin typeface="Calibri" pitchFamily="34" charset="0"/>
                <a:ea typeface="Calibri" pitchFamily="34" charset="-122"/>
                <a:cs typeface="Calibri" pitchFamily="34" charset="-120"/>
              </a:rPr>
              <a:t>MODULE 3</a:t>
            </a:r>
            <a:endParaRPr lang="en-US" sz="1200" dirty="0"/>
          </a:p>
        </p:txBody>
      </p:sp>
      <p:sp>
        <p:nvSpPr>
          <p:cNvPr id="3" name="Text 1"/>
          <p:cNvSpPr txBox="1"/>
          <p:nvPr/>
        </p:nvSpPr>
        <p:spPr>
          <a:xfrm>
            <a:off x="548640" y="685800"/>
            <a:ext cx="10058400" cy="640080"/>
          </a:xfrm>
          <a:prstGeom prst="rect">
            <a:avLst/>
          </a:prstGeom>
          <a:noFill/>
          <a:ln/>
        </p:spPr>
        <p:txBody>
          <a:bodyPr wrap="square" lIns="0" tIns="0" rIns="0" bIns="0" rtlCol="0" anchor="ctr"/>
          <a:lstStyle/>
          <a:p>
            <a:pPr marL="0" indent="0">
              <a:buNone/>
            </a:pPr>
            <a:r>
              <a:rPr lang="en-US" sz="2800" b="1" dirty="0">
                <a:solidFill>
                  <a:srgbClr val="1B1B2A"/>
                </a:solidFill>
                <a:latin typeface="Cambria" pitchFamily="34" charset="0"/>
                <a:ea typeface="Cambria" pitchFamily="34" charset="-122"/>
                <a:cs typeface="Cambria" pitchFamily="34" charset="-120"/>
              </a:rPr>
              <a:t>Least Privilege &amp; Merge Discipline</a:t>
            </a:r>
            <a:endParaRPr lang="en-US" sz="2800" dirty="0"/>
          </a:p>
        </p:txBody>
      </p:sp>
      <p:sp>
        <p:nvSpPr>
          <p:cNvPr id="4" name="Shape 2"/>
          <p:cNvSpPr/>
          <p:nvPr/>
        </p:nvSpPr>
        <p:spPr>
          <a:xfrm>
            <a:off x="548640" y="1554480"/>
            <a:ext cx="5394960" cy="4206240"/>
          </a:xfrm>
          <a:prstGeom prst="roundRect">
            <a:avLst>
              <a:gd name="adj" fmla="val 1739"/>
            </a:avLst>
          </a:prstGeom>
          <a:solidFill>
            <a:srgbClr val="1B1B2A"/>
          </a:solidFill>
          <a:ln/>
        </p:spPr>
        <p:txBody>
          <a:bodyPr/>
          <a:lstStyle/>
          <a:p>
            <a:endParaRPr lang="en-US"/>
          </a:p>
        </p:txBody>
      </p:sp>
      <p:sp>
        <p:nvSpPr>
          <p:cNvPr id="5" name="Text 3"/>
          <p:cNvSpPr txBox="1"/>
          <p:nvPr/>
        </p:nvSpPr>
        <p:spPr>
          <a:xfrm>
            <a:off x="868680" y="1828800"/>
            <a:ext cx="4846320" cy="914400"/>
          </a:xfrm>
          <a:prstGeom prst="rect">
            <a:avLst/>
          </a:prstGeom>
          <a:noFill/>
          <a:ln/>
        </p:spPr>
        <p:txBody>
          <a:bodyPr wrap="square" lIns="0" tIns="0" rIns="0" bIns="0" rtlCol="0" anchor="ctr"/>
          <a:lstStyle/>
          <a:p>
            <a:pPr marL="0" indent="0">
              <a:buNone/>
            </a:pPr>
            <a:r>
              <a:rPr lang="en-US" sz="1500" dirty="0">
                <a:solidFill>
                  <a:srgbClr val="7CFC9C"/>
                </a:solidFill>
                <a:latin typeface="Consolas" pitchFamily="34" charset="0"/>
                <a:ea typeface="Consolas" pitchFamily="34" charset="-122"/>
                <a:cs typeface="Consolas" pitchFamily="34" charset="-120"/>
              </a:rPr>
              <a:t>tools: Read, Edit, Write, Bash</a:t>
            </a:r>
            <a:endParaRPr lang="en-US" sz="1500" dirty="0"/>
          </a:p>
          <a:p>
            <a:pPr marL="0" indent="0">
              <a:buNone/>
            </a:pPr>
            <a:r>
              <a:rPr lang="en-US" sz="1500" dirty="0">
                <a:solidFill>
                  <a:srgbClr val="7CFC9C"/>
                </a:solidFill>
                <a:latin typeface="Consolas" pitchFamily="34" charset="0"/>
                <a:ea typeface="Consolas" pitchFamily="34" charset="-122"/>
                <a:cs typeface="Consolas" pitchFamily="34" charset="-120"/>
              </a:rPr>
              <a:t>model: sonnet</a:t>
            </a:r>
            <a:endParaRPr lang="en-US" sz="1500" dirty="0"/>
          </a:p>
        </p:txBody>
      </p:sp>
      <p:sp>
        <p:nvSpPr>
          <p:cNvPr id="6" name="Text 4"/>
          <p:cNvSpPr txBox="1"/>
          <p:nvPr/>
        </p:nvSpPr>
        <p:spPr>
          <a:xfrm>
            <a:off x="868680" y="2926080"/>
            <a:ext cx="4846320" cy="2560320"/>
          </a:xfrm>
          <a:prstGeom prst="rect">
            <a:avLst/>
          </a:prstGeom>
          <a:noFill/>
          <a:ln/>
        </p:spPr>
        <p:txBody>
          <a:bodyPr wrap="square" lIns="0" tIns="0" rIns="0" bIns="0" rtlCol="0" anchor="ctr"/>
          <a:lstStyle/>
          <a:p>
            <a:pPr marL="0" indent="0">
              <a:buNone/>
            </a:pPr>
            <a:r>
              <a:rPr lang="en-US" sz="1400" dirty="0">
                <a:solidFill>
                  <a:srgbClr val="CADCFC"/>
                </a:solidFill>
                <a:latin typeface="Calibri" pitchFamily="34" charset="0"/>
                <a:ea typeface="Calibri" pitchFamily="34" charset="-122"/>
                <a:cs typeface="Calibri" pitchFamily="34" charset="-120"/>
              </a:rPr>
              <a:t>Omitting the tools field grants full access — not zero. Research-only agents should never get Write or Edit.</a:t>
            </a:r>
            <a:endParaRPr lang="en-US" sz="1400" dirty="0"/>
          </a:p>
        </p:txBody>
      </p:sp>
      <p:sp>
        <p:nvSpPr>
          <p:cNvPr id="7" name="Shape 5"/>
          <p:cNvSpPr/>
          <p:nvPr/>
        </p:nvSpPr>
        <p:spPr>
          <a:xfrm>
            <a:off x="6217920" y="1554480"/>
            <a:ext cx="5394960" cy="4206240"/>
          </a:xfrm>
          <a:prstGeom prst="roundRect">
            <a:avLst>
              <a:gd name="adj" fmla="val 1739"/>
            </a:avLst>
          </a:prstGeom>
          <a:solidFill>
            <a:srgbClr val="F4F6FB"/>
          </a:solidFill>
          <a:ln/>
        </p:spPr>
        <p:txBody>
          <a:bodyPr/>
          <a:lstStyle/>
          <a:p>
            <a:endParaRPr lang="en-US"/>
          </a:p>
        </p:txBody>
      </p:sp>
      <p:sp>
        <p:nvSpPr>
          <p:cNvPr id="8" name="Text 6"/>
          <p:cNvSpPr txBox="1"/>
          <p:nvPr/>
        </p:nvSpPr>
        <p:spPr>
          <a:xfrm>
            <a:off x="6492240" y="1828800"/>
            <a:ext cx="3657600" cy="365760"/>
          </a:xfrm>
          <a:prstGeom prst="rect">
            <a:avLst/>
          </a:prstGeom>
          <a:noFill/>
          <a:ln/>
        </p:spPr>
        <p:txBody>
          <a:bodyPr wrap="square" lIns="0" tIns="0" rIns="0" bIns="0"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Merge discipline</a:t>
            </a:r>
            <a:endParaRPr lang="en-US" sz="1500" dirty="0"/>
          </a:p>
        </p:txBody>
      </p:sp>
      <p:sp>
        <p:nvSpPr>
          <p:cNvPr id="9" name="Text 7"/>
          <p:cNvSpPr txBox="1"/>
          <p:nvPr/>
        </p:nvSpPr>
        <p:spPr>
          <a:xfrm>
            <a:off x="6492240" y="2286000"/>
            <a:ext cx="4846320" cy="3291840"/>
          </a:xfrm>
          <a:prstGeom prst="rect">
            <a:avLst/>
          </a:prstGeom>
          <a:noFill/>
          <a:ln/>
        </p:spPr>
        <p:txBody>
          <a:bodyPr wrap="square" lIns="0" tIns="0" rIns="0" bIns="0" rtlCol="0" anchor="ctr"/>
          <a:lstStyle/>
          <a:p>
            <a:pPr marL="285750" indent="-285750">
              <a:spcAft>
                <a:spcPts val="1200"/>
              </a:spcAft>
              <a:buSzPct val="100000"/>
              <a:buFont typeface="Arial" panose="020B0604020202020204" pitchFamily="34" charset="0"/>
              <a:buChar char="•"/>
            </a:pPr>
            <a:r>
              <a:rPr lang="en-US" sz="1400" dirty="0">
                <a:solidFill>
                  <a:srgbClr val="1B1B2A"/>
                </a:solidFill>
                <a:latin typeface="Calibri" pitchFamily="34" charset="0"/>
                <a:ea typeface="Calibri" pitchFamily="34" charset="-122"/>
                <a:cs typeface="Calibri" pitchFamily="34" charset="-120"/>
              </a:rPr>
              <a:t>Merge units one at a time</a:t>
            </a:r>
            <a:endParaRPr lang="en-US" sz="1400" dirty="0"/>
          </a:p>
          <a:p>
            <a:pPr marL="285750" indent="-285750">
              <a:spcAft>
                <a:spcPts val="1200"/>
              </a:spcAft>
              <a:buFont typeface="Arial" panose="020B0604020202020204" pitchFamily="34" charset="0"/>
              <a:buChar char="•"/>
            </a:pPr>
            <a:r>
              <a:rPr lang="en-US" sz="1400" dirty="0">
                <a:solidFill>
                  <a:srgbClr val="1B1B2A"/>
                </a:solidFill>
                <a:latin typeface="Calibri" pitchFamily="34" charset="0"/>
                <a:ea typeface="Calibri" pitchFamily="34" charset="-122"/>
                <a:cs typeface="Calibri" pitchFamily="34" charset="-120"/>
              </a:rPr>
              <a:t>Run tests after each merge, not after all of them</a:t>
            </a:r>
            <a:endParaRPr lang="en-US" sz="1400" dirty="0"/>
          </a:p>
          <a:p>
            <a:pPr marL="285750" indent="-285750">
              <a:spcAft>
                <a:spcPts val="1200"/>
              </a:spcAft>
              <a:buFont typeface="Arial" panose="020B0604020202020204" pitchFamily="34" charset="0"/>
              <a:buChar char="•"/>
            </a:pPr>
            <a:r>
              <a:rPr lang="en-US" sz="1400" dirty="0">
                <a:solidFill>
                  <a:srgbClr val="1B1B2A"/>
                </a:solidFill>
                <a:latin typeface="Calibri" pitchFamily="34" charset="0"/>
                <a:ea typeface="Calibri" pitchFamily="34" charset="-122"/>
                <a:cs typeface="Calibri" pitchFamily="34" charset="-120"/>
              </a:rPr>
              <a:t>A conflict may mean the units weren't as independent as planned</a:t>
            </a:r>
            <a:endParaRPr lang="en-US" sz="1400" dirty="0"/>
          </a:p>
          <a:p>
            <a:pPr marL="285750" indent="-285750">
              <a:spcAft>
                <a:spcPts val="1200"/>
              </a:spcAft>
              <a:buFont typeface="Arial" panose="020B0604020202020204" pitchFamily="34" charset="0"/>
              <a:buChar char="•"/>
            </a:pPr>
            <a:r>
              <a:rPr lang="en-US" sz="1400" dirty="0">
                <a:solidFill>
                  <a:srgbClr val="1B1B2A"/>
                </a:solidFill>
                <a:latin typeface="Calibri" pitchFamily="34" charset="0"/>
                <a:ea typeface="Calibri" pitchFamily="34" charset="-122"/>
                <a:cs typeface="Calibri" pitchFamily="34" charset="-120"/>
              </a:rPr>
              <a:t>Manually exercise the feature end to end before calling it done</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4">
    <p:bg>
      <p:bgPr>
        <a:solidFill>
          <a:srgbClr val="1E2761"/>
        </a:solidFill>
        <a:effectLst/>
      </p:bgPr>
    </p:bg>
    <p:spTree>
      <p:nvGrpSpPr>
        <p:cNvPr id="1" name=""/>
        <p:cNvGrpSpPr/>
        <p:nvPr/>
      </p:nvGrpSpPr>
      <p:grpSpPr>
        <a:xfrm>
          <a:off x="0" y="0"/>
          <a:ext cx="0" cy="0"/>
          <a:chOff x="0" y="0"/>
          <a:chExt cx="0" cy="0"/>
        </a:xfrm>
      </p:grpSpPr>
      <p:sp>
        <p:nvSpPr>
          <p:cNvPr id="2" name="Text 0"/>
          <p:cNvSpPr txBox="1"/>
          <p:nvPr/>
        </p:nvSpPr>
        <p:spPr>
          <a:xfrm>
            <a:off x="731520" y="1005840"/>
            <a:ext cx="9144000" cy="82296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Recap &amp; Q&amp;A</a:t>
            </a:r>
            <a:endParaRPr lang="en-US" sz="3400" dirty="0"/>
          </a:p>
        </p:txBody>
      </p:sp>
      <p:sp>
        <p:nvSpPr>
          <p:cNvPr id="3" name="Text 1"/>
          <p:cNvSpPr txBox="1"/>
          <p:nvPr/>
        </p:nvSpPr>
        <p:spPr>
          <a:xfrm>
            <a:off x="731520" y="2103120"/>
            <a:ext cx="10515600" cy="2011680"/>
          </a:xfrm>
          <a:prstGeom prst="rect">
            <a:avLst/>
          </a:prstGeom>
          <a:noFill/>
          <a:ln/>
        </p:spPr>
        <p:txBody>
          <a:bodyPr wrap="square" lIns="0" tIns="0" rIns="0" bIns="0" rtlCol="0" anchor="ctr"/>
          <a:lstStyle/>
          <a:p>
            <a:pPr>
              <a:spcAft>
                <a:spcPts val="1600"/>
              </a:spcAft>
              <a:buSzPct val="100000"/>
            </a:pPr>
            <a:r>
              <a:rPr lang="en-US" sz="1800" dirty="0">
                <a:solidFill>
                  <a:srgbClr val="CADCFC"/>
                </a:solidFill>
                <a:latin typeface="Calibri" pitchFamily="34" charset="0"/>
                <a:ea typeface="Calibri" pitchFamily="34" charset="-122"/>
                <a:cs typeface="Calibri" pitchFamily="34" charset="-120"/>
              </a:rPr>
              <a:t>Decompose before you delegate — scope, criteria, dependencies, verification</a:t>
            </a:r>
            <a:endParaRPr lang="en-US" sz="1800" dirty="0"/>
          </a:p>
          <a:p>
            <a:pPr marL="0" indent="0">
              <a:spcAft>
                <a:spcPts val="1600"/>
              </a:spcAft>
              <a:buNone/>
            </a:pPr>
            <a:r>
              <a:rPr lang="en-US" sz="1800" dirty="0">
                <a:solidFill>
                  <a:srgbClr val="CADCFC"/>
                </a:solidFill>
                <a:latin typeface="Calibri" pitchFamily="34" charset="0"/>
                <a:ea typeface="Calibri" pitchFamily="34" charset="-122"/>
                <a:cs typeface="Calibri" pitchFamily="34" charset="-120"/>
              </a:rPr>
              <a:t>Match model + effort to complexity, risk, and cost</a:t>
            </a:r>
            <a:endParaRPr lang="en-US" sz="1800" dirty="0"/>
          </a:p>
          <a:p>
            <a:pPr marL="0" indent="0">
              <a:spcAft>
                <a:spcPts val="1600"/>
              </a:spcAft>
              <a:buNone/>
            </a:pPr>
            <a:r>
              <a:rPr lang="en-US" sz="1800" dirty="0">
                <a:solidFill>
                  <a:srgbClr val="CADCFC"/>
                </a:solidFill>
                <a:latin typeface="Calibri" pitchFamily="34" charset="0"/>
                <a:ea typeface="Calibri" pitchFamily="34" charset="-122"/>
                <a:cs typeface="Calibri" pitchFamily="34" charset="-120"/>
              </a:rPr>
              <a:t>Worktrees + merge discipline turn agents into a team, not a queue</a:t>
            </a:r>
            <a:endParaRPr lang="en-US" sz="1800" dirty="0"/>
          </a:p>
        </p:txBody>
      </p:sp>
      <p:sp>
        <p:nvSpPr>
          <p:cNvPr id="4" name="Text 2"/>
          <p:cNvSpPr txBox="1"/>
          <p:nvPr/>
        </p:nvSpPr>
        <p:spPr>
          <a:xfrm>
            <a:off x="731520" y="4846320"/>
            <a:ext cx="10058400" cy="548640"/>
          </a:xfrm>
          <a:prstGeom prst="rect">
            <a:avLst/>
          </a:prstGeom>
          <a:noFill/>
          <a:ln/>
        </p:spPr>
        <p:txBody>
          <a:bodyPr wrap="square" lIns="0" tIns="0" rIns="0" bIns="0" rtlCol="0" anchor="ctr"/>
          <a:lstStyle/>
          <a:p>
            <a:pPr marL="0" indent="0">
              <a:buNone/>
            </a:pPr>
            <a:r>
              <a:rPr lang="en-US" sz="1500" i="1" dirty="0">
                <a:solidFill>
                  <a:srgbClr val="FFFFFF"/>
                </a:solidFill>
                <a:latin typeface="Calibri" pitchFamily="34" charset="0"/>
                <a:ea typeface="Calibri" pitchFamily="34" charset="-122"/>
                <a:cs typeface="Calibri" pitchFamily="34" charset="-120"/>
              </a:rPr>
              <a:t>Keep the quick-reference cheat sheet — model table, worktree commands, tool-scoping snippet.</a:t>
            </a:r>
            <a:endParaRPr lang="en-US" sz="1500" dirty="0"/>
          </a:p>
        </p:txBody>
      </p:sp>
      <p:sp>
        <p:nvSpPr>
          <p:cNvPr id="5" name="Text 3"/>
          <p:cNvSpPr txBox="1"/>
          <p:nvPr/>
        </p:nvSpPr>
        <p:spPr>
          <a:xfrm>
            <a:off x="731520" y="5760720"/>
            <a:ext cx="5486400" cy="548640"/>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Questions?</a:t>
            </a:r>
            <a:endParaRPr lang="en-US" sz="2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365760"/>
          </a:xfrm>
          <a:prstGeom prst="rect">
            <a:avLst/>
          </a:prstGeom>
          <a:noFill/>
          <a:ln/>
        </p:spPr>
        <p:txBody>
          <a:bodyPr wrap="square" lIns="0" tIns="0" rIns="0" bIns="0" rtlCol="0" anchor="ctr"/>
          <a:lstStyle/>
          <a:p>
            <a:pPr indent="0" marL="0">
              <a:buNone/>
            </a:pPr>
            <a:r>
              <a:rPr lang="en-US" sz="1200" b="1" spc="200" kern="0" dirty="0">
                <a:solidFill>
                  <a:srgbClr val="1E2761"/>
                </a:solidFill>
                <a:latin typeface="Calibri" pitchFamily="34" charset="0"/>
                <a:ea typeface="Calibri" pitchFamily="34" charset="-122"/>
                <a:cs typeface="Calibri" pitchFamily="34" charset="-120"/>
              </a:rPr>
              <a:t>MODULE 1 — WORKED EXAMPLE, PART 1 OF 3</a:t>
            </a:r>
            <a:endParaRPr lang="en-US" sz="1200" dirty="0"/>
          </a:p>
        </p:txBody>
      </p:sp>
      <p:sp>
        <p:nvSpPr>
          <p:cNvPr id="3" name="Text 1"/>
          <p:cNvSpPr txBox="1"/>
          <p:nvPr/>
        </p:nvSpPr>
        <p:spPr>
          <a:xfrm>
            <a:off x="548640" y="685800"/>
            <a:ext cx="10972800" cy="640080"/>
          </a:xfrm>
          <a:prstGeom prst="rect">
            <a:avLst/>
          </a:prstGeom>
          <a:noFill/>
          <a:ln/>
        </p:spPr>
        <p:txBody>
          <a:bodyPr wrap="square" lIns="0" tIns="0" rIns="0" bIns="0" rtlCol="0" anchor="ctr"/>
          <a:lstStyle/>
          <a:p>
            <a:pPr indent="0" marL="0">
              <a:buNone/>
            </a:pPr>
            <a:r>
              <a:rPr lang="en-US" sz="3000" b="1" dirty="0">
                <a:solidFill>
                  <a:srgbClr val="1B1B2A"/>
                </a:solidFill>
                <a:latin typeface="Cambria" pitchFamily="34" charset="0"/>
                <a:ea typeface="Cambria" pitchFamily="34" charset="-122"/>
                <a:cs typeface="Cambria" pitchFamily="34" charset="-120"/>
              </a:rPr>
              <a:t>Unit 1: Starting From the Feature Request</a:t>
            </a:r>
            <a:endParaRPr lang="en-US" sz="3000" dirty="0"/>
          </a:p>
        </p:txBody>
      </p:sp>
      <p:sp>
        <p:nvSpPr>
          <p:cNvPr id="4" name="Text 2"/>
          <p:cNvSpPr txBox="1"/>
          <p:nvPr/>
        </p:nvSpPr>
        <p:spPr>
          <a:xfrm>
            <a:off x="548640" y="1325880"/>
            <a:ext cx="11064240" cy="457200"/>
          </a:xfrm>
          <a:prstGeom prst="rect">
            <a:avLst/>
          </a:prstGeom>
          <a:noFill/>
          <a:ln/>
        </p:spPr>
        <p:txBody>
          <a:bodyPr wrap="square" lIns="0" tIns="0" rIns="0" bIns="0" rtlCol="0" anchor="ctr"/>
          <a:lstStyle/>
          <a:p>
            <a:pPr indent="0" marL="0">
              <a:buNone/>
            </a:pPr>
            <a:r>
              <a:rPr lang="en-US" sz="1600" i="1" dirty="0">
                <a:solidFill>
                  <a:srgbClr val="5B6472"/>
                </a:solidFill>
                <a:latin typeface="Calibri" pitchFamily="34" charset="0"/>
                <a:ea typeface="Calibri" pitchFamily="34" charset="-122"/>
                <a:cs typeface="Calibri" pitchFamily="34" charset="-120"/>
              </a:rPr>
              <a:t>What FEATURE_REQUEST.md asks for, and what Unit 1 has to build because of it.</a:t>
            </a:r>
            <a:endParaRPr lang="en-US" sz="1600" dirty="0"/>
          </a:p>
        </p:txBody>
      </p:sp>
      <p:sp>
        <p:nvSpPr>
          <p:cNvPr id="5" name="Text 3"/>
          <p:cNvSpPr txBox="1"/>
          <p:nvPr/>
        </p:nvSpPr>
        <p:spPr>
          <a:xfrm>
            <a:off x="548640" y="1965960"/>
            <a:ext cx="4572000" cy="274320"/>
          </a:xfrm>
          <a:prstGeom prst="rect">
            <a:avLst/>
          </a:prstGeom>
          <a:noFill/>
          <a:ln/>
        </p:spPr>
        <p:txBody>
          <a:bodyPr wrap="square" lIns="0" tIns="0" rIns="0" bIns="0" rtlCol="0" anchor="ctr"/>
          <a:lstStyle/>
          <a:p>
            <a:pPr indent="0" marL="0">
              <a:buNone/>
            </a:pPr>
            <a:r>
              <a:rPr lang="en-US" sz="1100" b="1" spc="200" kern="0" dirty="0">
                <a:solidFill>
                  <a:srgbClr val="1E2761"/>
                </a:solidFill>
                <a:latin typeface="Calibri" pitchFamily="34" charset="0"/>
                <a:ea typeface="Calibri" pitchFamily="34" charset="-122"/>
                <a:cs typeface="Calibri" pitchFamily="34" charset="-120"/>
              </a:rPr>
              <a:t>THE REQUEST SAYS</a:t>
            </a:r>
            <a:endParaRPr lang="en-US" sz="1100" dirty="0"/>
          </a:p>
        </p:txBody>
      </p:sp>
      <p:sp>
        <p:nvSpPr>
          <p:cNvPr id="6" name="Text 4"/>
          <p:cNvSpPr txBox="1"/>
          <p:nvPr/>
        </p:nvSpPr>
        <p:spPr>
          <a:xfrm>
            <a:off x="6583680" y="1965960"/>
            <a:ext cx="4572000" cy="274320"/>
          </a:xfrm>
          <a:prstGeom prst="rect">
            <a:avLst/>
          </a:prstGeom>
          <a:noFill/>
          <a:ln/>
        </p:spPr>
        <p:txBody>
          <a:bodyPr wrap="square" lIns="0" tIns="0" rIns="0" bIns="0" rtlCol="0" anchor="ctr"/>
          <a:lstStyle/>
          <a:p>
            <a:pPr indent="0" marL="0">
              <a:buNone/>
            </a:pPr>
            <a:r>
              <a:rPr lang="en-US" sz="1100" b="1" spc="200" kern="0" dirty="0">
                <a:solidFill>
                  <a:srgbClr val="1E2761"/>
                </a:solidFill>
                <a:latin typeface="Calibri" pitchFamily="34" charset="0"/>
                <a:ea typeface="Calibri" pitchFamily="34" charset="-122"/>
                <a:cs typeface="Calibri" pitchFamily="34" charset="-120"/>
              </a:rPr>
              <a:t>SO UNIT 1 BUILDS</a:t>
            </a:r>
            <a:endParaRPr lang="en-US" sz="1100" dirty="0"/>
          </a:p>
        </p:txBody>
      </p:sp>
      <p:sp>
        <p:nvSpPr>
          <p:cNvPr id="7" name="Shape 5"/>
          <p:cNvSpPr/>
          <p:nvPr/>
        </p:nvSpPr>
        <p:spPr>
          <a:xfrm>
            <a:off x="548640" y="2331720"/>
            <a:ext cx="5486400" cy="777240"/>
          </a:xfrm>
          <a:prstGeom prst="roundRect">
            <a:avLst>
              <a:gd name="adj" fmla="val 7059"/>
            </a:avLst>
          </a:prstGeom>
          <a:solidFill>
            <a:srgbClr val="F4F6FB"/>
          </a:solidFill>
          <a:ln w="12700">
            <a:solidFill>
              <a:srgbClr val="F4F6FB"/>
            </a:solidFill>
            <a:prstDash val="solid"/>
          </a:ln>
        </p:spPr>
      </p:sp>
      <p:sp>
        <p:nvSpPr>
          <p:cNvPr id="8" name="Text 6"/>
          <p:cNvSpPr txBox="1"/>
          <p:nvPr/>
        </p:nvSpPr>
        <p:spPr>
          <a:xfrm>
            <a:off x="731520" y="2404872"/>
            <a:ext cx="5120640" cy="201168"/>
          </a:xfrm>
          <a:prstGeom prst="rect">
            <a:avLst/>
          </a:prstGeom>
          <a:noFill/>
          <a:ln/>
        </p:spPr>
        <p:txBody>
          <a:bodyPr wrap="square" lIns="0" tIns="0" rIns="0" bIns="0" rtlCol="0" anchor="ctr"/>
          <a:lstStyle/>
          <a:p>
            <a:pPr indent="0" marL="0">
              <a:buNone/>
            </a:pPr>
            <a:r>
              <a:rPr lang="en-US" sz="1000" b="1" spc="100" kern="0" dirty="0">
                <a:solidFill>
                  <a:srgbClr val="5B6472"/>
                </a:solidFill>
                <a:latin typeface="Calibri" pitchFamily="34" charset="0"/>
                <a:ea typeface="Calibri" pitchFamily="34" charset="-122"/>
                <a:cs typeface="Calibri" pitchFamily="34" charset="-120"/>
              </a:rPr>
              <a:t>ITEM 1 · WORKSPACES</a:t>
            </a:r>
            <a:endParaRPr lang="en-US" sz="1000" dirty="0"/>
          </a:p>
        </p:txBody>
      </p:sp>
      <p:sp>
        <p:nvSpPr>
          <p:cNvPr id="9" name="Text 7"/>
          <p:cNvSpPr txBox="1"/>
          <p:nvPr/>
        </p:nvSpPr>
        <p:spPr>
          <a:xfrm>
            <a:off x="731520" y="2606040"/>
            <a:ext cx="5166360" cy="457200"/>
          </a:xfrm>
          <a:prstGeom prst="rect">
            <a:avLst/>
          </a:prstGeom>
          <a:noFill/>
          <a:ln/>
        </p:spPr>
        <p:txBody>
          <a:bodyPr wrap="square" lIns="0" tIns="0" rIns="0" bIns="0" rtlCol="0" anchor="t"/>
          <a:lstStyle/>
          <a:p>
            <a:pPr indent="0" marL="0">
              <a:buNone/>
            </a:pPr>
            <a:r>
              <a:rPr lang="en-US" sz="1300" i="1" dirty="0">
                <a:solidFill>
                  <a:srgbClr val="1B1B2A"/>
                </a:solidFill>
                <a:latin typeface="Calibri" pitchFamily="34" charset="0"/>
                <a:ea typeface="Calibri" pitchFamily="34" charset="-122"/>
                <a:cs typeface="Calibri" pitchFamily="34" charset="-120"/>
              </a:rPr>
              <a:t>“A workspace is a named container for tasks… Every task belongs to exactly one workspace.”</a:t>
            </a:r>
            <a:endParaRPr lang="en-US" sz="1300" dirty="0"/>
          </a:p>
        </p:txBody>
      </p:sp>
      <p:sp>
        <p:nvSpPr>
          <p:cNvPr id="10" name="Shape 8"/>
          <p:cNvSpPr/>
          <p:nvPr/>
        </p:nvSpPr>
        <p:spPr>
          <a:xfrm>
            <a:off x="6108192" y="2720340"/>
            <a:ext cx="411480" cy="0"/>
          </a:xfrm>
          <a:prstGeom prst="line">
            <a:avLst/>
          </a:prstGeom>
          <a:noFill/>
          <a:ln w="19050">
            <a:solidFill>
              <a:srgbClr val="5B6472"/>
            </a:solidFill>
            <a:prstDash val="solid"/>
            <a:tailEnd type="triangle"/>
          </a:ln>
        </p:spPr>
      </p:sp>
      <p:sp>
        <p:nvSpPr>
          <p:cNvPr id="11" name="Shape 9"/>
          <p:cNvSpPr/>
          <p:nvPr/>
        </p:nvSpPr>
        <p:spPr>
          <a:xfrm>
            <a:off x="6583680" y="2331720"/>
            <a:ext cx="5056632" cy="777240"/>
          </a:xfrm>
          <a:prstGeom prst="roundRect">
            <a:avLst>
              <a:gd name="adj" fmla="val 7059"/>
            </a:avLst>
          </a:prstGeom>
          <a:solidFill>
            <a:srgbClr val="1E2761"/>
          </a:solidFill>
          <a:ln w="12700">
            <a:solidFill>
              <a:srgbClr val="1E2761"/>
            </a:solidFill>
            <a:prstDash val="solid"/>
          </a:ln>
        </p:spPr>
      </p:sp>
      <p:sp>
        <p:nvSpPr>
          <p:cNvPr id="12" name="Text 10"/>
          <p:cNvSpPr txBox="1"/>
          <p:nvPr/>
        </p:nvSpPr>
        <p:spPr>
          <a:xfrm>
            <a:off x="6766560" y="2331720"/>
            <a:ext cx="4709160" cy="777240"/>
          </a:xfrm>
          <a:prstGeom prst="rect">
            <a:avLst/>
          </a:prstGeom>
          <a:noFill/>
          <a:ln/>
        </p:spPr>
        <p:txBody>
          <a:bodyPr wrap="square" lIns="0" tIns="0" rIns="0" bIns="0" rtlCol="0" anchor="ctr"/>
          <a:lstStyle/>
          <a:p>
            <a:pPr indent="0" marL="0">
              <a:buNone/>
            </a:pPr>
            <a:r>
              <a:rPr lang="en-US" sz="1300" dirty="0">
                <a:solidFill>
                  <a:srgbClr val="FFFFFF"/>
                </a:solidFill>
                <a:latin typeface="Consolas" pitchFamily="34" charset="0"/>
                <a:ea typeface="Consolas" pitchFamily="34" charset="-122"/>
                <a:cs typeface="Consolas" pitchFamily="34" charset="-120"/>
              </a:rPr>
              <a:t>workspace (id, name)</a:t>
            </a:r>
            <a:pPr indent="0" marL="0">
              <a:buNone/>
            </a:pPr>
            <a:r>
              <a:rPr lang="en-US" sz="1300" dirty="0">
                <a:solidFill>
                  <a:srgbClr val="FFFFFF"/>
                </a:solidFill>
                <a:latin typeface="Calibri" pitchFamily="34" charset="0"/>
                <a:ea typeface="Calibri" pitchFamily="34" charset="-122"/>
                <a:cs typeface="Calibri" pitchFamily="34" charset="-120"/>
              </a:rPr>
              <a:t> table, plus a </a:t>
            </a:r>
            <a:pPr indent="0" marL="0">
              <a:buNone/>
            </a:pPr>
            <a:r>
              <a:rPr lang="en-US" sz="1300" dirty="0">
                <a:solidFill>
                  <a:srgbClr val="FFFFFF"/>
                </a:solidFill>
                <a:latin typeface="Consolas" pitchFamily="34" charset="0"/>
                <a:ea typeface="Consolas" pitchFamily="34" charset="-122"/>
                <a:cs typeface="Consolas" pitchFamily="34" charset="-120"/>
              </a:rPr>
              <a:t>workspace_id</a:t>
            </a:r>
            <a:pPr indent="0" marL="0">
              <a:buNone/>
            </a:pPr>
            <a:r>
              <a:rPr lang="en-US" sz="1300" dirty="0">
                <a:solidFill>
                  <a:srgbClr val="FFFFFF"/>
                </a:solidFill>
                <a:latin typeface="Calibri" pitchFamily="34" charset="0"/>
                <a:ea typeface="Calibri" pitchFamily="34" charset="-122"/>
                <a:cs typeface="Calibri" pitchFamily="34" charset="-120"/>
              </a:rPr>
              <a:t> column on </a:t>
            </a:r>
            <a:pPr indent="0" marL="0">
              <a:buNone/>
            </a:pPr>
            <a:r>
              <a:rPr lang="en-US" sz="1300" dirty="0">
                <a:solidFill>
                  <a:srgbClr val="FFFFFF"/>
                </a:solidFill>
                <a:latin typeface="Consolas" pitchFamily="34" charset="0"/>
                <a:ea typeface="Consolas" pitchFamily="34" charset="-122"/>
                <a:cs typeface="Consolas" pitchFamily="34" charset="-120"/>
              </a:rPr>
              <a:t>task</a:t>
            </a:r>
            <a:endParaRPr lang="en-US" sz="1300" dirty="0"/>
          </a:p>
        </p:txBody>
      </p:sp>
      <p:sp>
        <p:nvSpPr>
          <p:cNvPr id="13" name="Shape 11"/>
          <p:cNvSpPr/>
          <p:nvPr/>
        </p:nvSpPr>
        <p:spPr>
          <a:xfrm>
            <a:off x="548640" y="3218688"/>
            <a:ext cx="5486400" cy="777240"/>
          </a:xfrm>
          <a:prstGeom prst="roundRect">
            <a:avLst>
              <a:gd name="adj" fmla="val 7059"/>
            </a:avLst>
          </a:prstGeom>
          <a:solidFill>
            <a:srgbClr val="F4F6FB"/>
          </a:solidFill>
          <a:ln w="12700">
            <a:solidFill>
              <a:srgbClr val="F4F6FB"/>
            </a:solidFill>
            <a:prstDash val="solid"/>
          </a:ln>
        </p:spPr>
      </p:sp>
      <p:sp>
        <p:nvSpPr>
          <p:cNvPr id="14" name="Text 12"/>
          <p:cNvSpPr txBox="1"/>
          <p:nvPr/>
        </p:nvSpPr>
        <p:spPr>
          <a:xfrm>
            <a:off x="731520" y="3291840"/>
            <a:ext cx="5120640" cy="201168"/>
          </a:xfrm>
          <a:prstGeom prst="rect">
            <a:avLst/>
          </a:prstGeom>
          <a:noFill/>
          <a:ln/>
        </p:spPr>
        <p:txBody>
          <a:bodyPr wrap="square" lIns="0" tIns="0" rIns="0" bIns="0" rtlCol="0" anchor="ctr"/>
          <a:lstStyle/>
          <a:p>
            <a:pPr indent="0" marL="0">
              <a:buNone/>
            </a:pPr>
            <a:r>
              <a:rPr lang="en-US" sz="1000" b="1" spc="100" kern="0" dirty="0">
                <a:solidFill>
                  <a:srgbClr val="5B6472"/>
                </a:solidFill>
                <a:latin typeface="Calibri" pitchFamily="34" charset="0"/>
                <a:ea typeface="Calibri" pitchFamily="34" charset="-122"/>
                <a:cs typeface="Calibri" pitchFamily="34" charset="-120"/>
              </a:rPr>
              <a:t>ITEM 1 · WORKSPACES</a:t>
            </a:r>
            <a:endParaRPr lang="en-US" sz="1000" dirty="0"/>
          </a:p>
        </p:txBody>
      </p:sp>
      <p:sp>
        <p:nvSpPr>
          <p:cNvPr id="15" name="Text 13"/>
          <p:cNvSpPr txBox="1"/>
          <p:nvPr/>
        </p:nvSpPr>
        <p:spPr>
          <a:xfrm>
            <a:off x="731520" y="3493008"/>
            <a:ext cx="5166360" cy="457200"/>
          </a:xfrm>
          <a:prstGeom prst="rect">
            <a:avLst/>
          </a:prstGeom>
          <a:noFill/>
          <a:ln/>
        </p:spPr>
        <p:txBody>
          <a:bodyPr wrap="square" lIns="0" tIns="0" rIns="0" bIns="0" rtlCol="0" anchor="t"/>
          <a:lstStyle/>
          <a:p>
            <a:pPr indent="0" marL="0">
              <a:buNone/>
            </a:pPr>
            <a:r>
              <a:rPr lang="en-US" sz="1300" i="1" dirty="0">
                <a:solidFill>
                  <a:srgbClr val="1B1B2A"/>
                </a:solidFill>
                <a:latin typeface="Calibri" pitchFamily="34" charset="0"/>
                <a:ea typeface="Calibri" pitchFamily="34" charset="-122"/>
                <a:cs typeface="Calibri" pitchFamily="34" charset="-120"/>
              </a:rPr>
              <a:t>“Every user can belong to multiple workspaces.”</a:t>
            </a:r>
            <a:endParaRPr lang="en-US" sz="1300" dirty="0"/>
          </a:p>
        </p:txBody>
      </p:sp>
      <p:sp>
        <p:nvSpPr>
          <p:cNvPr id="16" name="Shape 14"/>
          <p:cNvSpPr/>
          <p:nvPr/>
        </p:nvSpPr>
        <p:spPr>
          <a:xfrm>
            <a:off x="6108192" y="3607308"/>
            <a:ext cx="411480" cy="0"/>
          </a:xfrm>
          <a:prstGeom prst="line">
            <a:avLst/>
          </a:prstGeom>
          <a:noFill/>
          <a:ln w="19050">
            <a:solidFill>
              <a:srgbClr val="5B6472"/>
            </a:solidFill>
            <a:prstDash val="solid"/>
            <a:tailEnd type="triangle"/>
          </a:ln>
        </p:spPr>
      </p:sp>
      <p:sp>
        <p:nvSpPr>
          <p:cNvPr id="17" name="Shape 15"/>
          <p:cNvSpPr/>
          <p:nvPr/>
        </p:nvSpPr>
        <p:spPr>
          <a:xfrm>
            <a:off x="6583680" y="3218688"/>
            <a:ext cx="5056632" cy="777240"/>
          </a:xfrm>
          <a:prstGeom prst="roundRect">
            <a:avLst>
              <a:gd name="adj" fmla="val 7059"/>
            </a:avLst>
          </a:prstGeom>
          <a:solidFill>
            <a:srgbClr val="1E2761"/>
          </a:solidFill>
          <a:ln w="12700">
            <a:solidFill>
              <a:srgbClr val="1E2761"/>
            </a:solidFill>
            <a:prstDash val="solid"/>
          </a:ln>
        </p:spPr>
      </p:sp>
      <p:sp>
        <p:nvSpPr>
          <p:cNvPr id="18" name="Text 16"/>
          <p:cNvSpPr txBox="1"/>
          <p:nvPr/>
        </p:nvSpPr>
        <p:spPr>
          <a:xfrm>
            <a:off x="6766560" y="3218688"/>
            <a:ext cx="4709160" cy="777240"/>
          </a:xfrm>
          <a:prstGeom prst="rect">
            <a:avLst/>
          </a:prstGeom>
          <a:noFill/>
          <a:ln/>
        </p:spPr>
        <p:txBody>
          <a:bodyPr wrap="square" lIns="0" tIns="0" rIns="0" bIns="0" rtlCol="0" anchor="ctr"/>
          <a:lstStyle/>
          <a:p>
            <a:pPr indent="0" marL="0">
              <a:buNone/>
            </a:pPr>
            <a:r>
              <a:rPr lang="en-US" sz="1300" dirty="0">
                <a:solidFill>
                  <a:srgbClr val="FFFFFF"/>
                </a:solidFill>
                <a:latin typeface="Consolas" pitchFamily="34" charset="0"/>
                <a:ea typeface="Consolas" pitchFamily="34" charset="-122"/>
                <a:cs typeface="Consolas" pitchFamily="34" charset="-120"/>
              </a:rPr>
              <a:t>workspace_member</a:t>
            </a:r>
            <a:pPr indent="0" marL="0">
              <a:buNone/>
            </a:pPr>
            <a:r>
              <a:rPr lang="en-US" sz="1300" dirty="0">
                <a:solidFill>
                  <a:srgbClr val="FFFFFF"/>
                </a:solidFill>
                <a:latin typeface="Calibri" pitchFamily="34" charset="0"/>
                <a:ea typeface="Calibri" pitchFamily="34" charset="-122"/>
                <a:cs typeface="Calibri" pitchFamily="34" charset="-120"/>
              </a:rPr>
              <a:t> join table and </a:t>
            </a:r>
            <a:pPr indent="0" marL="0">
              <a:buNone/>
            </a:pPr>
            <a:r>
              <a:rPr lang="en-US" sz="1300" dirty="0">
                <a:solidFill>
                  <a:srgbClr val="FFFFFF"/>
                </a:solidFill>
                <a:latin typeface="Consolas" pitchFamily="34" charset="0"/>
                <a:ea typeface="Consolas" pitchFamily="34" charset="-122"/>
                <a:cs typeface="Consolas" pitchFamily="34" charset="-120"/>
              </a:rPr>
              <a:t>list_workspaces_for_user()</a:t>
            </a:r>
            <a:endParaRPr lang="en-US" sz="1300" dirty="0"/>
          </a:p>
        </p:txBody>
      </p:sp>
      <p:sp>
        <p:nvSpPr>
          <p:cNvPr id="19" name="Shape 17"/>
          <p:cNvSpPr/>
          <p:nvPr/>
        </p:nvSpPr>
        <p:spPr>
          <a:xfrm>
            <a:off x="548640" y="4105656"/>
            <a:ext cx="5486400" cy="777240"/>
          </a:xfrm>
          <a:prstGeom prst="roundRect">
            <a:avLst>
              <a:gd name="adj" fmla="val 7059"/>
            </a:avLst>
          </a:prstGeom>
          <a:solidFill>
            <a:srgbClr val="F4F6FB"/>
          </a:solidFill>
          <a:ln w="12700">
            <a:solidFill>
              <a:srgbClr val="F4F6FB"/>
            </a:solidFill>
            <a:prstDash val="solid"/>
          </a:ln>
        </p:spPr>
      </p:sp>
      <p:sp>
        <p:nvSpPr>
          <p:cNvPr id="20" name="Text 18"/>
          <p:cNvSpPr txBox="1"/>
          <p:nvPr/>
        </p:nvSpPr>
        <p:spPr>
          <a:xfrm>
            <a:off x="731520" y="4178808"/>
            <a:ext cx="5120640" cy="201168"/>
          </a:xfrm>
          <a:prstGeom prst="rect">
            <a:avLst/>
          </a:prstGeom>
          <a:noFill/>
          <a:ln/>
        </p:spPr>
        <p:txBody>
          <a:bodyPr wrap="square" lIns="0" tIns="0" rIns="0" bIns="0" rtlCol="0" anchor="ctr"/>
          <a:lstStyle/>
          <a:p>
            <a:pPr indent="0" marL="0">
              <a:buNone/>
            </a:pPr>
            <a:r>
              <a:rPr lang="en-US" sz="1000" b="1" spc="100" kern="0" dirty="0">
                <a:solidFill>
                  <a:srgbClr val="5B6472"/>
                </a:solidFill>
                <a:latin typeface="Calibri" pitchFamily="34" charset="0"/>
                <a:ea typeface="Calibri" pitchFamily="34" charset="-122"/>
                <a:cs typeface="Calibri" pitchFamily="34" charset="-120"/>
              </a:rPr>
              <a:t>ITEM 2 · ROLES</a:t>
            </a:r>
            <a:endParaRPr lang="en-US" sz="1000" dirty="0"/>
          </a:p>
        </p:txBody>
      </p:sp>
      <p:sp>
        <p:nvSpPr>
          <p:cNvPr id="21" name="Text 19"/>
          <p:cNvSpPr txBox="1"/>
          <p:nvPr/>
        </p:nvSpPr>
        <p:spPr>
          <a:xfrm>
            <a:off x="731520" y="4379976"/>
            <a:ext cx="5166360" cy="457200"/>
          </a:xfrm>
          <a:prstGeom prst="rect">
            <a:avLst/>
          </a:prstGeom>
          <a:noFill/>
          <a:ln/>
        </p:spPr>
        <p:txBody>
          <a:bodyPr wrap="square" lIns="0" tIns="0" rIns="0" bIns="0" rtlCol="0" anchor="t"/>
          <a:lstStyle/>
          <a:p>
            <a:pPr indent="0" marL="0">
              <a:buNone/>
            </a:pPr>
            <a:r>
              <a:rPr lang="en-US" sz="1300" i="1" dirty="0">
                <a:solidFill>
                  <a:srgbClr val="1B1B2A"/>
                </a:solidFill>
                <a:latin typeface="Calibri" pitchFamily="34" charset="0"/>
                <a:ea typeface="Calibri" pitchFamily="34" charset="-122"/>
                <a:cs typeface="Calibri" pitchFamily="34" charset="-120"/>
              </a:rPr>
              <a:t>“Within a workspace, a user is either an admin… or a member…”</a:t>
            </a:r>
            <a:endParaRPr lang="en-US" sz="1300" dirty="0"/>
          </a:p>
        </p:txBody>
      </p:sp>
      <p:sp>
        <p:nvSpPr>
          <p:cNvPr id="22" name="Shape 20"/>
          <p:cNvSpPr/>
          <p:nvPr/>
        </p:nvSpPr>
        <p:spPr>
          <a:xfrm>
            <a:off x="6108192" y="4494276"/>
            <a:ext cx="411480" cy="0"/>
          </a:xfrm>
          <a:prstGeom prst="line">
            <a:avLst/>
          </a:prstGeom>
          <a:noFill/>
          <a:ln w="19050">
            <a:solidFill>
              <a:srgbClr val="5B6472"/>
            </a:solidFill>
            <a:prstDash val="solid"/>
            <a:tailEnd type="triangle"/>
          </a:ln>
        </p:spPr>
      </p:sp>
      <p:sp>
        <p:nvSpPr>
          <p:cNvPr id="23" name="Shape 21"/>
          <p:cNvSpPr/>
          <p:nvPr/>
        </p:nvSpPr>
        <p:spPr>
          <a:xfrm>
            <a:off x="6583680" y="4105656"/>
            <a:ext cx="5056632" cy="777240"/>
          </a:xfrm>
          <a:prstGeom prst="roundRect">
            <a:avLst>
              <a:gd name="adj" fmla="val 7059"/>
            </a:avLst>
          </a:prstGeom>
          <a:solidFill>
            <a:srgbClr val="1E2761"/>
          </a:solidFill>
          <a:ln w="12700">
            <a:solidFill>
              <a:srgbClr val="1E2761"/>
            </a:solidFill>
            <a:prstDash val="solid"/>
          </a:ln>
        </p:spPr>
      </p:sp>
      <p:sp>
        <p:nvSpPr>
          <p:cNvPr id="24" name="Text 22"/>
          <p:cNvSpPr txBox="1"/>
          <p:nvPr/>
        </p:nvSpPr>
        <p:spPr>
          <a:xfrm>
            <a:off x="6766560" y="4105656"/>
            <a:ext cx="4709160" cy="77724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A </a:t>
            </a:r>
            <a:pPr indent="0" marL="0">
              <a:buNone/>
            </a:pPr>
            <a:r>
              <a:rPr lang="en-US" sz="1300" dirty="0">
                <a:solidFill>
                  <a:srgbClr val="FFFFFF"/>
                </a:solidFill>
                <a:latin typeface="Consolas" pitchFamily="34" charset="0"/>
                <a:ea typeface="Consolas" pitchFamily="34" charset="-122"/>
                <a:cs typeface="Consolas" pitchFamily="34" charset="-120"/>
              </a:rPr>
              <a:t>role</a:t>
            </a:r>
            <a:pPr indent="0" marL="0">
              <a:buNone/>
            </a:pPr>
            <a:r>
              <a:rPr lang="en-US" sz="1300" dirty="0">
                <a:solidFill>
                  <a:srgbClr val="FFFFFF"/>
                </a:solidFill>
                <a:latin typeface="Calibri" pitchFamily="34" charset="0"/>
                <a:ea typeface="Calibri" pitchFamily="34" charset="-122"/>
                <a:cs typeface="Calibri" pitchFamily="34" charset="-120"/>
              </a:rPr>
              <a:t> column (admin | member) and </a:t>
            </a:r>
            <a:pPr indent="0" marL="0">
              <a:buNone/>
            </a:pPr>
            <a:r>
              <a:rPr lang="en-US" sz="1300" dirty="0">
                <a:solidFill>
                  <a:srgbClr val="FFFFFF"/>
                </a:solidFill>
                <a:latin typeface="Consolas" pitchFamily="34" charset="0"/>
                <a:ea typeface="Consolas" pitchFamily="34" charset="-122"/>
                <a:cs typeface="Consolas" pitchFamily="34" charset="-120"/>
              </a:rPr>
              <a:t>get_member_role()</a:t>
            </a:r>
            <a:endParaRPr lang="en-US" sz="1300" dirty="0"/>
          </a:p>
        </p:txBody>
      </p:sp>
      <p:sp>
        <p:nvSpPr>
          <p:cNvPr id="25" name="Shape 23"/>
          <p:cNvSpPr/>
          <p:nvPr/>
        </p:nvSpPr>
        <p:spPr>
          <a:xfrm>
            <a:off x="548640" y="4992624"/>
            <a:ext cx="5486400" cy="777240"/>
          </a:xfrm>
          <a:prstGeom prst="roundRect">
            <a:avLst>
              <a:gd name="adj" fmla="val 7059"/>
            </a:avLst>
          </a:prstGeom>
          <a:solidFill>
            <a:srgbClr val="F4F6FB"/>
          </a:solidFill>
          <a:ln w="12700">
            <a:solidFill>
              <a:srgbClr val="F4F6FB"/>
            </a:solidFill>
            <a:prstDash val="solid"/>
          </a:ln>
        </p:spPr>
      </p:sp>
      <p:sp>
        <p:nvSpPr>
          <p:cNvPr id="26" name="Text 24"/>
          <p:cNvSpPr txBox="1"/>
          <p:nvPr/>
        </p:nvSpPr>
        <p:spPr>
          <a:xfrm>
            <a:off x="731520" y="5065776"/>
            <a:ext cx="5120640" cy="201168"/>
          </a:xfrm>
          <a:prstGeom prst="rect">
            <a:avLst/>
          </a:prstGeom>
          <a:noFill/>
          <a:ln/>
        </p:spPr>
        <p:txBody>
          <a:bodyPr wrap="square" lIns="0" tIns="0" rIns="0" bIns="0" rtlCol="0" anchor="ctr"/>
          <a:lstStyle/>
          <a:p>
            <a:pPr indent="0" marL="0">
              <a:buNone/>
            </a:pPr>
            <a:r>
              <a:rPr lang="en-US" sz="1000" b="1" spc="100" kern="0" dirty="0">
                <a:solidFill>
                  <a:srgbClr val="5B6472"/>
                </a:solidFill>
                <a:latin typeface="Calibri" pitchFamily="34" charset="0"/>
                <a:ea typeface="Calibri" pitchFamily="34" charset="-122"/>
                <a:cs typeface="Calibri" pitchFamily="34" charset="-120"/>
              </a:rPr>
              <a:t>CONSTRAINTS AND NOTES</a:t>
            </a:r>
            <a:endParaRPr lang="en-US" sz="1000" dirty="0"/>
          </a:p>
        </p:txBody>
      </p:sp>
      <p:sp>
        <p:nvSpPr>
          <p:cNvPr id="27" name="Text 25"/>
          <p:cNvSpPr txBox="1"/>
          <p:nvPr/>
        </p:nvSpPr>
        <p:spPr>
          <a:xfrm>
            <a:off x="731520" y="5266944"/>
            <a:ext cx="5166360" cy="457200"/>
          </a:xfrm>
          <a:prstGeom prst="rect">
            <a:avLst/>
          </a:prstGeom>
          <a:noFill/>
          <a:ln/>
        </p:spPr>
        <p:txBody>
          <a:bodyPr wrap="square" lIns="0" tIns="0" rIns="0" bIns="0" rtlCol="0" anchor="t"/>
          <a:lstStyle/>
          <a:p>
            <a:pPr indent="0" marL="0">
              <a:buNone/>
            </a:pPr>
            <a:r>
              <a:rPr lang="en-US" sz="1300" i="1" dirty="0">
                <a:solidFill>
                  <a:srgbClr val="1B1B2A"/>
                </a:solidFill>
                <a:latin typeface="Calibri" pitchFamily="34" charset="0"/>
                <a:ea typeface="Calibri" pitchFamily="34" charset="-122"/>
                <a:cs typeface="Calibri" pitchFamily="34" charset="-120"/>
              </a:rPr>
              <a:t>“Nothing else can be built until workspaces and workspace membership exist in the schema.”</a:t>
            </a:r>
            <a:endParaRPr lang="en-US" sz="1300" dirty="0"/>
          </a:p>
        </p:txBody>
      </p:sp>
      <p:sp>
        <p:nvSpPr>
          <p:cNvPr id="28" name="Shape 26"/>
          <p:cNvSpPr/>
          <p:nvPr/>
        </p:nvSpPr>
        <p:spPr>
          <a:xfrm>
            <a:off x="6108192" y="5381244"/>
            <a:ext cx="411480" cy="0"/>
          </a:xfrm>
          <a:prstGeom prst="line">
            <a:avLst/>
          </a:prstGeom>
          <a:noFill/>
          <a:ln w="19050">
            <a:solidFill>
              <a:srgbClr val="5B6472"/>
            </a:solidFill>
            <a:prstDash val="solid"/>
            <a:tailEnd type="triangle"/>
          </a:ln>
        </p:spPr>
      </p:sp>
      <p:sp>
        <p:nvSpPr>
          <p:cNvPr id="29" name="Shape 27"/>
          <p:cNvSpPr/>
          <p:nvPr/>
        </p:nvSpPr>
        <p:spPr>
          <a:xfrm>
            <a:off x="6583680" y="4992624"/>
            <a:ext cx="5056632" cy="777240"/>
          </a:xfrm>
          <a:prstGeom prst="roundRect">
            <a:avLst>
              <a:gd name="adj" fmla="val 7059"/>
            </a:avLst>
          </a:prstGeom>
          <a:solidFill>
            <a:srgbClr val="1E2761"/>
          </a:solidFill>
          <a:ln w="12700">
            <a:solidFill>
              <a:srgbClr val="1E2761"/>
            </a:solidFill>
            <a:prstDash val="solid"/>
          </a:ln>
        </p:spPr>
      </p:sp>
      <p:sp>
        <p:nvSpPr>
          <p:cNvPr id="30" name="Text 28"/>
          <p:cNvSpPr txBox="1"/>
          <p:nvPr/>
        </p:nvSpPr>
        <p:spPr>
          <a:xfrm>
            <a:off x="6766560" y="4992624"/>
            <a:ext cx="4709160" cy="77724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Depends on nothing. Blocks Units 2–4. Runs first, on its own.</a:t>
            </a:r>
            <a:endParaRPr lang="en-US" sz="1300" dirty="0"/>
          </a:p>
        </p:txBody>
      </p:sp>
      <p:sp>
        <p:nvSpPr>
          <p:cNvPr id="31" name="Text 29"/>
          <p:cNvSpPr txBox="1"/>
          <p:nvPr/>
        </p:nvSpPr>
        <p:spPr>
          <a:xfrm>
            <a:off x="548640" y="5897880"/>
            <a:ext cx="11064240" cy="36576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Also fixed by the repo: </a:t>
            </a:r>
            <a:pPr indent="0" marL="0">
              <a:buNone/>
            </a:pPr>
            <a:r>
              <a:rPr lang="en-US" sz="1350" dirty="0">
                <a:solidFill>
                  <a:srgbClr val="1E2761"/>
                </a:solidFill>
                <a:latin typeface="Consolas" pitchFamily="34" charset="0"/>
                <a:ea typeface="Consolas" pitchFamily="34" charset="-122"/>
                <a:cs typeface="Consolas" pitchFamily="34" charset="-120"/>
              </a:rPr>
              <a:t>seed_demo.py</a:t>
            </a:r>
            <a:pPr indent="0" marL="0">
              <a:buNone/>
            </a:pPr>
            <a:r>
              <a:rPr lang="en-US" sz="1350" dirty="0">
                <a:solidFill>
                  <a:srgbClr val="5B6472"/>
                </a:solidFill>
                <a:latin typeface="Calibri" pitchFamily="34" charset="0"/>
                <a:ea typeface="Calibri" pitchFamily="34" charset="-122"/>
                <a:cs typeface="Calibri" pitchFamily="34" charset="-120"/>
              </a:rPr>
              <a:t> expects these exact table and column names, so Unit 1 must use them.</a:t>
            </a:r>
            <a:endParaRPr lang="en-US" sz="13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365760"/>
          </a:xfrm>
          <a:prstGeom prst="rect">
            <a:avLst/>
          </a:prstGeom>
          <a:noFill/>
          <a:ln/>
        </p:spPr>
        <p:txBody>
          <a:bodyPr wrap="square" lIns="0" tIns="0" rIns="0" bIns="0" rtlCol="0" anchor="ctr"/>
          <a:lstStyle/>
          <a:p>
            <a:pPr indent="0" marL="0">
              <a:buNone/>
            </a:pPr>
            <a:r>
              <a:rPr lang="en-US" sz="1200" b="1" spc="200" kern="0" dirty="0">
                <a:solidFill>
                  <a:srgbClr val="1E2761"/>
                </a:solidFill>
                <a:latin typeface="Calibri" pitchFamily="34" charset="0"/>
                <a:ea typeface="Calibri" pitchFamily="34" charset="-122"/>
                <a:cs typeface="Calibri" pitchFamily="34" charset="-120"/>
              </a:rPr>
              <a:t>MODULE 1 — WORKED EXAMPLE, PART 2 OF 3</a:t>
            </a:r>
            <a:endParaRPr lang="en-US" sz="1200" dirty="0"/>
          </a:p>
        </p:txBody>
      </p:sp>
      <p:sp>
        <p:nvSpPr>
          <p:cNvPr id="3" name="Text 1"/>
          <p:cNvSpPr txBox="1"/>
          <p:nvPr/>
        </p:nvSpPr>
        <p:spPr>
          <a:xfrm>
            <a:off x="548640" y="685800"/>
            <a:ext cx="10972800" cy="640080"/>
          </a:xfrm>
          <a:prstGeom prst="rect">
            <a:avLst/>
          </a:prstGeom>
          <a:noFill/>
          <a:ln/>
        </p:spPr>
        <p:txBody>
          <a:bodyPr wrap="square" lIns="0" tIns="0" rIns="0" bIns="0" rtlCol="0" anchor="ctr"/>
          <a:lstStyle/>
          <a:p>
            <a:pPr indent="0" marL="0">
              <a:buNone/>
            </a:pPr>
            <a:r>
              <a:rPr lang="en-US" sz="3000" b="1" dirty="0">
                <a:solidFill>
                  <a:srgbClr val="1B1B2A"/>
                </a:solidFill>
                <a:latin typeface="Cambria" pitchFamily="34" charset="0"/>
                <a:ea typeface="Cambria" pitchFamily="34" charset="-122"/>
                <a:cs typeface="Cambria" pitchFamily="34" charset="-120"/>
              </a:rPr>
              <a:t>The Schema Unit: Description and Criteria</a:t>
            </a:r>
            <a:endParaRPr lang="en-US" sz="3000" dirty="0"/>
          </a:p>
        </p:txBody>
      </p:sp>
      <p:sp>
        <p:nvSpPr>
          <p:cNvPr id="4" name="Text 2"/>
          <p:cNvSpPr txBox="1"/>
          <p:nvPr/>
        </p:nvSpPr>
        <p:spPr>
          <a:xfrm>
            <a:off x="548640" y="1325880"/>
            <a:ext cx="11064240" cy="457200"/>
          </a:xfrm>
          <a:prstGeom prst="rect">
            <a:avLst/>
          </a:prstGeom>
          <a:noFill/>
          <a:ln/>
        </p:spPr>
        <p:txBody>
          <a:bodyPr wrap="square" lIns="0" tIns="0" rIns="0" bIns="0" rtlCol="0" anchor="ctr"/>
          <a:lstStyle/>
          <a:p>
            <a:pPr indent="0" marL="0">
              <a:buNone/>
            </a:pPr>
            <a:r>
              <a:rPr lang="en-US" sz="1600" i="1" dirty="0">
                <a:solidFill>
                  <a:srgbClr val="5B6472"/>
                </a:solidFill>
                <a:latin typeface="Calibri" pitchFamily="34" charset="0"/>
                <a:ea typeface="Calibri" pitchFamily="34" charset="-122"/>
                <a:cs typeface="Calibri" pitchFamily="34" charset="-120"/>
              </a:rPr>
              <a:t>Unit 1 of today’s feature request, written out step by step. This one is given; you’ll write Units 2–4.</a:t>
            </a:r>
            <a:endParaRPr lang="en-US" sz="1600" dirty="0"/>
          </a:p>
        </p:txBody>
      </p:sp>
      <p:sp>
        <p:nvSpPr>
          <p:cNvPr id="5" name="Shape 3"/>
          <p:cNvSpPr/>
          <p:nvPr/>
        </p:nvSpPr>
        <p:spPr>
          <a:xfrm>
            <a:off x="548640" y="2011680"/>
            <a:ext cx="384048" cy="384048"/>
          </a:xfrm>
          <a:prstGeom prst="ellipse">
            <a:avLst/>
          </a:prstGeom>
          <a:solidFill>
            <a:srgbClr val="1E2761"/>
          </a:solidFill>
          <a:ln w="12700">
            <a:solidFill>
              <a:srgbClr val="1E2761"/>
            </a:solidFill>
            <a:prstDash val="solid"/>
          </a:ln>
        </p:spPr>
      </p:sp>
      <p:sp>
        <p:nvSpPr>
          <p:cNvPr id="6" name="Text 4"/>
          <p:cNvSpPr txBox="1"/>
          <p:nvPr/>
        </p:nvSpPr>
        <p:spPr>
          <a:xfrm>
            <a:off x="548640" y="20116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1097280" y="2011680"/>
            <a:ext cx="4572000" cy="384048"/>
          </a:xfrm>
          <a:prstGeom prst="rect">
            <a:avLst/>
          </a:prstGeom>
          <a:noFill/>
          <a:ln/>
        </p:spPr>
        <p:txBody>
          <a:bodyPr wrap="square" lIns="0" tIns="0" rIns="0" bIns="0" rtlCol="0" anchor="ctr"/>
          <a:lstStyle/>
          <a:p>
            <a:pPr indent="0" marL="0">
              <a:buNone/>
            </a:pPr>
            <a:r>
              <a:rPr lang="en-US" sz="2000" b="1" dirty="0">
                <a:solidFill>
                  <a:srgbClr val="1B1B2A"/>
                </a:solidFill>
                <a:latin typeface="Calibri" pitchFamily="34" charset="0"/>
                <a:ea typeface="Calibri" pitchFamily="34" charset="-122"/>
                <a:cs typeface="Calibri" pitchFamily="34" charset="-120"/>
              </a:rPr>
              <a:t>Description</a:t>
            </a:r>
            <a:endParaRPr lang="en-US" sz="2000" dirty="0"/>
          </a:p>
        </p:txBody>
      </p:sp>
      <p:sp>
        <p:nvSpPr>
          <p:cNvPr id="8" name="Shape 6"/>
          <p:cNvSpPr/>
          <p:nvPr/>
        </p:nvSpPr>
        <p:spPr>
          <a:xfrm>
            <a:off x="548640" y="2606040"/>
            <a:ext cx="5394960" cy="3611880"/>
          </a:xfrm>
          <a:prstGeom prst="roundRect">
            <a:avLst>
              <a:gd name="adj" fmla="val 1519"/>
            </a:avLst>
          </a:prstGeom>
          <a:solidFill>
            <a:srgbClr val="F4F6FB"/>
          </a:solidFill>
          <a:ln w="12700">
            <a:solidFill>
              <a:srgbClr val="F4F6FB"/>
            </a:solidFill>
            <a:prstDash val="solid"/>
          </a:ln>
        </p:spPr>
      </p:sp>
      <p:sp>
        <p:nvSpPr>
          <p:cNvPr id="9" name="Text 7"/>
          <p:cNvSpPr txBox="1"/>
          <p:nvPr/>
        </p:nvSpPr>
        <p:spPr>
          <a:xfrm>
            <a:off x="777240" y="2743200"/>
            <a:ext cx="4983480" cy="493776"/>
          </a:xfrm>
          <a:prstGeom prst="rect">
            <a:avLst/>
          </a:prstGeom>
          <a:noFill/>
          <a:ln/>
        </p:spPr>
        <p:txBody>
          <a:bodyPr wrap="square" lIns="0" tIns="0" rIns="0" bIns="0"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Touches: </a:t>
            </a:r>
            <a:pPr indent="0" marL="0">
              <a:buNone/>
            </a:pPr>
            <a:r>
              <a:rPr lang="en-US" sz="1400" dirty="0">
                <a:solidFill>
                  <a:srgbClr val="1E2761"/>
                </a:solidFill>
                <a:latin typeface="Consolas" pitchFamily="34" charset="0"/>
                <a:ea typeface="Consolas" pitchFamily="34" charset="-122"/>
                <a:cs typeface="Consolas" pitchFamily="34" charset="-120"/>
              </a:rPr>
              <a:t>app/db.py</a:t>
            </a:r>
            <a:pPr indent="0" marL="0">
              <a:buNone/>
            </a:pPr>
            <a:r>
              <a:rPr lang="en-US" sz="1400" dirty="0">
                <a:solidFill>
                  <a:srgbClr val="1B1B2A"/>
                </a:solidFill>
                <a:latin typeface="Calibri" pitchFamily="34" charset="0"/>
                <a:ea typeface="Calibri" pitchFamily="34" charset="-122"/>
                <a:cs typeface="Calibri" pitchFamily="34" charset="-120"/>
              </a:rPr>
              <a:t>, plus a new </a:t>
            </a:r>
            <a:pPr indent="0" marL="0">
              <a:buNone/>
            </a:pPr>
            <a:r>
              <a:rPr lang="en-US" sz="1400" dirty="0">
                <a:solidFill>
                  <a:srgbClr val="1E2761"/>
                </a:solidFill>
                <a:latin typeface="Consolas" pitchFamily="34" charset="0"/>
                <a:ea typeface="Consolas" pitchFamily="34" charset="-122"/>
                <a:cs typeface="Consolas" pitchFamily="34" charset="-120"/>
              </a:rPr>
              <a:t>tests/test_workspaces.py</a:t>
            </a:r>
            <a:endParaRPr lang="en-US" sz="1400" dirty="0"/>
          </a:p>
        </p:txBody>
      </p:sp>
      <p:sp>
        <p:nvSpPr>
          <p:cNvPr id="10" name="Text 8"/>
          <p:cNvSpPr txBox="1"/>
          <p:nvPr/>
        </p:nvSpPr>
        <p:spPr>
          <a:xfrm>
            <a:off x="777240" y="3291840"/>
            <a:ext cx="4983480" cy="768096"/>
          </a:xfrm>
          <a:prstGeom prst="rect">
            <a:avLst/>
          </a:prstGeom>
          <a:noFill/>
          <a:ln/>
        </p:spPr>
        <p:txBody>
          <a:bodyPr wrap="square" lIns="0" tIns="0" rIns="0" bIns="0"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Adds: </a:t>
            </a:r>
            <a:pPr indent="0" marL="0">
              <a:buNone/>
            </a:pPr>
            <a:r>
              <a:rPr lang="en-US" sz="1400" dirty="0">
                <a:solidFill>
                  <a:srgbClr val="1E2761"/>
                </a:solidFill>
                <a:latin typeface="Consolas" pitchFamily="34" charset="0"/>
                <a:ea typeface="Consolas" pitchFamily="34" charset="-122"/>
                <a:cs typeface="Consolas" pitchFamily="34" charset="-120"/>
              </a:rPr>
              <a:t>workspace (id, name)</a:t>
            </a:r>
            <a:pPr indent="0" marL="0">
              <a:buNone/>
            </a:pPr>
            <a:r>
              <a:rPr lang="en-US" sz="1400" dirty="0">
                <a:solidFill>
                  <a:srgbClr val="1B1B2A"/>
                </a:solidFill>
                <a:latin typeface="Calibri" pitchFamily="34" charset="0"/>
                <a:ea typeface="Calibri" pitchFamily="34" charset="-122"/>
                <a:cs typeface="Calibri" pitchFamily="34" charset="-120"/>
              </a:rPr>
              <a:t> and </a:t>
            </a:r>
            <a:pPr indent="0" marL="0">
              <a:buNone/>
            </a:pPr>
            <a:r>
              <a:rPr lang="en-US" sz="1400" dirty="0">
                <a:solidFill>
                  <a:srgbClr val="1E2761"/>
                </a:solidFill>
                <a:latin typeface="Consolas" pitchFamily="34" charset="0"/>
                <a:ea typeface="Consolas" pitchFamily="34" charset="-122"/>
                <a:cs typeface="Consolas" pitchFamily="34" charset="-120"/>
              </a:rPr>
              <a:t>workspace_member (workspace_id, user_id, role)</a:t>
            </a:r>
            <a:pPr indent="0" marL="0">
              <a:buNone/>
            </a:pPr>
            <a:r>
              <a:rPr lang="en-US" sz="1400" dirty="0">
                <a:solidFill>
                  <a:srgbClr val="1B1B2A"/>
                </a:solidFill>
                <a:latin typeface="Calibri" pitchFamily="34" charset="0"/>
                <a:ea typeface="Calibri" pitchFamily="34" charset="-122"/>
                <a:cs typeface="Calibri" pitchFamily="34" charset="-120"/>
              </a:rPr>
              <a:t>, role </a:t>
            </a:r>
            <a:pPr indent="0" marL="0">
              <a:buNone/>
            </a:pPr>
            <a:r>
              <a:rPr lang="en-US" sz="1400" dirty="0">
                <a:solidFill>
                  <a:srgbClr val="1E2761"/>
                </a:solidFill>
                <a:latin typeface="Consolas" pitchFamily="34" charset="0"/>
                <a:ea typeface="Consolas" pitchFamily="34" charset="-122"/>
                <a:cs typeface="Consolas" pitchFamily="34" charset="-120"/>
              </a:rPr>
              <a:t>'admin'</a:t>
            </a:r>
            <a:pPr indent="0" marL="0">
              <a:buNone/>
            </a:pPr>
            <a:r>
              <a:rPr lang="en-US" sz="1400" dirty="0">
                <a:solidFill>
                  <a:srgbClr val="1B1B2A"/>
                </a:solidFill>
                <a:latin typeface="Calibri" pitchFamily="34" charset="0"/>
                <a:ea typeface="Calibri" pitchFamily="34" charset="-122"/>
                <a:cs typeface="Calibri" pitchFamily="34" charset="-120"/>
              </a:rPr>
              <a:t> or </a:t>
            </a:r>
            <a:pPr indent="0" marL="0">
              <a:buNone/>
            </a:pPr>
            <a:r>
              <a:rPr lang="en-US" sz="1400" dirty="0">
                <a:solidFill>
                  <a:srgbClr val="1E2761"/>
                </a:solidFill>
                <a:latin typeface="Consolas" pitchFamily="34" charset="0"/>
                <a:ea typeface="Consolas" pitchFamily="34" charset="-122"/>
                <a:cs typeface="Consolas" pitchFamily="34" charset="-120"/>
              </a:rPr>
              <a:t>'member'</a:t>
            </a:r>
            <a:endParaRPr lang="en-US" sz="1400" dirty="0"/>
          </a:p>
        </p:txBody>
      </p:sp>
      <p:sp>
        <p:nvSpPr>
          <p:cNvPr id="11" name="Text 9"/>
          <p:cNvSpPr txBox="1"/>
          <p:nvPr/>
        </p:nvSpPr>
        <p:spPr>
          <a:xfrm>
            <a:off x="777240" y="4114800"/>
            <a:ext cx="4983480" cy="539496"/>
          </a:xfrm>
          <a:prstGeom prst="rect">
            <a:avLst/>
          </a:prstGeom>
          <a:noFill/>
          <a:ln/>
        </p:spPr>
        <p:txBody>
          <a:bodyPr wrap="square" lIns="0" tIns="0" rIns="0" bIns="0"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Alters: </a:t>
            </a:r>
            <a:pPr indent="0" marL="0">
              <a:buNone/>
            </a:pPr>
            <a:r>
              <a:rPr lang="en-US" sz="1400" dirty="0">
                <a:solidFill>
                  <a:srgbClr val="1E2761"/>
                </a:solidFill>
                <a:latin typeface="Consolas" pitchFamily="34" charset="0"/>
                <a:ea typeface="Consolas" pitchFamily="34" charset="-122"/>
                <a:cs typeface="Consolas" pitchFamily="34" charset="-120"/>
              </a:rPr>
              <a:t>task</a:t>
            </a:r>
            <a:pPr indent="0" marL="0">
              <a:buNone/>
            </a:pPr>
            <a:r>
              <a:rPr lang="en-US" sz="1400" dirty="0">
                <a:solidFill>
                  <a:srgbClr val="1B1B2A"/>
                </a:solidFill>
                <a:latin typeface="Calibri" pitchFamily="34" charset="0"/>
                <a:ea typeface="Calibri" pitchFamily="34" charset="-122"/>
                <a:cs typeface="Calibri" pitchFamily="34" charset="-120"/>
              </a:rPr>
              <a:t> gets a nullable </a:t>
            </a:r>
            <a:pPr indent="0" marL="0">
              <a:buNone/>
            </a:pPr>
            <a:r>
              <a:rPr lang="en-US" sz="1400" dirty="0">
                <a:solidFill>
                  <a:srgbClr val="1E2761"/>
                </a:solidFill>
                <a:latin typeface="Consolas" pitchFamily="34" charset="0"/>
                <a:ea typeface="Consolas" pitchFamily="34" charset="-122"/>
                <a:cs typeface="Consolas" pitchFamily="34" charset="-120"/>
              </a:rPr>
              <a:t>workspace_id</a:t>
            </a:r>
            <a:pPr indent="0" marL="0">
              <a:buNone/>
            </a:pPr>
            <a:r>
              <a:rPr lang="en-US" sz="1400" dirty="0">
                <a:solidFill>
                  <a:srgbClr val="1B1B2A"/>
                </a:solidFill>
                <a:latin typeface="Calibri" pitchFamily="34" charset="0"/>
                <a:ea typeface="Calibri" pitchFamily="34" charset="-122"/>
                <a:cs typeface="Calibri" pitchFamily="34" charset="-120"/>
              </a:rPr>
              <a:t>, so existing rows don’t break</a:t>
            </a:r>
            <a:endParaRPr lang="en-US" sz="1400" dirty="0"/>
          </a:p>
        </p:txBody>
      </p:sp>
      <p:sp>
        <p:nvSpPr>
          <p:cNvPr id="12" name="Text 10"/>
          <p:cNvSpPr txBox="1"/>
          <p:nvPr/>
        </p:nvSpPr>
        <p:spPr>
          <a:xfrm>
            <a:off x="777240" y="4709160"/>
            <a:ext cx="4983480" cy="694944"/>
          </a:xfrm>
          <a:prstGeom prst="rect">
            <a:avLst/>
          </a:prstGeom>
          <a:noFill/>
          <a:ln/>
        </p:spPr>
        <p:txBody>
          <a:bodyPr wrap="square" lIns="0" tIns="0" rIns="0" bIns="0"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Accessors: </a:t>
            </a:r>
            <a:pPr indent="0" marL="0">
              <a:buNone/>
            </a:pPr>
            <a:r>
              <a:rPr lang="en-US" sz="1400" dirty="0">
                <a:solidFill>
                  <a:srgbClr val="1E2761"/>
                </a:solidFill>
                <a:latin typeface="Consolas" pitchFamily="34" charset="0"/>
                <a:ea typeface="Consolas" pitchFamily="34" charset="-122"/>
                <a:cs typeface="Consolas" pitchFamily="34" charset="-120"/>
              </a:rPr>
              <a:t>create_workspace</a:t>
            </a:r>
            <a:pPr indent="0" marL="0">
              <a:buNone/>
            </a:pPr>
            <a:r>
              <a:rPr lang="en-US" sz="1400" dirty="0">
                <a:solidFill>
                  <a:srgbClr val="1B1B2A"/>
                </a:solidFill>
                <a:latin typeface="Calibri" pitchFamily="34" charset="0"/>
                <a:ea typeface="Calibri" pitchFamily="34" charset="-122"/>
                <a:cs typeface="Calibri" pitchFamily="34" charset="-120"/>
              </a:rPr>
              <a:t>, </a:t>
            </a:r>
            <a:pPr indent="0" marL="0">
              <a:buNone/>
            </a:pPr>
            <a:r>
              <a:rPr lang="en-US" sz="1400" dirty="0">
                <a:solidFill>
                  <a:srgbClr val="1E2761"/>
                </a:solidFill>
                <a:latin typeface="Consolas" pitchFamily="34" charset="0"/>
                <a:ea typeface="Consolas" pitchFamily="34" charset="-122"/>
                <a:cs typeface="Consolas" pitchFamily="34" charset="-120"/>
              </a:rPr>
              <a:t>add_member</a:t>
            </a:r>
            <a:pPr indent="0" marL="0">
              <a:buNone/>
            </a:pPr>
            <a:r>
              <a:rPr lang="en-US" sz="1400" dirty="0">
                <a:solidFill>
                  <a:srgbClr val="1B1B2A"/>
                </a:solidFill>
                <a:latin typeface="Calibri" pitchFamily="34" charset="0"/>
                <a:ea typeface="Calibri" pitchFamily="34" charset="-122"/>
                <a:cs typeface="Calibri" pitchFamily="34" charset="-120"/>
              </a:rPr>
              <a:t>, </a:t>
            </a:r>
            <a:pPr indent="0" marL="0">
              <a:buNone/>
            </a:pPr>
            <a:r>
              <a:rPr lang="en-US" sz="1400" dirty="0">
                <a:solidFill>
                  <a:srgbClr val="1E2761"/>
                </a:solidFill>
                <a:latin typeface="Consolas" pitchFamily="34" charset="0"/>
                <a:ea typeface="Consolas" pitchFamily="34" charset="-122"/>
                <a:cs typeface="Consolas" pitchFamily="34" charset="-120"/>
              </a:rPr>
              <a:t>list_workspaces_for_user</a:t>
            </a:r>
            <a:pPr indent="0" marL="0">
              <a:buNone/>
            </a:pPr>
            <a:r>
              <a:rPr lang="en-US" sz="1400" dirty="0">
                <a:solidFill>
                  <a:srgbClr val="1B1B2A"/>
                </a:solidFill>
                <a:latin typeface="Calibri" pitchFamily="34" charset="0"/>
                <a:ea typeface="Calibri" pitchFamily="34" charset="-122"/>
                <a:cs typeface="Calibri" pitchFamily="34" charset="-120"/>
              </a:rPr>
              <a:t>, </a:t>
            </a:r>
            <a:pPr indent="0" marL="0">
              <a:buNone/>
            </a:pPr>
            <a:r>
              <a:rPr lang="en-US" sz="1400" dirty="0">
                <a:solidFill>
                  <a:srgbClr val="1E2761"/>
                </a:solidFill>
                <a:latin typeface="Consolas" pitchFamily="34" charset="0"/>
                <a:ea typeface="Consolas" pitchFamily="34" charset="-122"/>
                <a:cs typeface="Consolas" pitchFamily="34" charset="-120"/>
              </a:rPr>
              <a:t>get_member_role</a:t>
            </a:r>
            <a:endParaRPr lang="en-US" sz="1400" dirty="0"/>
          </a:p>
        </p:txBody>
      </p:sp>
      <p:sp>
        <p:nvSpPr>
          <p:cNvPr id="13" name="Text 11"/>
          <p:cNvSpPr txBox="1"/>
          <p:nvPr/>
        </p:nvSpPr>
        <p:spPr>
          <a:xfrm>
            <a:off x="777240" y="5458968"/>
            <a:ext cx="4983480" cy="658368"/>
          </a:xfrm>
          <a:prstGeom prst="rect">
            <a:avLst/>
          </a:prstGeom>
          <a:noFill/>
          <a:ln/>
        </p:spPr>
        <p:txBody>
          <a:bodyPr wrap="square" lIns="0" tIns="0" rIns="0" bIns="0"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Follows: </a:t>
            </a:r>
            <a:pPr indent="0" marL="0">
              <a:buNone/>
            </a:pPr>
            <a:r>
              <a:rPr lang="en-US" sz="1400" dirty="0">
                <a:solidFill>
                  <a:srgbClr val="1B1B2A"/>
                </a:solidFill>
                <a:latin typeface="Calibri" pitchFamily="34" charset="0"/>
                <a:ea typeface="Calibri" pitchFamily="34" charset="-122"/>
                <a:cs typeface="Calibri" pitchFamily="34" charset="-120"/>
              </a:rPr>
              <a:t>plain sqlite3, schema in the </a:t>
            </a:r>
            <a:pPr indent="0" marL="0">
              <a:buNone/>
            </a:pPr>
            <a:r>
              <a:rPr lang="en-US" sz="1400" dirty="0">
                <a:solidFill>
                  <a:srgbClr val="1E2761"/>
                </a:solidFill>
                <a:latin typeface="Consolas" pitchFamily="34" charset="0"/>
                <a:ea typeface="Consolas" pitchFamily="34" charset="-122"/>
                <a:cs typeface="Consolas" pitchFamily="34" charset="-120"/>
              </a:rPr>
              <a:t>SCHEMA</a:t>
            </a:r>
            <a:pPr indent="0" marL="0">
              <a:buNone/>
            </a:pPr>
            <a:r>
              <a:rPr lang="en-US" sz="1400" dirty="0">
                <a:solidFill>
                  <a:srgbClr val="1B1B2A"/>
                </a:solidFill>
                <a:latin typeface="Calibri" pitchFamily="34" charset="0"/>
                <a:ea typeface="Calibri" pitchFamily="34" charset="-122"/>
                <a:cs typeface="Calibri" pitchFamily="34" charset="-120"/>
              </a:rPr>
              <a:t> string, accessors below it. No ORM.</a:t>
            </a:r>
            <a:endParaRPr lang="en-US" sz="1400" dirty="0"/>
          </a:p>
        </p:txBody>
      </p:sp>
      <p:sp>
        <p:nvSpPr>
          <p:cNvPr id="14" name="Shape 12"/>
          <p:cNvSpPr/>
          <p:nvPr/>
        </p:nvSpPr>
        <p:spPr>
          <a:xfrm>
            <a:off x="6245352" y="2011680"/>
            <a:ext cx="384048" cy="384048"/>
          </a:xfrm>
          <a:prstGeom prst="ellipse">
            <a:avLst/>
          </a:prstGeom>
          <a:solidFill>
            <a:srgbClr val="1E2761"/>
          </a:solidFill>
          <a:ln w="12700">
            <a:solidFill>
              <a:srgbClr val="1E2761"/>
            </a:solidFill>
            <a:prstDash val="solid"/>
          </a:ln>
        </p:spPr>
      </p:sp>
      <p:sp>
        <p:nvSpPr>
          <p:cNvPr id="15" name="Text 13"/>
          <p:cNvSpPr txBox="1"/>
          <p:nvPr/>
        </p:nvSpPr>
        <p:spPr>
          <a:xfrm>
            <a:off x="6245352" y="20116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6" name="Text 14"/>
          <p:cNvSpPr txBox="1"/>
          <p:nvPr/>
        </p:nvSpPr>
        <p:spPr>
          <a:xfrm>
            <a:off x="6793992" y="2011680"/>
            <a:ext cx="4572000" cy="384048"/>
          </a:xfrm>
          <a:prstGeom prst="rect">
            <a:avLst/>
          </a:prstGeom>
          <a:noFill/>
          <a:ln/>
        </p:spPr>
        <p:txBody>
          <a:bodyPr wrap="square" lIns="0" tIns="0" rIns="0" bIns="0" rtlCol="0" anchor="ctr"/>
          <a:lstStyle/>
          <a:p>
            <a:pPr indent="0" marL="0">
              <a:buNone/>
            </a:pPr>
            <a:r>
              <a:rPr lang="en-US" sz="2000" b="1" dirty="0">
                <a:solidFill>
                  <a:srgbClr val="1B1B2A"/>
                </a:solidFill>
                <a:latin typeface="Calibri" pitchFamily="34" charset="0"/>
                <a:ea typeface="Calibri" pitchFamily="34" charset="-122"/>
                <a:cs typeface="Calibri" pitchFamily="34" charset="-120"/>
              </a:rPr>
              <a:t>Acceptance criteria</a:t>
            </a:r>
            <a:endParaRPr lang="en-US" sz="2000" dirty="0"/>
          </a:p>
        </p:txBody>
      </p:sp>
      <p:sp>
        <p:nvSpPr>
          <p:cNvPr id="17" name="Shape 15"/>
          <p:cNvSpPr/>
          <p:nvPr/>
        </p:nvSpPr>
        <p:spPr>
          <a:xfrm>
            <a:off x="6245352" y="2606040"/>
            <a:ext cx="5394960" cy="3611880"/>
          </a:xfrm>
          <a:prstGeom prst="roundRect">
            <a:avLst>
              <a:gd name="adj" fmla="val 1519"/>
            </a:avLst>
          </a:prstGeom>
          <a:solidFill>
            <a:srgbClr val="1E2761"/>
          </a:solidFill>
          <a:ln w="12700">
            <a:solidFill>
              <a:srgbClr val="1E2761"/>
            </a:solidFill>
            <a:prstDash val="solid"/>
          </a:ln>
        </p:spPr>
      </p:sp>
      <p:sp>
        <p:nvSpPr>
          <p:cNvPr id="18" name="Shape 16"/>
          <p:cNvSpPr/>
          <p:nvPr/>
        </p:nvSpPr>
        <p:spPr>
          <a:xfrm>
            <a:off x="6473952" y="2798064"/>
            <a:ext cx="201168" cy="201168"/>
          </a:xfrm>
          <a:prstGeom prst="roundRect">
            <a:avLst>
              <a:gd name="adj" fmla="val 13636"/>
            </a:avLst>
          </a:prstGeom>
          <a:solidFill>
            <a:srgbClr val="1E2761"/>
          </a:solidFill>
          <a:ln w="19050">
            <a:solidFill>
              <a:srgbClr val="7CFC9C"/>
            </a:solidFill>
            <a:prstDash val="solid"/>
          </a:ln>
        </p:spPr>
      </p:sp>
      <p:sp>
        <p:nvSpPr>
          <p:cNvPr id="19" name="Text 17"/>
          <p:cNvSpPr txBox="1"/>
          <p:nvPr/>
        </p:nvSpPr>
        <p:spPr>
          <a:xfrm>
            <a:off x="6858000" y="2761488"/>
            <a:ext cx="4572000" cy="493776"/>
          </a:xfrm>
          <a:prstGeom prst="rect">
            <a:avLst/>
          </a:prstGeom>
          <a:noFill/>
          <a:ln/>
        </p:spPr>
        <p:txBody>
          <a:bodyPr wrap="square" lIns="0" tIns="0" rIns="0" bIns="0" rtlCol="0" anchor="t"/>
          <a:lstStyle/>
          <a:p>
            <a:pPr indent="0" marL="0">
              <a:buNone/>
            </a:pPr>
            <a:r>
              <a:rPr lang="en-US" sz="1300" dirty="0">
                <a:solidFill>
                  <a:srgbClr val="FFFFFF"/>
                </a:solidFill>
                <a:latin typeface="Consolas" pitchFamily="34" charset="0"/>
                <a:ea typeface="Consolas" pitchFamily="34" charset="-122"/>
                <a:cs typeface="Consolas" pitchFamily="34" charset="-120"/>
              </a:rPr>
              <a:t>SCHEMA</a:t>
            </a:r>
            <a:pPr indent="0" marL="0">
              <a:buNone/>
            </a:pPr>
            <a:r>
              <a:rPr lang="en-US" sz="1300" dirty="0">
                <a:solidFill>
                  <a:srgbClr val="FFFFFF"/>
                </a:solidFill>
                <a:latin typeface="Calibri" pitchFamily="34" charset="0"/>
                <a:ea typeface="Calibri" pitchFamily="34" charset="-122"/>
                <a:cs typeface="Calibri" pitchFamily="34" charset="-120"/>
              </a:rPr>
              <a:t> defines </a:t>
            </a:r>
            <a:pPr indent="0" marL="0">
              <a:buNone/>
            </a:pPr>
            <a:r>
              <a:rPr lang="en-US" sz="1300" dirty="0">
                <a:solidFill>
                  <a:srgbClr val="FFFFFF"/>
                </a:solidFill>
                <a:latin typeface="Consolas" pitchFamily="34" charset="0"/>
                <a:ea typeface="Consolas" pitchFamily="34" charset="-122"/>
                <a:cs typeface="Consolas" pitchFamily="34" charset="-120"/>
              </a:rPr>
              <a:t>workspace</a:t>
            </a:r>
            <a:pPr indent="0" marL="0">
              <a:buNone/>
            </a:pPr>
            <a:r>
              <a:rPr lang="en-US" sz="1300" dirty="0">
                <a:solidFill>
                  <a:srgbClr val="FFFFFF"/>
                </a:solidFill>
                <a:latin typeface="Calibri" pitchFamily="34" charset="0"/>
                <a:ea typeface="Calibri" pitchFamily="34" charset="-122"/>
                <a:cs typeface="Calibri" pitchFamily="34" charset="-120"/>
              </a:rPr>
              <a:t> and </a:t>
            </a:r>
            <a:pPr indent="0" marL="0">
              <a:buNone/>
            </a:pPr>
            <a:r>
              <a:rPr lang="en-US" sz="1300" dirty="0">
                <a:solidFill>
                  <a:srgbClr val="FFFFFF"/>
                </a:solidFill>
                <a:latin typeface="Consolas" pitchFamily="34" charset="0"/>
                <a:ea typeface="Consolas" pitchFamily="34" charset="-122"/>
                <a:cs typeface="Consolas" pitchFamily="34" charset="-120"/>
              </a:rPr>
              <a:t>workspace_member</a:t>
            </a:r>
            <a:pPr indent="0" marL="0">
              <a:buNone/>
            </a:pPr>
            <a:r>
              <a:rPr lang="en-US" sz="1300" dirty="0">
                <a:solidFill>
                  <a:srgbClr val="FFFFFF"/>
                </a:solidFill>
                <a:latin typeface="Calibri" pitchFamily="34" charset="0"/>
                <a:ea typeface="Calibri" pitchFamily="34" charset="-122"/>
                <a:cs typeface="Calibri" pitchFamily="34" charset="-120"/>
              </a:rPr>
              <a:t>; </a:t>
            </a:r>
            <a:pPr indent="0" marL="0">
              <a:buNone/>
            </a:pPr>
            <a:r>
              <a:rPr lang="en-US" sz="1300" dirty="0">
                <a:solidFill>
                  <a:srgbClr val="FFFFFF"/>
                </a:solidFill>
                <a:latin typeface="Consolas" pitchFamily="34" charset="0"/>
                <a:ea typeface="Consolas" pitchFamily="34" charset="-122"/>
                <a:cs typeface="Consolas" pitchFamily="34" charset="-120"/>
              </a:rPr>
              <a:t>task</a:t>
            </a:r>
            <a:pPr indent="0" marL="0">
              <a:buNone/>
            </a:pPr>
            <a:r>
              <a:rPr lang="en-US" sz="1300" dirty="0">
                <a:solidFill>
                  <a:srgbClr val="FFFFFF"/>
                </a:solidFill>
                <a:latin typeface="Calibri" pitchFamily="34" charset="0"/>
                <a:ea typeface="Calibri" pitchFamily="34" charset="-122"/>
                <a:cs typeface="Calibri" pitchFamily="34" charset="-120"/>
              </a:rPr>
              <a:t> gains a nullable </a:t>
            </a:r>
            <a:pPr indent="0" marL="0">
              <a:buNone/>
            </a:pPr>
            <a:r>
              <a:rPr lang="en-US" sz="1300" dirty="0">
                <a:solidFill>
                  <a:srgbClr val="FFFFFF"/>
                </a:solidFill>
                <a:latin typeface="Consolas" pitchFamily="34" charset="0"/>
                <a:ea typeface="Consolas" pitchFamily="34" charset="-122"/>
                <a:cs typeface="Consolas" pitchFamily="34" charset="-120"/>
              </a:rPr>
              <a:t>workspace_id</a:t>
            </a:r>
            <a:endParaRPr lang="en-US" sz="1300" dirty="0"/>
          </a:p>
        </p:txBody>
      </p:sp>
      <p:sp>
        <p:nvSpPr>
          <p:cNvPr id="20" name="Shape 18"/>
          <p:cNvSpPr/>
          <p:nvPr/>
        </p:nvSpPr>
        <p:spPr>
          <a:xfrm>
            <a:off x="6473952" y="3328416"/>
            <a:ext cx="201168" cy="201168"/>
          </a:xfrm>
          <a:prstGeom prst="roundRect">
            <a:avLst>
              <a:gd name="adj" fmla="val 13636"/>
            </a:avLst>
          </a:prstGeom>
          <a:solidFill>
            <a:srgbClr val="1E2761"/>
          </a:solidFill>
          <a:ln w="19050">
            <a:solidFill>
              <a:srgbClr val="7CFC9C"/>
            </a:solidFill>
            <a:prstDash val="solid"/>
          </a:ln>
        </p:spPr>
      </p:sp>
      <p:sp>
        <p:nvSpPr>
          <p:cNvPr id="21" name="Text 19"/>
          <p:cNvSpPr txBox="1"/>
          <p:nvPr/>
        </p:nvSpPr>
        <p:spPr>
          <a:xfrm>
            <a:off x="6858000" y="3291840"/>
            <a:ext cx="4572000" cy="402336"/>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All 4 tests in </a:t>
            </a:r>
            <a:pPr indent="0" marL="0">
              <a:buNone/>
            </a:pPr>
            <a:r>
              <a:rPr lang="en-US" sz="1300" dirty="0">
                <a:solidFill>
                  <a:srgbClr val="FFFFFF"/>
                </a:solidFill>
                <a:latin typeface="Consolas" pitchFamily="34" charset="0"/>
                <a:ea typeface="Consolas" pitchFamily="34" charset="-122"/>
                <a:cs typeface="Consolas" pitchFamily="34" charset="-120"/>
              </a:rPr>
              <a:t>tests/test_tasks.py</a:t>
            </a:r>
            <a:pPr indent="0" marL="0">
              <a:buNone/>
            </a:pPr>
            <a:r>
              <a:rPr lang="en-US" sz="1300" dirty="0">
                <a:solidFill>
                  <a:srgbClr val="FFFFFF"/>
                </a:solidFill>
                <a:latin typeface="Calibri" pitchFamily="34" charset="0"/>
                <a:ea typeface="Calibri" pitchFamily="34" charset="-122"/>
                <a:cs typeface="Calibri" pitchFamily="34" charset="-120"/>
              </a:rPr>
              <a:t> still pass, unmodified</a:t>
            </a:r>
            <a:endParaRPr lang="en-US" sz="1300" dirty="0"/>
          </a:p>
        </p:txBody>
      </p:sp>
      <p:sp>
        <p:nvSpPr>
          <p:cNvPr id="22" name="Shape 20"/>
          <p:cNvSpPr/>
          <p:nvPr/>
        </p:nvSpPr>
        <p:spPr>
          <a:xfrm>
            <a:off x="6473952" y="3767328"/>
            <a:ext cx="201168" cy="201168"/>
          </a:xfrm>
          <a:prstGeom prst="roundRect">
            <a:avLst>
              <a:gd name="adj" fmla="val 13636"/>
            </a:avLst>
          </a:prstGeom>
          <a:solidFill>
            <a:srgbClr val="1E2761"/>
          </a:solidFill>
          <a:ln w="19050">
            <a:solidFill>
              <a:srgbClr val="7CFC9C"/>
            </a:solidFill>
            <a:prstDash val="solid"/>
          </a:ln>
        </p:spPr>
      </p:sp>
      <p:sp>
        <p:nvSpPr>
          <p:cNvPr id="23" name="Text 21"/>
          <p:cNvSpPr txBox="1"/>
          <p:nvPr/>
        </p:nvSpPr>
        <p:spPr>
          <a:xfrm>
            <a:off x="6858000" y="3730752"/>
            <a:ext cx="4572000" cy="493776"/>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The four accessors behave as named: </a:t>
            </a:r>
            <a:pPr indent="0" marL="0">
              <a:buNone/>
            </a:pPr>
            <a:r>
              <a:rPr lang="en-US" sz="1300" dirty="0">
                <a:solidFill>
                  <a:srgbClr val="FFFFFF"/>
                </a:solidFill>
                <a:latin typeface="Consolas" pitchFamily="34" charset="0"/>
                <a:ea typeface="Consolas" pitchFamily="34" charset="-122"/>
                <a:cs typeface="Consolas" pitchFamily="34" charset="-120"/>
              </a:rPr>
              <a:t>get_member_role</a:t>
            </a:r>
            <a:pPr indent="0" marL="0">
              <a:buNone/>
            </a:pPr>
            <a:r>
              <a:rPr lang="en-US" sz="1300" dirty="0">
                <a:solidFill>
                  <a:srgbClr val="FFFFFF"/>
                </a:solidFill>
                <a:latin typeface="Calibri" pitchFamily="34" charset="0"/>
                <a:ea typeface="Calibri" pitchFamily="34" charset="-122"/>
                <a:cs typeface="Calibri" pitchFamily="34" charset="-120"/>
              </a:rPr>
              <a:t> returns </a:t>
            </a:r>
            <a:pPr indent="0" marL="0">
              <a:buNone/>
            </a:pPr>
            <a:r>
              <a:rPr lang="en-US" sz="1300" dirty="0">
                <a:solidFill>
                  <a:srgbClr val="FFFFFF"/>
                </a:solidFill>
                <a:latin typeface="Consolas" pitchFamily="34" charset="0"/>
                <a:ea typeface="Consolas" pitchFamily="34" charset="-122"/>
                <a:cs typeface="Consolas" pitchFamily="34" charset="-120"/>
              </a:rPr>
              <a:t>None</a:t>
            </a:r>
            <a:pPr indent="0" marL="0">
              <a:buNone/>
            </a:pPr>
            <a:r>
              <a:rPr lang="en-US" sz="1300" dirty="0">
                <a:solidFill>
                  <a:srgbClr val="FFFFFF"/>
                </a:solidFill>
                <a:latin typeface="Calibri" pitchFamily="34" charset="0"/>
                <a:ea typeface="Calibri" pitchFamily="34" charset="-122"/>
                <a:cs typeface="Calibri" pitchFamily="34" charset="-120"/>
              </a:rPr>
              <a:t> for a non-member instead of raising</a:t>
            </a:r>
            <a:endParaRPr lang="en-US" sz="1300" dirty="0"/>
          </a:p>
        </p:txBody>
      </p:sp>
      <p:sp>
        <p:nvSpPr>
          <p:cNvPr id="24" name="Shape 22"/>
          <p:cNvSpPr/>
          <p:nvPr/>
        </p:nvSpPr>
        <p:spPr>
          <a:xfrm>
            <a:off x="6473952" y="4297680"/>
            <a:ext cx="201168" cy="201168"/>
          </a:xfrm>
          <a:prstGeom prst="roundRect">
            <a:avLst>
              <a:gd name="adj" fmla="val 13636"/>
            </a:avLst>
          </a:prstGeom>
          <a:solidFill>
            <a:srgbClr val="1E2761"/>
          </a:solidFill>
          <a:ln w="19050">
            <a:solidFill>
              <a:srgbClr val="7CFC9C"/>
            </a:solidFill>
            <a:prstDash val="solid"/>
          </a:ln>
        </p:spPr>
      </p:sp>
      <p:sp>
        <p:nvSpPr>
          <p:cNvPr id="25" name="Text 23"/>
          <p:cNvSpPr txBox="1"/>
          <p:nvPr/>
        </p:nvSpPr>
        <p:spPr>
          <a:xfrm>
            <a:off x="6858000" y="4261104"/>
            <a:ext cx="4572000" cy="731520"/>
          </a:xfrm>
          <a:prstGeom prst="rect">
            <a:avLst/>
          </a:prstGeom>
          <a:noFill/>
          <a:ln/>
        </p:spPr>
        <p:txBody>
          <a:bodyPr wrap="square" lIns="0" tIns="0" rIns="0" bIns="0" rtlCol="0" anchor="t"/>
          <a:lstStyle/>
          <a:p>
            <a:pPr indent="0" marL="0">
              <a:buNone/>
            </a:pPr>
            <a:r>
              <a:rPr lang="en-US" sz="1300" dirty="0">
                <a:solidFill>
                  <a:srgbClr val="FFFFFF"/>
                </a:solidFill>
                <a:latin typeface="Consolas" pitchFamily="34" charset="0"/>
                <a:ea typeface="Consolas" pitchFamily="34" charset="-122"/>
                <a:cs typeface="Consolas" pitchFamily="34" charset="-120"/>
              </a:rPr>
              <a:t>tests/test_workspaces.py</a:t>
            </a:r>
            <a:pPr indent="0" marL="0">
              <a:buNone/>
            </a:pPr>
            <a:r>
              <a:rPr lang="en-US" sz="1300" dirty="0">
                <a:solidFill>
                  <a:srgbClr val="FFFFFF"/>
                </a:solidFill>
                <a:latin typeface="Calibri" pitchFamily="34" charset="0"/>
                <a:ea typeface="Calibri" pitchFamily="34" charset="-122"/>
                <a:cs typeface="Calibri" pitchFamily="34" charset="-120"/>
              </a:rPr>
              <a:t> covers create, add member with a role, list for a user in several workspaces, and a non-member getting no role</a:t>
            </a:r>
            <a:endParaRPr lang="en-US" sz="1300" dirty="0"/>
          </a:p>
        </p:txBody>
      </p:sp>
      <p:sp>
        <p:nvSpPr>
          <p:cNvPr id="26" name="Shape 24"/>
          <p:cNvSpPr/>
          <p:nvPr/>
        </p:nvSpPr>
        <p:spPr>
          <a:xfrm>
            <a:off x="6473952" y="5065776"/>
            <a:ext cx="201168" cy="201168"/>
          </a:xfrm>
          <a:prstGeom prst="roundRect">
            <a:avLst>
              <a:gd name="adj" fmla="val 13636"/>
            </a:avLst>
          </a:prstGeom>
          <a:solidFill>
            <a:srgbClr val="1E2761"/>
          </a:solidFill>
          <a:ln w="19050">
            <a:solidFill>
              <a:srgbClr val="7CFC9C"/>
            </a:solidFill>
            <a:prstDash val="solid"/>
          </a:ln>
        </p:spPr>
      </p:sp>
      <p:sp>
        <p:nvSpPr>
          <p:cNvPr id="27" name="Text 25"/>
          <p:cNvSpPr txBox="1"/>
          <p:nvPr/>
        </p:nvSpPr>
        <p:spPr>
          <a:xfrm>
            <a:off x="6858000" y="5029200"/>
            <a:ext cx="4572000" cy="374904"/>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No changes to </a:t>
            </a:r>
            <a:pPr indent="0" marL="0">
              <a:buNone/>
            </a:pPr>
            <a:r>
              <a:rPr lang="en-US" sz="1300" dirty="0">
                <a:solidFill>
                  <a:srgbClr val="FFFFFF"/>
                </a:solidFill>
                <a:latin typeface="Consolas" pitchFamily="34" charset="0"/>
                <a:ea typeface="Consolas" pitchFamily="34" charset="-122"/>
                <a:cs typeface="Consolas" pitchFamily="34" charset="-120"/>
              </a:rPr>
              <a:t>app/routes.py</a:t>
            </a:r>
            <a:pPr indent="0" marL="0">
              <a:buNone/>
            </a:pPr>
            <a:r>
              <a:rPr lang="en-US" sz="1300" dirty="0">
                <a:solidFill>
                  <a:srgbClr val="FFFFFF"/>
                </a:solidFill>
                <a:latin typeface="Calibri" pitchFamily="34" charset="0"/>
                <a:ea typeface="Calibri" pitchFamily="34" charset="-122"/>
                <a:cs typeface="Calibri" pitchFamily="34" charset="-120"/>
              </a:rPr>
              <a:t> or templates</a:t>
            </a:r>
            <a:endParaRPr lang="en-US" sz="1300" dirty="0"/>
          </a:p>
        </p:txBody>
      </p:sp>
      <p:sp>
        <p:nvSpPr>
          <p:cNvPr id="28" name="Shape 26"/>
          <p:cNvSpPr/>
          <p:nvPr/>
        </p:nvSpPr>
        <p:spPr>
          <a:xfrm>
            <a:off x="6473952" y="5477256"/>
            <a:ext cx="201168" cy="201168"/>
          </a:xfrm>
          <a:prstGeom prst="roundRect">
            <a:avLst>
              <a:gd name="adj" fmla="val 13636"/>
            </a:avLst>
          </a:prstGeom>
          <a:solidFill>
            <a:srgbClr val="1E2761"/>
          </a:solidFill>
          <a:ln w="19050">
            <a:solidFill>
              <a:srgbClr val="7CFC9C"/>
            </a:solidFill>
            <a:prstDash val="solid"/>
          </a:ln>
        </p:spPr>
      </p:sp>
      <p:sp>
        <p:nvSpPr>
          <p:cNvPr id="29" name="Text 27"/>
          <p:cNvSpPr txBox="1"/>
          <p:nvPr/>
        </p:nvSpPr>
        <p:spPr>
          <a:xfrm>
            <a:off x="6858000" y="5440680"/>
            <a:ext cx="4572000" cy="649224"/>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On a fresh database, </a:t>
            </a:r>
            <a:pPr indent="0" marL="0">
              <a:buNone/>
            </a:pPr>
            <a:r>
              <a:rPr lang="en-US" sz="1300" dirty="0">
                <a:solidFill>
                  <a:srgbClr val="FFFFFF"/>
                </a:solidFill>
                <a:latin typeface="Consolas" pitchFamily="34" charset="0"/>
                <a:ea typeface="Consolas" pitchFamily="34" charset="-122"/>
                <a:cs typeface="Consolas" pitchFamily="34" charset="-120"/>
              </a:rPr>
              <a:t>seed_demo.py</a:t>
            </a:r>
            <a:pPr indent="0" marL="0">
              <a:buNone/>
            </a:pPr>
            <a:r>
              <a:rPr lang="en-US" sz="1300" dirty="0">
                <a:solidFill>
                  <a:srgbClr val="FFFFFF"/>
                </a:solidFill>
                <a:latin typeface="Calibri" pitchFamily="34" charset="0"/>
                <a:ea typeface="Calibri" pitchFamily="34" charset="-122"/>
                <a:cs typeface="Calibri" pitchFamily="34" charset="-120"/>
              </a:rPr>
              <a:t> runs cleanly and reports both workspaces</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365760"/>
          </a:xfrm>
          <a:prstGeom prst="rect">
            <a:avLst/>
          </a:prstGeom>
          <a:noFill/>
          <a:ln/>
        </p:spPr>
        <p:txBody>
          <a:bodyPr wrap="square" lIns="0" tIns="0" rIns="0" bIns="0" rtlCol="0" anchor="ctr"/>
          <a:lstStyle/>
          <a:p>
            <a:pPr indent="0" marL="0">
              <a:buNone/>
            </a:pPr>
            <a:r>
              <a:rPr lang="en-US" sz="1200" b="1" spc="200" kern="0" dirty="0">
                <a:solidFill>
                  <a:srgbClr val="1E2761"/>
                </a:solidFill>
                <a:latin typeface="Calibri" pitchFamily="34" charset="0"/>
                <a:ea typeface="Calibri" pitchFamily="34" charset="-122"/>
                <a:cs typeface="Calibri" pitchFamily="34" charset="-120"/>
              </a:rPr>
              <a:t>MODULE 1 — WORKED EXAMPLE, PART 3 OF 3</a:t>
            </a:r>
            <a:endParaRPr lang="en-US" sz="1200" dirty="0"/>
          </a:p>
        </p:txBody>
      </p:sp>
      <p:sp>
        <p:nvSpPr>
          <p:cNvPr id="3" name="Text 1"/>
          <p:cNvSpPr txBox="1"/>
          <p:nvPr/>
        </p:nvSpPr>
        <p:spPr>
          <a:xfrm>
            <a:off x="548640" y="685800"/>
            <a:ext cx="10972800" cy="640080"/>
          </a:xfrm>
          <a:prstGeom prst="rect">
            <a:avLst/>
          </a:prstGeom>
          <a:noFill/>
          <a:ln/>
        </p:spPr>
        <p:txBody>
          <a:bodyPr wrap="square" lIns="0" tIns="0" rIns="0" bIns="0" rtlCol="0" anchor="ctr"/>
          <a:lstStyle/>
          <a:p>
            <a:pPr indent="0" marL="0">
              <a:buNone/>
            </a:pPr>
            <a:r>
              <a:rPr lang="en-US" sz="3000" b="1" dirty="0">
                <a:solidFill>
                  <a:srgbClr val="1B1B2A"/>
                </a:solidFill>
                <a:latin typeface="Cambria" pitchFamily="34" charset="0"/>
                <a:ea typeface="Cambria" pitchFamily="34" charset="-122"/>
                <a:cs typeface="Cambria" pitchFamily="34" charset="-120"/>
              </a:rPr>
              <a:t>The Schema Unit: Dependencies and Verification</a:t>
            </a:r>
            <a:endParaRPr lang="en-US" sz="3000" dirty="0"/>
          </a:p>
        </p:txBody>
      </p:sp>
      <p:sp>
        <p:nvSpPr>
          <p:cNvPr id="4" name="Text 2"/>
          <p:cNvSpPr txBox="1"/>
          <p:nvPr/>
        </p:nvSpPr>
        <p:spPr>
          <a:xfrm>
            <a:off x="548640" y="1325880"/>
            <a:ext cx="11064240" cy="457200"/>
          </a:xfrm>
          <a:prstGeom prst="rect">
            <a:avLst/>
          </a:prstGeom>
          <a:noFill/>
          <a:ln/>
        </p:spPr>
        <p:txBody>
          <a:bodyPr wrap="square" lIns="0" tIns="0" rIns="0" bIns="0" rtlCol="0" anchor="ctr"/>
          <a:lstStyle/>
          <a:p>
            <a:pPr indent="0" marL="0">
              <a:buNone/>
            </a:pPr>
            <a:r>
              <a:rPr lang="en-US" sz="1600" i="1" dirty="0">
                <a:solidFill>
                  <a:srgbClr val="5B6472"/>
                </a:solidFill>
                <a:latin typeface="Calibri" pitchFamily="34" charset="0"/>
                <a:ea typeface="Calibri" pitchFamily="34" charset="-122"/>
                <a:cs typeface="Calibri" pitchFamily="34" charset="-120"/>
              </a:rPr>
              <a:t>Unit 1 of today’s feature request, written out step by step. This one is given; you’ll write Units 2–4.</a:t>
            </a:r>
            <a:endParaRPr lang="en-US" sz="1600" dirty="0"/>
          </a:p>
        </p:txBody>
      </p:sp>
      <p:sp>
        <p:nvSpPr>
          <p:cNvPr id="5" name="Shape 3"/>
          <p:cNvSpPr/>
          <p:nvPr/>
        </p:nvSpPr>
        <p:spPr>
          <a:xfrm>
            <a:off x="548640" y="2011680"/>
            <a:ext cx="384048" cy="384048"/>
          </a:xfrm>
          <a:prstGeom prst="ellipse">
            <a:avLst/>
          </a:prstGeom>
          <a:solidFill>
            <a:srgbClr val="1E2761"/>
          </a:solidFill>
          <a:ln w="12700">
            <a:solidFill>
              <a:srgbClr val="1E2761"/>
            </a:solidFill>
            <a:prstDash val="solid"/>
          </a:ln>
        </p:spPr>
      </p:sp>
      <p:sp>
        <p:nvSpPr>
          <p:cNvPr id="6" name="Text 4"/>
          <p:cNvSpPr txBox="1"/>
          <p:nvPr/>
        </p:nvSpPr>
        <p:spPr>
          <a:xfrm>
            <a:off x="548640" y="20116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7" name="Text 5"/>
          <p:cNvSpPr txBox="1"/>
          <p:nvPr/>
        </p:nvSpPr>
        <p:spPr>
          <a:xfrm>
            <a:off x="1097280" y="2011680"/>
            <a:ext cx="4572000" cy="384048"/>
          </a:xfrm>
          <a:prstGeom prst="rect">
            <a:avLst/>
          </a:prstGeom>
          <a:noFill/>
          <a:ln/>
        </p:spPr>
        <p:txBody>
          <a:bodyPr wrap="square" lIns="0" tIns="0" rIns="0" bIns="0" rtlCol="0" anchor="ctr"/>
          <a:lstStyle/>
          <a:p>
            <a:pPr indent="0" marL="0">
              <a:buNone/>
            </a:pPr>
            <a:r>
              <a:rPr lang="en-US" sz="2000" b="1" dirty="0">
                <a:solidFill>
                  <a:srgbClr val="1B1B2A"/>
                </a:solidFill>
                <a:latin typeface="Calibri" pitchFamily="34" charset="0"/>
                <a:ea typeface="Calibri" pitchFamily="34" charset="-122"/>
                <a:cs typeface="Calibri" pitchFamily="34" charset="-120"/>
              </a:rPr>
              <a:t>Named dependencies</a:t>
            </a:r>
            <a:endParaRPr lang="en-US" sz="2000" dirty="0"/>
          </a:p>
        </p:txBody>
      </p:sp>
      <p:sp>
        <p:nvSpPr>
          <p:cNvPr id="8" name="Shape 6"/>
          <p:cNvSpPr/>
          <p:nvPr/>
        </p:nvSpPr>
        <p:spPr>
          <a:xfrm>
            <a:off x="548640" y="2606040"/>
            <a:ext cx="5394960" cy="3611880"/>
          </a:xfrm>
          <a:prstGeom prst="roundRect">
            <a:avLst>
              <a:gd name="adj" fmla="val 1519"/>
            </a:avLst>
          </a:prstGeom>
          <a:solidFill>
            <a:srgbClr val="F4F6FB"/>
          </a:solidFill>
          <a:ln w="12700">
            <a:solidFill>
              <a:srgbClr val="F4F6FB"/>
            </a:solidFill>
            <a:prstDash val="solid"/>
          </a:ln>
        </p:spPr>
      </p:sp>
      <p:sp>
        <p:nvSpPr>
          <p:cNvPr id="9" name="Text 7"/>
          <p:cNvSpPr txBox="1"/>
          <p:nvPr/>
        </p:nvSpPr>
        <p:spPr>
          <a:xfrm>
            <a:off x="777240" y="2788920"/>
            <a:ext cx="4983480" cy="630936"/>
          </a:xfrm>
          <a:prstGeom prst="rect">
            <a:avLst/>
          </a:prstGeom>
          <a:noFill/>
          <a:ln/>
        </p:spPr>
        <p:txBody>
          <a:bodyPr wrap="square" lIns="0" tIns="0" rIns="0" bIns="0"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Depends on: </a:t>
            </a:r>
            <a:pPr indent="0" marL="0">
              <a:buNone/>
            </a:pPr>
            <a:r>
              <a:rPr lang="en-US" sz="1400" dirty="0">
                <a:solidFill>
                  <a:srgbClr val="1B1B2A"/>
                </a:solidFill>
                <a:latin typeface="Calibri" pitchFamily="34" charset="0"/>
                <a:ea typeface="Calibri" pitchFamily="34" charset="-122"/>
                <a:cs typeface="Calibri" pitchFamily="34" charset="-120"/>
              </a:rPr>
              <a:t>nothing. This is the foundation, so it runs first, on its own.</a:t>
            </a:r>
            <a:endParaRPr lang="en-US" sz="1400" dirty="0"/>
          </a:p>
        </p:txBody>
      </p:sp>
      <p:sp>
        <p:nvSpPr>
          <p:cNvPr id="10" name="Text 8"/>
          <p:cNvSpPr txBox="1"/>
          <p:nvPr/>
        </p:nvSpPr>
        <p:spPr>
          <a:xfrm>
            <a:off x="777240" y="3474720"/>
            <a:ext cx="4983480" cy="630936"/>
          </a:xfrm>
          <a:prstGeom prst="rect">
            <a:avLst/>
          </a:prstGeom>
          <a:noFill/>
          <a:ln/>
        </p:spPr>
        <p:txBody>
          <a:bodyPr wrap="square" lIns="0" tIns="0" rIns="0" bIns="0"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Blocks: </a:t>
            </a:r>
            <a:pPr indent="0" marL="0">
              <a:buNone/>
            </a:pPr>
            <a:r>
              <a:rPr lang="en-US" sz="1400" dirty="0">
                <a:solidFill>
                  <a:srgbClr val="1B1B2A"/>
                </a:solidFill>
                <a:latin typeface="Calibri" pitchFamily="34" charset="0"/>
                <a:ea typeface="Calibri" pitchFamily="34" charset="-122"/>
                <a:cs typeface="Calibri" pitchFamily="34" charset="-120"/>
              </a:rPr>
              <a:t>Units 2, 3, and 4. None of them can be written against real tables until this lands.</a:t>
            </a:r>
            <a:endParaRPr lang="en-US" sz="1400" dirty="0"/>
          </a:p>
        </p:txBody>
      </p:sp>
      <p:sp>
        <p:nvSpPr>
          <p:cNvPr id="11" name="Text 9"/>
          <p:cNvSpPr txBox="1"/>
          <p:nvPr/>
        </p:nvSpPr>
        <p:spPr>
          <a:xfrm>
            <a:off x="777240" y="4160520"/>
            <a:ext cx="4983480" cy="1042416"/>
          </a:xfrm>
          <a:prstGeom prst="rect">
            <a:avLst/>
          </a:prstGeom>
          <a:noFill/>
          <a:ln/>
        </p:spPr>
        <p:txBody>
          <a:bodyPr wrap="square" lIns="0" tIns="0" rIns="0" bIns="0"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Contract: </a:t>
            </a:r>
            <a:pPr indent="0" marL="0">
              <a:buNone/>
            </a:pPr>
            <a:r>
              <a:rPr lang="en-US" sz="1400" dirty="0">
                <a:solidFill>
                  <a:srgbClr val="1B1B2A"/>
                </a:solidFill>
                <a:latin typeface="Calibri" pitchFamily="34" charset="0"/>
                <a:ea typeface="Calibri" pitchFamily="34" charset="-122"/>
                <a:cs typeface="Calibri" pitchFamily="34" charset="-120"/>
              </a:rPr>
              <a:t>the table and column names (fixed by </a:t>
            </a:r>
            <a:pPr indent="0" marL="0">
              <a:buNone/>
            </a:pPr>
            <a:r>
              <a:rPr lang="en-US" sz="1400" dirty="0">
                <a:solidFill>
                  <a:srgbClr val="1E2761"/>
                </a:solidFill>
                <a:latin typeface="Consolas" pitchFamily="34" charset="0"/>
                <a:ea typeface="Consolas" pitchFamily="34" charset="-122"/>
                <a:cs typeface="Consolas" pitchFamily="34" charset="-120"/>
              </a:rPr>
              <a:t>seed_demo.py</a:t>
            </a:r>
            <a:pPr indent="0" marL="0">
              <a:buNone/>
            </a:pPr>
            <a:r>
              <a:rPr lang="en-US" sz="1400" dirty="0">
                <a:solidFill>
                  <a:srgbClr val="1B1B2A"/>
                </a:solidFill>
                <a:latin typeface="Calibri" pitchFamily="34" charset="0"/>
                <a:ea typeface="Calibri" pitchFamily="34" charset="-122"/>
                <a:cs typeface="Calibri" pitchFamily="34" charset="-120"/>
              </a:rPr>
              <a:t>) and the four accessors. Unit 2’s permission checks call </a:t>
            </a:r>
            <a:pPr indent="0" marL="0">
              <a:buNone/>
            </a:pPr>
            <a:r>
              <a:rPr lang="en-US" sz="1400" dirty="0">
                <a:solidFill>
                  <a:srgbClr val="1E2761"/>
                </a:solidFill>
                <a:latin typeface="Consolas" pitchFamily="34" charset="0"/>
                <a:ea typeface="Consolas" pitchFamily="34" charset="-122"/>
                <a:cs typeface="Consolas" pitchFamily="34" charset="-120"/>
              </a:rPr>
              <a:t>get_member_role</a:t>
            </a:r>
            <a:pPr indent="0" marL="0">
              <a:buNone/>
            </a:pPr>
            <a:r>
              <a:rPr lang="en-US" sz="1400" dirty="0">
                <a:solidFill>
                  <a:srgbClr val="1B1B2A"/>
                </a:solidFill>
                <a:latin typeface="Calibri" pitchFamily="34" charset="0"/>
                <a:ea typeface="Calibri" pitchFamily="34" charset="-122"/>
                <a:cs typeface="Calibri" pitchFamily="34" charset="-120"/>
              </a:rPr>
              <a:t>.</a:t>
            </a:r>
            <a:endParaRPr lang="en-US" sz="1400" dirty="0"/>
          </a:p>
        </p:txBody>
      </p:sp>
      <p:sp>
        <p:nvSpPr>
          <p:cNvPr id="12" name="Shape 10"/>
          <p:cNvSpPr/>
          <p:nvPr/>
        </p:nvSpPr>
        <p:spPr>
          <a:xfrm>
            <a:off x="777240" y="5440680"/>
            <a:ext cx="1737360" cy="548640"/>
          </a:xfrm>
          <a:prstGeom prst="roundRect">
            <a:avLst>
              <a:gd name="adj" fmla="val 10000"/>
            </a:avLst>
          </a:prstGeom>
          <a:solidFill>
            <a:srgbClr val="1E2761"/>
          </a:solidFill>
          <a:ln w="12700">
            <a:solidFill>
              <a:srgbClr val="1E2761"/>
            </a:solidFill>
            <a:prstDash val="solid"/>
          </a:ln>
        </p:spPr>
      </p:sp>
      <p:sp>
        <p:nvSpPr>
          <p:cNvPr id="13" name="Text 11"/>
          <p:cNvSpPr txBox="1"/>
          <p:nvPr/>
        </p:nvSpPr>
        <p:spPr>
          <a:xfrm>
            <a:off x="777240" y="5440680"/>
            <a:ext cx="173736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Unit 1 · Schema</a:t>
            </a:r>
            <a:endParaRPr lang="en-US" sz="1300" dirty="0"/>
          </a:p>
        </p:txBody>
      </p:sp>
      <p:sp>
        <p:nvSpPr>
          <p:cNvPr id="14" name="Shape 12"/>
          <p:cNvSpPr/>
          <p:nvPr/>
        </p:nvSpPr>
        <p:spPr>
          <a:xfrm>
            <a:off x="2560320" y="5715000"/>
            <a:ext cx="594360" cy="0"/>
          </a:xfrm>
          <a:prstGeom prst="line">
            <a:avLst/>
          </a:prstGeom>
          <a:noFill/>
          <a:ln w="19050">
            <a:solidFill>
              <a:srgbClr val="5B6472"/>
            </a:solidFill>
            <a:prstDash val="solid"/>
            <a:tailEnd type="triangle"/>
          </a:ln>
        </p:spPr>
      </p:sp>
      <p:sp>
        <p:nvSpPr>
          <p:cNvPr id="15" name="Shape 13"/>
          <p:cNvSpPr/>
          <p:nvPr/>
        </p:nvSpPr>
        <p:spPr>
          <a:xfrm>
            <a:off x="3200400" y="5440680"/>
            <a:ext cx="2514600" cy="548640"/>
          </a:xfrm>
          <a:prstGeom prst="roundRect">
            <a:avLst>
              <a:gd name="adj" fmla="val 10000"/>
            </a:avLst>
          </a:prstGeom>
          <a:solidFill>
            <a:srgbClr val="FFFFFF"/>
          </a:solidFill>
          <a:ln w="12700">
            <a:solidFill>
              <a:srgbClr val="D5DAE6"/>
            </a:solidFill>
            <a:prstDash val="solid"/>
          </a:ln>
        </p:spPr>
      </p:sp>
      <p:sp>
        <p:nvSpPr>
          <p:cNvPr id="16" name="Text 14"/>
          <p:cNvSpPr txBox="1"/>
          <p:nvPr/>
        </p:nvSpPr>
        <p:spPr>
          <a:xfrm>
            <a:off x="3200400" y="5440680"/>
            <a:ext cx="2514600" cy="548640"/>
          </a:xfrm>
          <a:prstGeom prst="rect">
            <a:avLst/>
          </a:prstGeom>
          <a:noFill/>
          <a:ln/>
        </p:spPr>
        <p:txBody>
          <a:bodyPr wrap="square" lIns="0" tIns="0" rIns="0" bIns="0" rtlCol="0" anchor="ctr"/>
          <a:lstStyle/>
          <a:p>
            <a:pPr algn="ctr" indent="0" marL="0">
              <a:buNone/>
            </a:pPr>
            <a:r>
              <a:rPr lang="en-US" sz="1300" dirty="0">
                <a:solidFill>
                  <a:srgbClr val="1B1B2A"/>
                </a:solidFill>
                <a:latin typeface="Calibri" pitchFamily="34" charset="0"/>
                <a:ea typeface="Calibri" pitchFamily="34" charset="-122"/>
                <a:cs typeface="Calibri" pitchFamily="34" charset="-120"/>
              </a:rPr>
              <a:t>Units 2, 3, and 4</a:t>
            </a:r>
            <a:endParaRPr lang="en-US" sz="1300" dirty="0"/>
          </a:p>
        </p:txBody>
      </p:sp>
      <p:sp>
        <p:nvSpPr>
          <p:cNvPr id="17" name="Shape 15"/>
          <p:cNvSpPr/>
          <p:nvPr/>
        </p:nvSpPr>
        <p:spPr>
          <a:xfrm>
            <a:off x="6245352" y="2011680"/>
            <a:ext cx="384048" cy="384048"/>
          </a:xfrm>
          <a:prstGeom prst="ellipse">
            <a:avLst/>
          </a:prstGeom>
          <a:solidFill>
            <a:srgbClr val="1E2761"/>
          </a:solidFill>
          <a:ln w="12700">
            <a:solidFill>
              <a:srgbClr val="1E2761"/>
            </a:solidFill>
            <a:prstDash val="solid"/>
          </a:ln>
        </p:spPr>
      </p:sp>
      <p:sp>
        <p:nvSpPr>
          <p:cNvPr id="18" name="Text 16"/>
          <p:cNvSpPr txBox="1"/>
          <p:nvPr/>
        </p:nvSpPr>
        <p:spPr>
          <a:xfrm>
            <a:off x="6245352" y="20116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9" name="Text 17"/>
          <p:cNvSpPr txBox="1"/>
          <p:nvPr/>
        </p:nvSpPr>
        <p:spPr>
          <a:xfrm>
            <a:off x="6793992" y="2011680"/>
            <a:ext cx="4572000" cy="384048"/>
          </a:xfrm>
          <a:prstGeom prst="rect">
            <a:avLst/>
          </a:prstGeom>
          <a:noFill/>
          <a:ln/>
        </p:spPr>
        <p:txBody>
          <a:bodyPr wrap="square" lIns="0" tIns="0" rIns="0" bIns="0" rtlCol="0" anchor="ctr"/>
          <a:lstStyle/>
          <a:p>
            <a:pPr indent="0" marL="0">
              <a:buNone/>
            </a:pPr>
            <a:r>
              <a:rPr lang="en-US" sz="2000" b="1" dirty="0">
                <a:solidFill>
                  <a:srgbClr val="1B1B2A"/>
                </a:solidFill>
                <a:latin typeface="Calibri" pitchFamily="34" charset="0"/>
                <a:ea typeface="Calibri" pitchFamily="34" charset="-122"/>
                <a:cs typeface="Calibri" pitchFamily="34" charset="-120"/>
              </a:rPr>
              <a:t>Verification step</a:t>
            </a:r>
            <a:endParaRPr lang="en-US" sz="2000" dirty="0"/>
          </a:p>
        </p:txBody>
      </p:sp>
      <p:sp>
        <p:nvSpPr>
          <p:cNvPr id="20" name="Shape 18"/>
          <p:cNvSpPr/>
          <p:nvPr/>
        </p:nvSpPr>
        <p:spPr>
          <a:xfrm>
            <a:off x="6245352" y="2606040"/>
            <a:ext cx="5394960" cy="502920"/>
          </a:xfrm>
          <a:prstGeom prst="roundRect">
            <a:avLst>
              <a:gd name="adj" fmla="val 9091"/>
            </a:avLst>
          </a:prstGeom>
          <a:solidFill>
            <a:srgbClr val="1B1B2A"/>
          </a:solidFill>
          <a:ln w="12700">
            <a:solidFill>
              <a:srgbClr val="1B1B2A"/>
            </a:solidFill>
            <a:prstDash val="solid"/>
          </a:ln>
        </p:spPr>
      </p:sp>
      <p:sp>
        <p:nvSpPr>
          <p:cNvPr id="21" name="Text 19"/>
          <p:cNvSpPr txBox="1"/>
          <p:nvPr/>
        </p:nvSpPr>
        <p:spPr>
          <a:xfrm>
            <a:off x="6446520" y="2606040"/>
            <a:ext cx="5029200" cy="502920"/>
          </a:xfrm>
          <a:prstGeom prst="rect">
            <a:avLst/>
          </a:prstGeom>
          <a:noFill/>
          <a:ln/>
        </p:spPr>
        <p:txBody>
          <a:bodyPr wrap="square" lIns="0" tIns="0" rIns="0" bIns="0" rtlCol="0" anchor="ctr"/>
          <a:lstStyle/>
          <a:p>
            <a:pPr indent="0" marL="0">
              <a:buNone/>
            </a:pPr>
            <a:r>
              <a:rPr lang="en-US" sz="1300" dirty="0">
                <a:solidFill>
                  <a:srgbClr val="7CFC9C"/>
                </a:solidFill>
                <a:latin typeface="Consolas" pitchFamily="34" charset="0"/>
                <a:ea typeface="Consolas" pitchFamily="34" charset="-122"/>
                <a:cs typeface="Consolas" pitchFamily="34" charset="-120"/>
              </a:rPr>
              <a:t>python -m unittest discover -s tests -v</a:t>
            </a:r>
            <a:endParaRPr lang="en-US" sz="1300" dirty="0"/>
          </a:p>
        </p:txBody>
      </p:sp>
      <p:sp>
        <p:nvSpPr>
          <p:cNvPr id="22" name="Text 20"/>
          <p:cNvSpPr txBox="1"/>
          <p:nvPr/>
        </p:nvSpPr>
        <p:spPr>
          <a:xfrm>
            <a:off x="6245352" y="3172968"/>
            <a:ext cx="5394960" cy="411480"/>
          </a:xfrm>
          <a:prstGeom prst="rect">
            <a:avLst/>
          </a:prstGeom>
          <a:noFill/>
          <a:ln/>
        </p:spPr>
        <p:txBody>
          <a:bodyPr wrap="square" lIns="0" tIns="0" rIns="0" bIns="0" rtlCol="0" anchor="t"/>
          <a:lstStyle/>
          <a:p>
            <a:pPr indent="0" marL="0">
              <a:buNone/>
            </a:pPr>
            <a:r>
              <a:rPr lang="en-US" sz="1300" b="1" dirty="0">
                <a:solidFill>
                  <a:srgbClr val="1B1B2A"/>
                </a:solidFill>
                <a:latin typeface="Calibri" pitchFamily="34" charset="0"/>
                <a:ea typeface="Calibri" pitchFamily="34" charset="-122"/>
                <a:cs typeface="Calibri" pitchFamily="34" charset="-120"/>
              </a:rPr>
              <a:t>Expect: </a:t>
            </a:r>
            <a:pPr indent="0" marL="0">
              <a:buNone/>
            </a:pPr>
            <a:r>
              <a:rPr lang="en-US" sz="1300" dirty="0">
                <a:solidFill>
                  <a:srgbClr val="5B6472"/>
                </a:solidFill>
                <a:latin typeface="Calibri" pitchFamily="34" charset="0"/>
                <a:ea typeface="Calibri" pitchFamily="34" charset="-122"/>
                <a:cs typeface="Calibri" pitchFamily="34" charset="-120"/>
              </a:rPr>
              <a:t>the 4 original tests plus the new workspace tests, all passing.</a:t>
            </a:r>
            <a:endParaRPr lang="en-US" sz="1300" dirty="0"/>
          </a:p>
        </p:txBody>
      </p:sp>
      <p:sp>
        <p:nvSpPr>
          <p:cNvPr id="23" name="Shape 21"/>
          <p:cNvSpPr/>
          <p:nvPr/>
        </p:nvSpPr>
        <p:spPr>
          <a:xfrm>
            <a:off x="6245352" y="3630168"/>
            <a:ext cx="5394960" cy="502920"/>
          </a:xfrm>
          <a:prstGeom prst="roundRect">
            <a:avLst>
              <a:gd name="adj" fmla="val 9091"/>
            </a:avLst>
          </a:prstGeom>
          <a:solidFill>
            <a:srgbClr val="1B1B2A"/>
          </a:solidFill>
          <a:ln w="12700">
            <a:solidFill>
              <a:srgbClr val="1B1B2A"/>
            </a:solidFill>
            <a:prstDash val="solid"/>
          </a:ln>
        </p:spPr>
      </p:sp>
      <p:sp>
        <p:nvSpPr>
          <p:cNvPr id="24" name="Text 22"/>
          <p:cNvSpPr txBox="1"/>
          <p:nvPr/>
        </p:nvSpPr>
        <p:spPr>
          <a:xfrm>
            <a:off x="6446520" y="3630168"/>
            <a:ext cx="5029200" cy="502920"/>
          </a:xfrm>
          <a:prstGeom prst="rect">
            <a:avLst/>
          </a:prstGeom>
          <a:noFill/>
          <a:ln/>
        </p:spPr>
        <p:txBody>
          <a:bodyPr wrap="square" lIns="0" tIns="0" rIns="0" bIns="0" rtlCol="0" anchor="ctr"/>
          <a:lstStyle/>
          <a:p>
            <a:pPr indent="0" marL="0">
              <a:buNone/>
            </a:pPr>
            <a:r>
              <a:rPr lang="en-US" sz="1300" dirty="0">
                <a:solidFill>
                  <a:srgbClr val="7CFC9C"/>
                </a:solidFill>
                <a:latin typeface="Consolas" pitchFamily="34" charset="0"/>
                <a:ea typeface="Consolas" pitchFamily="34" charset="-122"/>
                <a:cs typeface="Consolas" pitchFamily="34" charset="-120"/>
              </a:rPr>
              <a:t>python seed_demo.py</a:t>
            </a:r>
            <a:endParaRPr lang="en-US" sz="1300" dirty="0"/>
          </a:p>
        </p:txBody>
      </p:sp>
      <p:sp>
        <p:nvSpPr>
          <p:cNvPr id="25" name="Text 23"/>
          <p:cNvSpPr txBox="1"/>
          <p:nvPr/>
        </p:nvSpPr>
        <p:spPr>
          <a:xfrm>
            <a:off x="6245352" y="4197096"/>
            <a:ext cx="5394960" cy="411480"/>
          </a:xfrm>
          <a:prstGeom prst="rect">
            <a:avLst/>
          </a:prstGeom>
          <a:noFill/>
          <a:ln/>
        </p:spPr>
        <p:txBody>
          <a:bodyPr wrap="square" lIns="0" tIns="0" rIns="0" bIns="0" rtlCol="0" anchor="t"/>
          <a:lstStyle/>
          <a:p>
            <a:pPr indent="0" marL="0">
              <a:buNone/>
            </a:pPr>
            <a:r>
              <a:rPr lang="en-US" sz="1300" b="1" dirty="0">
                <a:solidFill>
                  <a:srgbClr val="1B1B2A"/>
                </a:solidFill>
                <a:latin typeface="Calibri" pitchFamily="34" charset="0"/>
                <a:ea typeface="Calibri" pitchFamily="34" charset="-122"/>
                <a:cs typeface="Calibri" pitchFamily="34" charset="-120"/>
              </a:rPr>
              <a:t>Expect: </a:t>
            </a:r>
            <a:pPr indent="0" marL="0">
              <a:buNone/>
            </a:pPr>
            <a:r>
              <a:rPr lang="en-US" sz="1300" dirty="0">
                <a:solidFill>
                  <a:srgbClr val="5B6472"/>
                </a:solidFill>
                <a:latin typeface="Calibri" pitchFamily="34" charset="0"/>
                <a:ea typeface="Calibri" pitchFamily="34" charset="-122"/>
                <a:cs typeface="Calibri" pitchFamily="34" charset="-120"/>
              </a:rPr>
              <a:t>reports both workspaces, using the existing database.</a:t>
            </a:r>
            <a:endParaRPr lang="en-US" sz="1300" dirty="0"/>
          </a:p>
        </p:txBody>
      </p:sp>
      <p:sp>
        <p:nvSpPr>
          <p:cNvPr id="26" name="Shape 24"/>
          <p:cNvSpPr/>
          <p:nvPr/>
        </p:nvSpPr>
        <p:spPr>
          <a:xfrm>
            <a:off x="6245352" y="4654296"/>
            <a:ext cx="5394960" cy="749808"/>
          </a:xfrm>
          <a:prstGeom prst="roundRect">
            <a:avLst>
              <a:gd name="adj" fmla="val 6098"/>
            </a:avLst>
          </a:prstGeom>
          <a:solidFill>
            <a:srgbClr val="1B1B2A"/>
          </a:solidFill>
          <a:ln w="12700">
            <a:solidFill>
              <a:srgbClr val="1B1B2A"/>
            </a:solidFill>
            <a:prstDash val="solid"/>
          </a:ln>
        </p:spPr>
      </p:sp>
      <p:sp>
        <p:nvSpPr>
          <p:cNvPr id="27" name="Text 25"/>
          <p:cNvSpPr txBox="1"/>
          <p:nvPr/>
        </p:nvSpPr>
        <p:spPr>
          <a:xfrm>
            <a:off x="6446520" y="4654296"/>
            <a:ext cx="5029200" cy="749808"/>
          </a:xfrm>
          <a:prstGeom prst="rect">
            <a:avLst/>
          </a:prstGeom>
          <a:noFill/>
          <a:ln/>
        </p:spPr>
        <p:txBody>
          <a:bodyPr wrap="square" lIns="0" tIns="0" rIns="0" bIns="0" rtlCol="0" anchor="ctr"/>
          <a:lstStyle/>
          <a:p>
            <a:pPr indent="0" marL="0">
              <a:buNone/>
            </a:pPr>
            <a:r>
              <a:rPr lang="en-US" sz="1050" dirty="0">
                <a:solidFill>
                  <a:srgbClr val="7CFC9C"/>
                </a:solidFill>
                <a:latin typeface="Consolas" pitchFamily="34" charset="0"/>
                <a:ea typeface="Consolas" pitchFamily="34" charset="-122"/>
                <a:cs typeface="Consolas" pitchFamily="34" charset="-120"/>
              </a:rPr>
              <a:t>python -c "import sqlite3; print([r[1] for r in sqlite3.connect('taskboard.db').execute('PRAGMA table_info(task)')])"</a:t>
            </a:r>
            <a:endParaRPr lang="en-US" sz="1050" dirty="0"/>
          </a:p>
        </p:txBody>
      </p:sp>
      <p:sp>
        <p:nvSpPr>
          <p:cNvPr id="28" name="Text 26"/>
          <p:cNvSpPr txBox="1"/>
          <p:nvPr/>
        </p:nvSpPr>
        <p:spPr>
          <a:xfrm>
            <a:off x="6245352" y="5468112"/>
            <a:ext cx="5394960" cy="411480"/>
          </a:xfrm>
          <a:prstGeom prst="rect">
            <a:avLst/>
          </a:prstGeom>
          <a:noFill/>
          <a:ln/>
        </p:spPr>
        <p:txBody>
          <a:bodyPr wrap="square" lIns="0" tIns="0" rIns="0" bIns="0" rtlCol="0" anchor="t"/>
          <a:lstStyle/>
          <a:p>
            <a:pPr indent="0" marL="0">
              <a:buNone/>
            </a:pPr>
            <a:r>
              <a:rPr lang="en-US" sz="1300" b="1" dirty="0">
                <a:solidFill>
                  <a:srgbClr val="1B1B2A"/>
                </a:solidFill>
                <a:latin typeface="Calibri" pitchFamily="34" charset="0"/>
                <a:ea typeface="Calibri" pitchFamily="34" charset="-122"/>
                <a:cs typeface="Calibri" pitchFamily="34" charset="-120"/>
              </a:rPr>
              <a:t>Expect: </a:t>
            </a:r>
            <a:pPr indent="0" marL="0">
              <a:buNone/>
            </a:pPr>
            <a:r>
              <a:rPr lang="en-US" sz="1300" dirty="0">
                <a:solidFill>
                  <a:srgbClr val="5B6472"/>
                </a:solidFill>
                <a:latin typeface="Calibri" pitchFamily="34" charset="0"/>
                <a:ea typeface="Calibri" pitchFamily="34" charset="-122"/>
                <a:cs typeface="Calibri" pitchFamily="34" charset="-120"/>
              </a:rPr>
              <a:t>the column list ends with workspace_id.</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365760"/>
          </a:xfrm>
          <a:prstGeom prst="rect">
            <a:avLst/>
          </a:prstGeom>
          <a:noFill/>
          <a:ln/>
        </p:spPr>
        <p:txBody>
          <a:bodyPr wrap="square" lIns="0" tIns="0" rIns="0" bIns="0" rtlCol="0" anchor="ctr"/>
          <a:lstStyle/>
          <a:p>
            <a:pPr indent="0" marL="0">
              <a:buNone/>
            </a:pPr>
            <a:r>
              <a:rPr lang="en-US" sz="1200" b="1" spc="200" kern="0" dirty="0">
                <a:solidFill>
                  <a:srgbClr val="1E2761"/>
                </a:solidFill>
                <a:latin typeface="Calibri" pitchFamily="34" charset="0"/>
                <a:ea typeface="Calibri" pitchFamily="34" charset="-122"/>
                <a:cs typeface="Calibri" pitchFamily="34" charset="-120"/>
              </a:rPr>
              <a:t>MODULE 1 — WORKED EXAMPLE</a:t>
            </a:r>
            <a:endParaRPr lang="en-US" sz="1200" dirty="0"/>
          </a:p>
        </p:txBody>
      </p:sp>
      <p:sp>
        <p:nvSpPr>
          <p:cNvPr id="3" name="Text 1"/>
          <p:cNvSpPr txBox="1"/>
          <p:nvPr/>
        </p:nvSpPr>
        <p:spPr>
          <a:xfrm>
            <a:off x="548640" y="685800"/>
            <a:ext cx="10972800" cy="640080"/>
          </a:xfrm>
          <a:prstGeom prst="rect">
            <a:avLst/>
          </a:prstGeom>
          <a:noFill/>
          <a:ln/>
        </p:spPr>
        <p:txBody>
          <a:bodyPr wrap="square" lIns="0" tIns="0" rIns="0" bIns="0" rtlCol="0" anchor="ctr"/>
          <a:lstStyle/>
          <a:p>
            <a:pPr indent="0" marL="0">
              <a:buNone/>
            </a:pPr>
            <a:r>
              <a:rPr lang="en-US" sz="3000" b="1" dirty="0">
                <a:solidFill>
                  <a:srgbClr val="1B1B2A"/>
                </a:solidFill>
                <a:latin typeface="Cambria" pitchFamily="34" charset="0"/>
                <a:ea typeface="Cambria" pitchFamily="34" charset="-122"/>
                <a:cs typeface="Cambria" pitchFamily="34" charset="-120"/>
              </a:rPr>
              <a:t>Unit 1: From Feature Request to Description</a:t>
            </a:r>
            <a:endParaRPr lang="en-US" sz="3000" dirty="0"/>
          </a:p>
        </p:txBody>
      </p:sp>
      <p:sp>
        <p:nvSpPr>
          <p:cNvPr id="4" name="Text 2"/>
          <p:cNvSpPr txBox="1"/>
          <p:nvPr/>
        </p:nvSpPr>
        <p:spPr>
          <a:xfrm>
            <a:off x="548640" y="1325880"/>
            <a:ext cx="10972800" cy="457200"/>
          </a:xfrm>
          <a:prstGeom prst="rect">
            <a:avLst/>
          </a:prstGeom>
          <a:noFill/>
          <a:ln/>
        </p:spPr>
        <p:txBody>
          <a:bodyPr wrap="square" lIns="0" tIns="0" rIns="0" bIns="0" rtlCol="0" anchor="ctr"/>
          <a:lstStyle/>
          <a:p>
            <a:pPr indent="0" marL="0">
              <a:buNone/>
            </a:pPr>
            <a:r>
              <a:rPr lang="en-US" sz="1600" i="1" dirty="0">
                <a:solidFill>
                  <a:srgbClr val="5B6472"/>
                </a:solidFill>
                <a:latin typeface="Calibri" pitchFamily="34" charset="0"/>
                <a:ea typeface="Calibri" pitchFamily="34" charset="-122"/>
                <a:cs typeface="Calibri" pitchFamily="34" charset="-120"/>
              </a:rPr>
              <a:t>Matching highlights show where each part of the description comes from.</a:t>
            </a:r>
            <a:endParaRPr lang="en-US" sz="1600" dirty="0"/>
          </a:p>
        </p:txBody>
      </p:sp>
      <p:sp>
        <p:nvSpPr>
          <p:cNvPr id="5" name="Text 3"/>
          <p:cNvSpPr txBox="1"/>
          <p:nvPr/>
        </p:nvSpPr>
        <p:spPr>
          <a:xfrm>
            <a:off x="548640" y="1965960"/>
            <a:ext cx="5486400" cy="274320"/>
          </a:xfrm>
          <a:prstGeom prst="rect">
            <a:avLst/>
          </a:prstGeom>
          <a:noFill/>
          <a:ln/>
        </p:spPr>
        <p:txBody>
          <a:bodyPr wrap="square" lIns="0" tIns="0" rIns="0" bIns="0" rtlCol="0" anchor="ctr"/>
          <a:lstStyle/>
          <a:p>
            <a:pPr indent="0" marL="0">
              <a:buNone/>
            </a:pPr>
            <a:r>
              <a:rPr lang="en-US" sz="1100" b="1" spc="200" kern="0" dirty="0">
                <a:solidFill>
                  <a:srgbClr val="1E2761"/>
                </a:solidFill>
                <a:latin typeface="Calibri" pitchFamily="34" charset="0"/>
                <a:ea typeface="Calibri" pitchFamily="34" charset="-122"/>
                <a:cs typeface="Calibri" pitchFamily="34" charset="-120"/>
              </a:rPr>
              <a:t>THE FEATURE REQUEST (UNIT 1 PARTS)</a:t>
            </a:r>
            <a:endParaRPr lang="en-US" sz="1100" dirty="0"/>
          </a:p>
        </p:txBody>
      </p:sp>
      <p:sp>
        <p:nvSpPr>
          <p:cNvPr id="6" name="Shape 4"/>
          <p:cNvSpPr/>
          <p:nvPr/>
        </p:nvSpPr>
        <p:spPr>
          <a:xfrm>
            <a:off x="548640" y="2331720"/>
            <a:ext cx="5486400" cy="3703320"/>
          </a:xfrm>
          <a:prstGeom prst="roundRect">
            <a:avLst>
              <a:gd name="adj" fmla="val 1481"/>
            </a:avLst>
          </a:prstGeom>
          <a:solidFill>
            <a:srgbClr val="F4F6FB"/>
          </a:solidFill>
          <a:ln w="12700">
            <a:solidFill>
              <a:srgbClr val="F4F6FB"/>
            </a:solidFill>
            <a:prstDash val="solid"/>
          </a:ln>
        </p:spPr>
      </p:sp>
      <p:sp>
        <p:nvSpPr>
          <p:cNvPr id="7" name="Text 5"/>
          <p:cNvSpPr txBox="1"/>
          <p:nvPr/>
        </p:nvSpPr>
        <p:spPr>
          <a:xfrm>
            <a:off x="777240" y="2487168"/>
            <a:ext cx="5029200" cy="3200400"/>
          </a:xfrm>
          <a:prstGeom prst="rect">
            <a:avLst/>
          </a:prstGeom>
          <a:noFill/>
          <a:ln/>
        </p:spPr>
        <p:txBody>
          <a:bodyPr wrap="square" lIns="0" tIns="0" rIns="0" bIns="0" rtlCol="0" anchor="t"/>
          <a:lstStyle/>
          <a:p>
            <a:pPr indent="0" marL="0">
              <a:lnSpc>
                <a:spcPct val="110000"/>
              </a:lnSpc>
              <a:spcAft>
                <a:spcPts val="1000"/>
              </a:spcAft>
              <a:buNone/>
            </a:pPr>
            <a:r>
              <a:rPr lang="en-US" sz="1400" dirty="0">
                <a:solidFill>
                  <a:srgbClr val="1B1B2A"/>
                </a:solidFill>
                <a:latin typeface="Calibri" pitchFamily="34" charset="0"/>
                <a:ea typeface="Calibri" pitchFamily="34" charset="-122"/>
                <a:cs typeface="Calibri" pitchFamily="34" charset="-120"/>
              </a:rPr>
              <a:t>1. </a:t>
            </a:r>
            <a:pPr indent="0" marL="0">
              <a:lnSpc>
                <a:spcPct val="110000"/>
              </a:lnSpc>
              <a:buNone/>
            </a:pPr>
            <a:r>
              <a:rPr lang="en-US" sz="1400" b="1" dirty="0">
                <a:solidFill>
                  <a:srgbClr val="1B1B2A"/>
                </a:solidFill>
                <a:latin typeface="Calibri" pitchFamily="34" charset="0"/>
                <a:ea typeface="Calibri" pitchFamily="34" charset="-122"/>
                <a:cs typeface="Calibri" pitchFamily="34" charset="-120"/>
              </a:rPr>
              <a:t>Workspaces.</a:t>
            </a:r>
            <a:pPr indent="0" marL="0">
              <a:lnSpc>
                <a:spcPct val="110000"/>
              </a:lnSpc>
              <a:buNone/>
            </a:pPr>
            <a:r>
              <a:rPr lang="en-US" sz="1400" dirty="0">
                <a:solidFill>
                  <a:srgbClr val="1B1B2A"/>
                </a:solidFill>
                <a:latin typeface="Calibri" pitchFamily="34" charset="0"/>
                <a:ea typeface="Calibri" pitchFamily="34" charset="-122"/>
                <a:cs typeface="Calibri" pitchFamily="34" charset="-120"/>
              </a:rPr>
              <a:t> </a:t>
            </a:r>
            <a:pPr indent="0" marL="0">
              <a:lnSpc>
                <a:spcPct val="110000"/>
              </a:lnSpc>
              <a:buNone/>
            </a:pPr>
            <a:r>
              <a:rPr lang="en-US" sz="1400" dirty="0">
                <a:solidFill>
                  <a:srgbClr val="1B1B2A"/>
                </a:solidFill>
                <a:highlight>
                  <a:srgbClr val="C7DBFF"/>
                </a:highlight>
                <a:latin typeface="Calibri" pitchFamily="34" charset="0"/>
                <a:ea typeface="Calibri" pitchFamily="34" charset="-122"/>
                <a:cs typeface="Calibri" pitchFamily="34" charset="-120"/>
              </a:rPr>
              <a:t>A workspace is a named container for tasks (e.g. "Engineering," "Marketing").</a:t>
            </a:r>
            <a:pPr indent="0" marL="0">
              <a:lnSpc>
                <a:spcPct val="110000"/>
              </a:lnSpc>
              <a:buNone/>
            </a:pPr>
            <a:r>
              <a:rPr lang="en-US" sz="1400" dirty="0">
                <a:solidFill>
                  <a:srgbClr val="1B1B2A"/>
                </a:solidFill>
                <a:latin typeface="Calibri" pitchFamily="34" charset="0"/>
                <a:ea typeface="Calibri" pitchFamily="34" charset="-122"/>
                <a:cs typeface="Calibri" pitchFamily="34" charset="-120"/>
              </a:rPr>
              <a:t> </a:t>
            </a:r>
            <a:pPr indent="0" marL="0">
              <a:lnSpc>
                <a:spcPct val="110000"/>
              </a:lnSpc>
              <a:buNone/>
            </a:pPr>
            <a:r>
              <a:rPr lang="en-US" sz="1400" dirty="0">
                <a:solidFill>
                  <a:srgbClr val="1B1B2A"/>
                </a:solidFill>
                <a:highlight>
                  <a:srgbClr val="C7DBFF"/>
                </a:highlight>
                <a:latin typeface="Calibri" pitchFamily="34" charset="0"/>
                <a:ea typeface="Calibri" pitchFamily="34" charset="-122"/>
                <a:cs typeface="Calibri" pitchFamily="34" charset="-120"/>
              </a:rPr>
              <a:t>Every task belongs to exactly one workspace.</a:t>
            </a:r>
            <a:pPr indent="0" marL="0">
              <a:lnSpc>
                <a:spcPct val="110000"/>
              </a:lnSpc>
              <a:buNone/>
            </a:pPr>
            <a:r>
              <a:rPr lang="en-US" sz="1400" dirty="0">
                <a:solidFill>
                  <a:srgbClr val="1B1B2A"/>
                </a:solidFill>
                <a:latin typeface="Calibri" pitchFamily="34" charset="0"/>
                <a:ea typeface="Calibri" pitchFamily="34" charset="-122"/>
                <a:cs typeface="Calibri" pitchFamily="34" charset="-120"/>
              </a:rPr>
              <a:t> </a:t>
            </a:r>
            <a:pPr indent="0" marL="0">
              <a:lnSpc>
                <a:spcPct val="110000"/>
              </a:lnSpc>
              <a:buNone/>
            </a:pPr>
            <a:r>
              <a:rPr lang="en-US" sz="1400" dirty="0">
                <a:solidFill>
                  <a:srgbClr val="1B1B2A"/>
                </a:solidFill>
                <a:highlight>
                  <a:srgbClr val="BFEFE6"/>
                </a:highlight>
                <a:latin typeface="Calibri" pitchFamily="34" charset="0"/>
                <a:ea typeface="Calibri" pitchFamily="34" charset="-122"/>
                <a:cs typeface="Calibri" pitchFamily="34" charset="-120"/>
              </a:rPr>
              <a:t>Every user can belong to multiple workspaces.</a:t>
            </a:r>
            <a:endParaRPr lang="en-US" sz="1400" dirty="0"/>
          </a:p>
          <a:p>
            <a:pPr indent="0" marL="0">
              <a:lnSpc>
                <a:spcPct val="110000"/>
              </a:lnSpc>
              <a:spcAft>
                <a:spcPts val="1000"/>
              </a:spcAft>
              <a:buNone/>
            </a:pPr>
            <a:r>
              <a:rPr lang="en-US" sz="1400" dirty="0">
                <a:solidFill>
                  <a:srgbClr val="1B1B2A"/>
                </a:solidFill>
                <a:latin typeface="Calibri" pitchFamily="34" charset="0"/>
                <a:ea typeface="Calibri" pitchFamily="34" charset="-122"/>
                <a:cs typeface="Calibri" pitchFamily="34" charset="-120"/>
              </a:rPr>
              <a:t>2. </a:t>
            </a:r>
            <a:pPr indent="0" marL="0">
              <a:lnSpc>
                <a:spcPct val="110000"/>
              </a:lnSpc>
              <a:buNone/>
            </a:pPr>
            <a:r>
              <a:rPr lang="en-US" sz="1400" b="1" dirty="0">
                <a:solidFill>
                  <a:srgbClr val="1B1B2A"/>
                </a:solidFill>
                <a:latin typeface="Calibri" pitchFamily="34" charset="0"/>
                <a:ea typeface="Calibri" pitchFamily="34" charset="-122"/>
                <a:cs typeface="Calibri" pitchFamily="34" charset="-120"/>
              </a:rPr>
              <a:t>Roles.</a:t>
            </a:r>
            <a:pPr indent="0" marL="0">
              <a:lnSpc>
                <a:spcPct val="110000"/>
              </a:lnSpc>
              <a:buNone/>
            </a:pPr>
            <a:r>
              <a:rPr lang="en-US" sz="1400" dirty="0">
                <a:solidFill>
                  <a:srgbClr val="1B1B2A"/>
                </a:solidFill>
                <a:latin typeface="Calibri" pitchFamily="34" charset="0"/>
                <a:ea typeface="Calibri" pitchFamily="34" charset="-122"/>
                <a:cs typeface="Calibri" pitchFamily="34" charset="-120"/>
              </a:rPr>
              <a:t> </a:t>
            </a:r>
            <a:pPr indent="0" marL="0">
              <a:lnSpc>
                <a:spcPct val="110000"/>
              </a:lnSpc>
              <a:buNone/>
            </a:pPr>
            <a:r>
              <a:rPr lang="en-US" sz="1400" dirty="0">
                <a:solidFill>
                  <a:srgbClr val="1B1B2A"/>
                </a:solidFill>
                <a:highlight>
                  <a:srgbClr val="E6D3FF"/>
                </a:highlight>
                <a:latin typeface="Calibri" pitchFamily="34" charset="0"/>
                <a:ea typeface="Calibri" pitchFamily="34" charset="-122"/>
                <a:cs typeface="Calibri" pitchFamily="34" charset="-120"/>
              </a:rPr>
              <a:t>Within a workspace, a user is either an </a:t>
            </a:r>
            <a:pPr indent="0" marL="0">
              <a:lnSpc>
                <a:spcPct val="110000"/>
              </a:lnSpc>
              <a:buNone/>
            </a:pPr>
            <a:r>
              <a:rPr lang="en-US" sz="1400" b="1" dirty="0">
                <a:solidFill>
                  <a:srgbClr val="1B1B2A"/>
                </a:solidFill>
                <a:highlight>
                  <a:srgbClr val="E6D3FF"/>
                </a:highlight>
                <a:latin typeface="Calibri" pitchFamily="34" charset="0"/>
                <a:ea typeface="Calibri" pitchFamily="34" charset="-122"/>
                <a:cs typeface="Calibri" pitchFamily="34" charset="-120"/>
              </a:rPr>
              <a:t>admin</a:t>
            </a:r>
            <a:pPr indent="0" marL="0">
              <a:lnSpc>
                <a:spcPct val="110000"/>
              </a:lnSpc>
              <a:buNone/>
            </a:pPr>
            <a:r>
              <a:rPr lang="en-US" sz="1400" dirty="0">
                <a:solidFill>
                  <a:srgbClr val="1B1B2A"/>
                </a:solidFill>
                <a:latin typeface="Calibri" pitchFamily="34" charset="0"/>
                <a:ea typeface="Calibri" pitchFamily="34" charset="-122"/>
                <a:cs typeface="Calibri" pitchFamily="34" charset="-120"/>
              </a:rPr>
              <a:t> (can create and delete tasks, invite/remove members, change any task) </a:t>
            </a:r>
            <a:pPr indent="0" marL="0">
              <a:lnSpc>
                <a:spcPct val="110000"/>
              </a:lnSpc>
              <a:buNone/>
            </a:pPr>
            <a:r>
              <a:rPr lang="en-US" sz="1400" dirty="0">
                <a:solidFill>
                  <a:srgbClr val="1B1B2A"/>
                </a:solidFill>
                <a:highlight>
                  <a:srgbClr val="E6D3FF"/>
                </a:highlight>
                <a:latin typeface="Calibri" pitchFamily="34" charset="0"/>
                <a:ea typeface="Calibri" pitchFamily="34" charset="-122"/>
                <a:cs typeface="Calibri" pitchFamily="34" charset="-120"/>
              </a:rPr>
              <a:t>or a </a:t>
            </a:r>
            <a:pPr indent="0" marL="0">
              <a:lnSpc>
                <a:spcPct val="110000"/>
              </a:lnSpc>
              <a:buNone/>
            </a:pPr>
            <a:r>
              <a:rPr lang="en-US" sz="1400" b="1" dirty="0">
                <a:solidFill>
                  <a:srgbClr val="1B1B2A"/>
                </a:solidFill>
                <a:highlight>
                  <a:srgbClr val="E6D3FF"/>
                </a:highlight>
                <a:latin typeface="Calibri" pitchFamily="34" charset="0"/>
                <a:ea typeface="Calibri" pitchFamily="34" charset="-122"/>
                <a:cs typeface="Calibri" pitchFamily="34" charset="-120"/>
              </a:rPr>
              <a:t>member</a:t>
            </a:r>
            <a:pPr indent="0" marL="0">
              <a:lnSpc>
                <a:spcPct val="110000"/>
              </a:lnSpc>
              <a:buNone/>
            </a:pPr>
            <a:r>
              <a:rPr lang="en-US" sz="1400" dirty="0">
                <a:solidFill>
                  <a:srgbClr val="1B1B2A"/>
                </a:solidFill>
                <a:latin typeface="Calibri" pitchFamily="34" charset="0"/>
                <a:ea typeface="Calibri" pitchFamily="34" charset="-122"/>
                <a:cs typeface="Calibri" pitchFamily="34" charset="-120"/>
              </a:rPr>
              <a:t> (can create tasks and edit tasks assigned to them, but cannot delete tasks or manage membership).</a:t>
            </a:r>
            <a:endParaRPr lang="en-US" sz="1400" dirty="0"/>
          </a:p>
          <a:p>
            <a:pPr indent="0" marL="0">
              <a:lnSpc>
                <a:spcPct val="110000"/>
              </a:lnSpc>
              <a:spcAft>
                <a:spcPts val="1000"/>
              </a:spcAft>
              <a:buNone/>
            </a:pPr>
            <a:r>
              <a:rPr lang="en-US" sz="1400" dirty="0">
                <a:solidFill>
                  <a:srgbClr val="1B1B2A"/>
                </a:solidFill>
                <a:latin typeface="Calibri" pitchFamily="34" charset="0"/>
                <a:ea typeface="Calibri" pitchFamily="34" charset="-122"/>
                <a:cs typeface="Calibri" pitchFamily="34" charset="-120"/>
              </a:rPr>
              <a:t>The data model has a real dependency chain: </a:t>
            </a:r>
            <a:pPr indent="0" marL="0">
              <a:lnSpc>
                <a:spcPct val="110000"/>
              </a:lnSpc>
              <a:buNone/>
            </a:pPr>
            <a:r>
              <a:rPr lang="en-US" sz="1400" dirty="0">
                <a:solidFill>
                  <a:srgbClr val="1B1B2A"/>
                </a:solidFill>
                <a:highlight>
                  <a:srgbClr val="FFDCC2"/>
                </a:highlight>
                <a:latin typeface="Calibri" pitchFamily="34" charset="0"/>
                <a:ea typeface="Calibri" pitchFamily="34" charset="-122"/>
                <a:cs typeface="Calibri" pitchFamily="34" charset="-120"/>
              </a:rPr>
              <a:t>nothing else can be built until workspaces and workspace membership exist in the schema.</a:t>
            </a:r>
            <a:pPr indent="0" marL="0">
              <a:lnSpc>
                <a:spcPct val="110000"/>
              </a:lnSpc>
              <a:buNone/>
            </a:pPr>
            <a:r>
              <a:rPr lang="en-US" sz="1400" dirty="0">
                <a:solidFill>
                  <a:srgbClr val="1B1B2A"/>
                </a:solidFill>
                <a:latin typeface="Calibri" pitchFamily="34" charset="0"/>
                <a:ea typeface="Calibri" pitchFamily="34" charset="-122"/>
                <a:cs typeface="Calibri" pitchFamily="34" charset="-120"/>
              </a:rPr>
              <a:t> That's deliberate — it's the sequencing example for Module 1.</a:t>
            </a:r>
            <a:endParaRPr lang="en-US" sz="1400" dirty="0"/>
          </a:p>
        </p:txBody>
      </p:sp>
      <p:sp>
        <p:nvSpPr>
          <p:cNvPr id="8" name="Shape 6"/>
          <p:cNvSpPr/>
          <p:nvPr/>
        </p:nvSpPr>
        <p:spPr>
          <a:xfrm>
            <a:off x="6108192" y="4178808"/>
            <a:ext cx="292608" cy="0"/>
          </a:xfrm>
          <a:prstGeom prst="line">
            <a:avLst/>
          </a:prstGeom>
          <a:noFill/>
          <a:ln w="19050">
            <a:solidFill>
              <a:srgbClr val="5B6472"/>
            </a:solidFill>
            <a:prstDash val="solid"/>
            <a:tailEnd type="triangle"/>
          </a:ln>
        </p:spPr>
      </p:sp>
      <p:sp>
        <p:nvSpPr>
          <p:cNvPr id="9" name="Text 7"/>
          <p:cNvSpPr txBox="1"/>
          <p:nvPr/>
        </p:nvSpPr>
        <p:spPr>
          <a:xfrm>
            <a:off x="6473952" y="1965960"/>
            <a:ext cx="4572000" cy="274320"/>
          </a:xfrm>
          <a:prstGeom prst="rect">
            <a:avLst/>
          </a:prstGeom>
          <a:noFill/>
          <a:ln/>
        </p:spPr>
        <p:txBody>
          <a:bodyPr wrap="square" lIns="0" tIns="0" rIns="0" bIns="0" rtlCol="0" anchor="ctr"/>
          <a:lstStyle/>
          <a:p>
            <a:pPr indent="0" marL="0">
              <a:buNone/>
            </a:pPr>
            <a:r>
              <a:rPr lang="en-US" sz="1100" b="1" spc="200" kern="0" dirty="0">
                <a:solidFill>
                  <a:srgbClr val="1E2761"/>
                </a:solidFill>
                <a:latin typeface="Calibri" pitchFamily="34" charset="0"/>
                <a:ea typeface="Calibri" pitchFamily="34" charset="-122"/>
                <a:cs typeface="Calibri" pitchFamily="34" charset="-120"/>
              </a:rPr>
              <a:t>UNIT 1 DESCRIPTION</a:t>
            </a:r>
            <a:endParaRPr lang="en-US" sz="1100" dirty="0"/>
          </a:p>
        </p:txBody>
      </p:sp>
      <p:sp>
        <p:nvSpPr>
          <p:cNvPr id="10" name="Shape 8"/>
          <p:cNvSpPr/>
          <p:nvPr/>
        </p:nvSpPr>
        <p:spPr>
          <a:xfrm>
            <a:off x="6473952" y="2331720"/>
            <a:ext cx="5166360" cy="3703320"/>
          </a:xfrm>
          <a:prstGeom prst="roundRect">
            <a:avLst>
              <a:gd name="adj" fmla="val 1481"/>
            </a:avLst>
          </a:prstGeom>
          <a:solidFill>
            <a:srgbClr val="FFFFFF"/>
          </a:solidFill>
          <a:ln w="12700">
            <a:solidFill>
              <a:srgbClr val="D5DAE6"/>
            </a:solidFill>
            <a:prstDash val="solid"/>
          </a:ln>
        </p:spPr>
      </p:sp>
      <p:sp>
        <p:nvSpPr>
          <p:cNvPr id="11" name="Text 9"/>
          <p:cNvSpPr txBox="1"/>
          <p:nvPr/>
        </p:nvSpPr>
        <p:spPr>
          <a:xfrm>
            <a:off x="6675120" y="2468880"/>
            <a:ext cx="4754880" cy="3474720"/>
          </a:xfrm>
          <a:prstGeom prst="rect">
            <a:avLst/>
          </a:prstGeom>
          <a:noFill/>
          <a:ln/>
        </p:spPr>
        <p:txBody>
          <a:bodyPr wrap="square" lIns="0" tIns="0" rIns="0" bIns="0" rtlCol="0" anchor="t"/>
          <a:lstStyle/>
          <a:p>
            <a:pPr indent="0" marL="0">
              <a:lnSpc>
                <a:spcPct val="105000"/>
              </a:lnSpc>
              <a:buNone/>
            </a:pPr>
            <a:r>
              <a:rPr lang="en-US" sz="1250" dirty="0">
                <a:solidFill>
                  <a:srgbClr val="1B1B2A"/>
                </a:solidFill>
                <a:highlight>
                  <a:srgbClr val="FFDCC2"/>
                </a:highlight>
                <a:latin typeface="Calibri" pitchFamily="34" charset="0"/>
                <a:ea typeface="Calibri" pitchFamily="34" charset="-122"/>
                <a:cs typeface="Calibri" pitchFamily="34" charset="-120"/>
              </a:rPr>
              <a:t>Add the data model that everything else depends on.</a:t>
            </a:r>
            <a:pPr indent="0" marL="0">
              <a:lnSpc>
                <a:spcPct val="105000"/>
              </a:lnSpc>
              <a:buNone/>
            </a:pPr>
            <a:r>
              <a:rPr lang="en-US" sz="1250" dirty="0">
                <a:solidFill>
                  <a:srgbClr val="5B6472"/>
                </a:solidFill>
                <a:latin typeface="Calibri" pitchFamily="34" charset="0"/>
                <a:ea typeface="Calibri" pitchFamily="34" charset="-122"/>
                <a:cs typeface="Calibri" pitchFamily="34" charset="-120"/>
              </a:rPr>
              <a:t> In </a:t>
            </a:r>
            <a:pPr indent="0" marL="0">
              <a:lnSpc>
                <a:spcPct val="105000"/>
              </a:lnSpc>
              <a:buNone/>
            </a:pPr>
            <a:r>
              <a:rPr lang="en-US" sz="1250" dirty="0">
                <a:solidFill>
                  <a:srgbClr val="5B6472"/>
                </a:solidFill>
                <a:latin typeface="Consolas" pitchFamily="34" charset="0"/>
                <a:ea typeface="Consolas" pitchFamily="34" charset="-122"/>
                <a:cs typeface="Consolas" pitchFamily="34" charset="-120"/>
              </a:rPr>
              <a:t>app/db.py</a:t>
            </a:r>
            <a:pPr indent="0" marL="0">
              <a:lnSpc>
                <a:spcPct val="105000"/>
              </a:lnSpc>
              <a:buNone/>
            </a:pPr>
            <a:r>
              <a:rPr lang="en-US" sz="1250" dirty="0">
                <a:solidFill>
                  <a:srgbClr val="5B6472"/>
                </a:solidFill>
                <a:latin typeface="Calibri" pitchFamily="34" charset="0"/>
                <a:ea typeface="Calibri" pitchFamily="34" charset="-122"/>
                <a:cs typeface="Calibri" pitchFamily="34" charset="-120"/>
              </a:rPr>
              <a:t>, add </a:t>
            </a:r>
            <a:pPr indent="0" marL="0">
              <a:lnSpc>
                <a:spcPct val="105000"/>
              </a:lnSpc>
              <a:buNone/>
            </a:pPr>
            <a:r>
              <a:rPr lang="en-US" sz="1250" dirty="0">
                <a:solidFill>
                  <a:srgbClr val="1B1B2A"/>
                </a:solidFill>
                <a:highlight>
                  <a:srgbClr val="C7DBFF"/>
                </a:highlight>
                <a:latin typeface="Calibri" pitchFamily="34" charset="0"/>
                <a:ea typeface="Calibri" pitchFamily="34" charset="-122"/>
                <a:cs typeface="Calibri" pitchFamily="34" charset="-120"/>
              </a:rPr>
              <a:t>a </a:t>
            </a:r>
            <a:pPr indent="0" marL="0">
              <a:lnSpc>
                <a:spcPct val="105000"/>
              </a:lnSpc>
              <a:buNone/>
            </a:pPr>
            <a:r>
              <a:rPr lang="en-US" sz="1250" dirty="0">
                <a:solidFill>
                  <a:srgbClr val="1B1B2A"/>
                </a:solidFill>
                <a:highlight>
                  <a:srgbClr val="C7DBFF"/>
                </a:highlight>
                <a:latin typeface="Consolas" pitchFamily="34" charset="0"/>
                <a:ea typeface="Consolas" pitchFamily="34" charset="-122"/>
                <a:cs typeface="Consolas" pitchFamily="34" charset="-120"/>
              </a:rPr>
              <a:t>workspace</a:t>
            </a:r>
            <a:pPr indent="0" marL="0">
              <a:lnSpc>
                <a:spcPct val="105000"/>
              </a:lnSpc>
              <a:buNone/>
            </a:pPr>
            <a:r>
              <a:rPr lang="en-US" sz="1250" dirty="0">
                <a:solidFill>
                  <a:srgbClr val="1B1B2A"/>
                </a:solidFill>
                <a:highlight>
                  <a:srgbClr val="C7DBFF"/>
                </a:highlight>
                <a:latin typeface="Calibri" pitchFamily="34" charset="0"/>
                <a:ea typeface="Calibri" pitchFamily="34" charset="-122"/>
                <a:cs typeface="Calibri" pitchFamily="34" charset="-120"/>
              </a:rPr>
              <a:t> table (</a:t>
            </a:r>
            <a:pPr indent="0" marL="0">
              <a:lnSpc>
                <a:spcPct val="105000"/>
              </a:lnSpc>
              <a:buNone/>
            </a:pPr>
            <a:r>
              <a:rPr lang="en-US" sz="1250" dirty="0">
                <a:solidFill>
                  <a:srgbClr val="1B1B2A"/>
                </a:solidFill>
                <a:highlight>
                  <a:srgbClr val="C7DBFF"/>
                </a:highlight>
                <a:latin typeface="Consolas" pitchFamily="34" charset="0"/>
                <a:ea typeface="Consolas" pitchFamily="34" charset="-122"/>
                <a:cs typeface="Consolas" pitchFamily="34" charset="-120"/>
              </a:rPr>
              <a:t>id</a:t>
            </a:r>
            <a:pPr indent="0" marL="0">
              <a:lnSpc>
                <a:spcPct val="105000"/>
              </a:lnSpc>
              <a:buNone/>
            </a:pPr>
            <a:r>
              <a:rPr lang="en-US" sz="1250" dirty="0">
                <a:solidFill>
                  <a:srgbClr val="1B1B2A"/>
                </a:solidFill>
                <a:highlight>
                  <a:srgbClr val="C7DBFF"/>
                </a:highlight>
                <a:latin typeface="Calibri" pitchFamily="34" charset="0"/>
                <a:ea typeface="Calibri" pitchFamily="34" charset="-122"/>
                <a:cs typeface="Calibri" pitchFamily="34" charset="-120"/>
              </a:rPr>
              <a:t>, </a:t>
            </a:r>
            <a:pPr indent="0" marL="0">
              <a:lnSpc>
                <a:spcPct val="105000"/>
              </a:lnSpc>
              <a:buNone/>
            </a:pPr>
            <a:r>
              <a:rPr lang="en-US" sz="1250" dirty="0">
                <a:solidFill>
                  <a:srgbClr val="1B1B2A"/>
                </a:solidFill>
                <a:highlight>
                  <a:srgbClr val="C7DBFF"/>
                </a:highlight>
                <a:latin typeface="Consolas" pitchFamily="34" charset="0"/>
                <a:ea typeface="Consolas" pitchFamily="34" charset="-122"/>
                <a:cs typeface="Consolas" pitchFamily="34" charset="-120"/>
              </a:rPr>
              <a:t>name</a:t>
            </a:r>
            <a:pPr indent="0" marL="0">
              <a:lnSpc>
                <a:spcPct val="105000"/>
              </a:lnSpc>
              <a:buNone/>
            </a:pPr>
            <a:r>
              <a:rPr lang="en-US" sz="1250" dirty="0">
                <a:solidFill>
                  <a:srgbClr val="1B1B2A"/>
                </a:solidFill>
                <a:highlight>
                  <a:srgbClr val="C7DBFF"/>
                </a:highlight>
                <a:latin typeface="Calibri" pitchFamily="34" charset="0"/>
                <a:ea typeface="Calibri" pitchFamily="34" charset="-122"/>
                <a:cs typeface="Calibri" pitchFamily="34" charset="-120"/>
              </a:rPr>
              <a:t>)</a:t>
            </a:r>
            <a:pPr indent="0" marL="0">
              <a:lnSpc>
                <a:spcPct val="105000"/>
              </a:lnSpc>
              <a:buNone/>
            </a:pPr>
            <a:r>
              <a:rPr lang="en-US" sz="1250" dirty="0">
                <a:solidFill>
                  <a:srgbClr val="5B6472"/>
                </a:solidFill>
                <a:latin typeface="Calibri" pitchFamily="34" charset="0"/>
                <a:ea typeface="Calibri" pitchFamily="34" charset="-122"/>
                <a:cs typeface="Calibri" pitchFamily="34" charset="-120"/>
              </a:rPr>
              <a:t> and </a:t>
            </a:r>
            <a:pPr indent="0" marL="0">
              <a:lnSpc>
                <a:spcPct val="105000"/>
              </a:lnSpc>
              <a:buNone/>
            </a:pPr>
            <a:r>
              <a:rPr lang="en-US" sz="1250" dirty="0">
                <a:solidFill>
                  <a:srgbClr val="1B1B2A"/>
                </a:solidFill>
                <a:highlight>
                  <a:srgbClr val="BFEFE6"/>
                </a:highlight>
                <a:latin typeface="Calibri" pitchFamily="34" charset="0"/>
                <a:ea typeface="Calibri" pitchFamily="34" charset="-122"/>
                <a:cs typeface="Calibri" pitchFamily="34" charset="-120"/>
              </a:rPr>
              <a:t>a </a:t>
            </a:r>
            <a:pPr indent="0" marL="0">
              <a:lnSpc>
                <a:spcPct val="105000"/>
              </a:lnSpc>
              <a:buNone/>
            </a:pPr>
            <a:r>
              <a:rPr lang="en-US" sz="1250" dirty="0">
                <a:solidFill>
                  <a:srgbClr val="1B1B2A"/>
                </a:solidFill>
                <a:highlight>
                  <a:srgbClr val="BFEFE6"/>
                </a:highlight>
                <a:latin typeface="Consolas" pitchFamily="34" charset="0"/>
                <a:ea typeface="Consolas" pitchFamily="34" charset="-122"/>
                <a:cs typeface="Consolas" pitchFamily="34" charset="-120"/>
              </a:rPr>
              <a:t>workspace_member</a:t>
            </a:r>
            <a:pPr indent="0" marL="0">
              <a:lnSpc>
                <a:spcPct val="105000"/>
              </a:lnSpc>
              <a:buNone/>
            </a:pPr>
            <a:r>
              <a:rPr lang="en-US" sz="1250" dirty="0">
                <a:solidFill>
                  <a:srgbClr val="1B1B2A"/>
                </a:solidFill>
                <a:highlight>
                  <a:srgbClr val="BFEFE6"/>
                </a:highlight>
                <a:latin typeface="Calibri" pitchFamily="34" charset="0"/>
                <a:ea typeface="Calibri" pitchFamily="34" charset="-122"/>
                <a:cs typeface="Calibri" pitchFamily="34" charset="-120"/>
              </a:rPr>
              <a:t> join table (</a:t>
            </a:r>
            <a:pPr indent="0" marL="0">
              <a:lnSpc>
                <a:spcPct val="105000"/>
              </a:lnSpc>
              <a:buNone/>
            </a:pPr>
            <a:r>
              <a:rPr lang="en-US" sz="1250" dirty="0">
                <a:solidFill>
                  <a:srgbClr val="1B1B2A"/>
                </a:solidFill>
                <a:highlight>
                  <a:srgbClr val="BFEFE6"/>
                </a:highlight>
                <a:latin typeface="Consolas" pitchFamily="34" charset="0"/>
                <a:ea typeface="Consolas" pitchFamily="34" charset="-122"/>
                <a:cs typeface="Consolas" pitchFamily="34" charset="-120"/>
              </a:rPr>
              <a:t>workspace_id</a:t>
            </a:r>
            <a:pPr indent="0" marL="0">
              <a:lnSpc>
                <a:spcPct val="105000"/>
              </a:lnSpc>
              <a:buNone/>
            </a:pPr>
            <a:r>
              <a:rPr lang="en-US" sz="1250" dirty="0">
                <a:solidFill>
                  <a:srgbClr val="1B1B2A"/>
                </a:solidFill>
                <a:highlight>
                  <a:srgbClr val="BFEFE6"/>
                </a:highlight>
                <a:latin typeface="Calibri" pitchFamily="34" charset="0"/>
                <a:ea typeface="Calibri" pitchFamily="34" charset="-122"/>
                <a:cs typeface="Calibri" pitchFamily="34" charset="-120"/>
              </a:rPr>
              <a:t>, </a:t>
            </a:r>
            <a:pPr indent="0" marL="0">
              <a:lnSpc>
                <a:spcPct val="105000"/>
              </a:lnSpc>
              <a:buNone/>
            </a:pPr>
            <a:r>
              <a:rPr lang="en-US" sz="1250" dirty="0">
                <a:solidFill>
                  <a:srgbClr val="1B1B2A"/>
                </a:solidFill>
                <a:highlight>
                  <a:srgbClr val="BFEFE6"/>
                </a:highlight>
                <a:latin typeface="Consolas" pitchFamily="34" charset="0"/>
                <a:ea typeface="Consolas" pitchFamily="34" charset="-122"/>
                <a:cs typeface="Consolas" pitchFamily="34" charset="-120"/>
              </a:rPr>
              <a:t>user_id</a:t>
            </a:r>
            <a:pPr indent="0" marL="0">
              <a:lnSpc>
                <a:spcPct val="105000"/>
              </a:lnSpc>
              <a:buNone/>
            </a:pPr>
            <a:r>
              <a:rPr lang="en-US" sz="1250" dirty="0">
                <a:solidFill>
                  <a:srgbClr val="1B1B2A"/>
                </a:solidFill>
                <a:highlight>
                  <a:srgbClr val="BFEFE6"/>
                </a:highlight>
                <a:latin typeface="Calibri" pitchFamily="34" charset="0"/>
                <a:ea typeface="Calibri" pitchFamily="34" charset="-122"/>
                <a:cs typeface="Calibri" pitchFamily="34" charset="-120"/>
              </a:rPr>
              <a:t>,</a:t>
            </a:r>
            <a:pPr indent="0" marL="0">
              <a:lnSpc>
                <a:spcPct val="105000"/>
              </a:lnSpc>
              <a:buNone/>
            </a:pPr>
            <a:r>
              <a:rPr lang="en-US" sz="1250" dirty="0">
                <a:solidFill>
                  <a:srgbClr val="1B1B2A"/>
                </a:solidFill>
                <a:highlight>
                  <a:srgbClr val="E6D3FF"/>
                </a:highlight>
                <a:latin typeface="Calibri" pitchFamily="34" charset="0"/>
                <a:ea typeface="Calibri" pitchFamily="34" charset="-122"/>
                <a:cs typeface="Calibri" pitchFamily="34" charset="-120"/>
              </a:rPr>
              <a:t> </a:t>
            </a:r>
            <a:pPr indent="0" marL="0">
              <a:lnSpc>
                <a:spcPct val="105000"/>
              </a:lnSpc>
              <a:buNone/>
            </a:pPr>
            <a:r>
              <a:rPr lang="en-US" sz="1250" dirty="0">
                <a:solidFill>
                  <a:srgbClr val="1B1B2A"/>
                </a:solidFill>
                <a:highlight>
                  <a:srgbClr val="E6D3FF"/>
                </a:highlight>
                <a:latin typeface="Consolas" pitchFamily="34" charset="0"/>
                <a:ea typeface="Consolas" pitchFamily="34" charset="-122"/>
                <a:cs typeface="Consolas" pitchFamily="34" charset="-120"/>
              </a:rPr>
              <a:t>role</a:t>
            </a:r>
            <a:pPr indent="0" marL="0">
              <a:lnSpc>
                <a:spcPct val="105000"/>
              </a:lnSpc>
              <a:buNone/>
            </a:pPr>
            <a:r>
              <a:rPr lang="en-US" sz="1250" dirty="0">
                <a:solidFill>
                  <a:srgbClr val="1B1B2A"/>
                </a:solidFill>
                <a:highlight>
                  <a:srgbClr val="E6D3FF"/>
                </a:highlight>
                <a:latin typeface="Calibri" pitchFamily="34" charset="0"/>
                <a:ea typeface="Calibri" pitchFamily="34" charset="-122"/>
                <a:cs typeface="Calibri" pitchFamily="34" charset="-120"/>
              </a:rPr>
              <a:t>, where </a:t>
            </a:r>
            <a:pPr indent="0" marL="0">
              <a:lnSpc>
                <a:spcPct val="105000"/>
              </a:lnSpc>
              <a:buNone/>
            </a:pPr>
            <a:r>
              <a:rPr lang="en-US" sz="1250" dirty="0">
                <a:solidFill>
                  <a:srgbClr val="1B1B2A"/>
                </a:solidFill>
                <a:highlight>
                  <a:srgbClr val="E6D3FF"/>
                </a:highlight>
                <a:latin typeface="Consolas" pitchFamily="34" charset="0"/>
                <a:ea typeface="Consolas" pitchFamily="34" charset="-122"/>
                <a:cs typeface="Consolas" pitchFamily="34" charset="-120"/>
              </a:rPr>
              <a:t>role</a:t>
            </a:r>
            <a:pPr indent="0" marL="0">
              <a:lnSpc>
                <a:spcPct val="105000"/>
              </a:lnSpc>
              <a:buNone/>
            </a:pPr>
            <a:r>
              <a:rPr lang="en-US" sz="1250" dirty="0">
                <a:solidFill>
                  <a:srgbClr val="1B1B2A"/>
                </a:solidFill>
                <a:highlight>
                  <a:srgbClr val="E6D3FF"/>
                </a:highlight>
                <a:latin typeface="Calibri" pitchFamily="34" charset="0"/>
                <a:ea typeface="Calibri" pitchFamily="34" charset="-122"/>
                <a:cs typeface="Calibri" pitchFamily="34" charset="-120"/>
              </a:rPr>
              <a:t> is </a:t>
            </a:r>
            <a:pPr indent="0" marL="0">
              <a:lnSpc>
                <a:spcPct val="105000"/>
              </a:lnSpc>
              <a:buNone/>
            </a:pPr>
            <a:r>
              <a:rPr lang="en-US" sz="1250" dirty="0">
                <a:solidFill>
                  <a:srgbClr val="1B1B2A"/>
                </a:solidFill>
                <a:highlight>
                  <a:srgbClr val="E6D3FF"/>
                </a:highlight>
                <a:latin typeface="Consolas" pitchFamily="34" charset="0"/>
                <a:ea typeface="Consolas" pitchFamily="34" charset="-122"/>
                <a:cs typeface="Consolas" pitchFamily="34" charset="-120"/>
              </a:rPr>
              <a:t>admin</a:t>
            </a:r>
            <a:pPr indent="0" marL="0">
              <a:lnSpc>
                <a:spcPct val="105000"/>
              </a:lnSpc>
              <a:buNone/>
            </a:pPr>
            <a:r>
              <a:rPr lang="en-US" sz="1250" dirty="0">
                <a:solidFill>
                  <a:srgbClr val="1B1B2A"/>
                </a:solidFill>
                <a:highlight>
                  <a:srgbClr val="E6D3FF"/>
                </a:highlight>
                <a:latin typeface="Calibri" pitchFamily="34" charset="0"/>
                <a:ea typeface="Calibri" pitchFamily="34" charset="-122"/>
                <a:cs typeface="Calibri" pitchFamily="34" charset="-120"/>
              </a:rPr>
              <a:t> or </a:t>
            </a:r>
            <a:pPr indent="0" marL="0">
              <a:lnSpc>
                <a:spcPct val="105000"/>
              </a:lnSpc>
              <a:buNone/>
            </a:pPr>
            <a:r>
              <a:rPr lang="en-US" sz="1250" dirty="0">
                <a:solidFill>
                  <a:srgbClr val="1B1B2A"/>
                </a:solidFill>
                <a:highlight>
                  <a:srgbClr val="E6D3FF"/>
                </a:highlight>
                <a:latin typeface="Consolas" pitchFamily="34" charset="0"/>
                <a:ea typeface="Consolas" pitchFamily="34" charset="-122"/>
                <a:cs typeface="Consolas" pitchFamily="34" charset="-120"/>
              </a:rPr>
              <a:t>member</a:t>
            </a:r>
            <a:pPr indent="0" marL="0">
              <a:lnSpc>
                <a:spcPct val="105000"/>
              </a:lnSpc>
              <a:buNone/>
            </a:pPr>
            <a:r>
              <a:rPr lang="en-US" sz="1250" dirty="0">
                <a:solidFill>
                  <a:srgbClr val="5B6472"/>
                </a:solidFill>
                <a:latin typeface="Calibri" pitchFamily="34" charset="0"/>
                <a:ea typeface="Calibri" pitchFamily="34" charset="-122"/>
                <a:cs typeface="Calibri" pitchFamily="34" charset="-120"/>
              </a:rPr>
              <a:t>), following the existing style — plain </a:t>
            </a:r>
            <a:pPr indent="0" marL="0">
              <a:lnSpc>
                <a:spcPct val="105000"/>
              </a:lnSpc>
              <a:buNone/>
            </a:pPr>
            <a:r>
              <a:rPr lang="en-US" sz="1250" dirty="0">
                <a:solidFill>
                  <a:srgbClr val="5B6472"/>
                </a:solidFill>
                <a:latin typeface="Consolas" pitchFamily="34" charset="0"/>
                <a:ea typeface="Consolas" pitchFamily="34" charset="-122"/>
                <a:cs typeface="Consolas" pitchFamily="34" charset="-120"/>
              </a:rPr>
              <a:t>sqlite3</a:t>
            </a:r>
            <a:pPr indent="0" marL="0">
              <a:lnSpc>
                <a:spcPct val="105000"/>
              </a:lnSpc>
              <a:buNone/>
            </a:pPr>
            <a:r>
              <a:rPr lang="en-US" sz="1250" dirty="0">
                <a:solidFill>
                  <a:srgbClr val="5B6472"/>
                </a:solidFill>
                <a:latin typeface="Calibri" pitchFamily="34" charset="0"/>
                <a:ea typeface="Calibri" pitchFamily="34" charset="-122"/>
                <a:cs typeface="Calibri" pitchFamily="34" charset="-120"/>
              </a:rPr>
              <a:t>, schema in the </a:t>
            </a:r>
            <a:pPr indent="0" marL="0">
              <a:lnSpc>
                <a:spcPct val="105000"/>
              </a:lnSpc>
              <a:buNone/>
            </a:pPr>
            <a:r>
              <a:rPr lang="en-US" sz="1250" dirty="0">
                <a:solidFill>
                  <a:srgbClr val="5B6472"/>
                </a:solidFill>
                <a:latin typeface="Consolas" pitchFamily="34" charset="0"/>
                <a:ea typeface="Consolas" pitchFamily="34" charset="-122"/>
                <a:cs typeface="Consolas" pitchFamily="34" charset="-120"/>
              </a:rPr>
              <a:t>SCHEMA</a:t>
            </a:r>
            <a:pPr indent="0" marL="0">
              <a:lnSpc>
                <a:spcPct val="105000"/>
              </a:lnSpc>
              <a:buNone/>
            </a:pPr>
            <a:r>
              <a:rPr lang="en-US" sz="1250" dirty="0">
                <a:solidFill>
                  <a:srgbClr val="5B6472"/>
                </a:solidFill>
                <a:latin typeface="Calibri" pitchFamily="34" charset="0"/>
                <a:ea typeface="Calibri" pitchFamily="34" charset="-122"/>
                <a:cs typeface="Calibri" pitchFamily="34" charset="-120"/>
              </a:rPr>
              <a:t> string, accessor functions below it, no ORM. </a:t>
            </a:r>
            <a:pPr indent="0" marL="0">
              <a:lnSpc>
                <a:spcPct val="105000"/>
              </a:lnSpc>
              <a:buNone/>
            </a:pPr>
            <a:r>
              <a:rPr lang="en-US" sz="1250" dirty="0">
                <a:solidFill>
                  <a:srgbClr val="1B1B2A"/>
                </a:solidFill>
                <a:highlight>
                  <a:srgbClr val="C7DBFF"/>
                </a:highlight>
                <a:latin typeface="Calibri" pitchFamily="34" charset="0"/>
                <a:ea typeface="Calibri" pitchFamily="34" charset="-122"/>
                <a:cs typeface="Calibri" pitchFamily="34" charset="-120"/>
              </a:rPr>
              <a:t>Add a nullable </a:t>
            </a:r>
            <a:pPr indent="0" marL="0">
              <a:lnSpc>
                <a:spcPct val="105000"/>
              </a:lnSpc>
              <a:buNone/>
            </a:pPr>
            <a:r>
              <a:rPr lang="en-US" sz="1250" dirty="0">
                <a:solidFill>
                  <a:srgbClr val="1B1B2A"/>
                </a:solidFill>
                <a:highlight>
                  <a:srgbClr val="C7DBFF"/>
                </a:highlight>
                <a:latin typeface="Consolas" pitchFamily="34" charset="0"/>
                <a:ea typeface="Consolas" pitchFamily="34" charset="-122"/>
                <a:cs typeface="Consolas" pitchFamily="34" charset="-120"/>
              </a:rPr>
              <a:t>workspace_id</a:t>
            </a:r>
            <a:pPr indent="0" marL="0">
              <a:lnSpc>
                <a:spcPct val="105000"/>
              </a:lnSpc>
              <a:buNone/>
            </a:pPr>
            <a:r>
              <a:rPr lang="en-US" sz="1250" dirty="0">
                <a:solidFill>
                  <a:srgbClr val="1B1B2A"/>
                </a:solidFill>
                <a:highlight>
                  <a:srgbClr val="C7DBFF"/>
                </a:highlight>
                <a:latin typeface="Calibri" pitchFamily="34" charset="0"/>
                <a:ea typeface="Calibri" pitchFamily="34" charset="-122"/>
                <a:cs typeface="Calibri" pitchFamily="34" charset="-120"/>
              </a:rPr>
              <a:t> column to the existing </a:t>
            </a:r>
            <a:pPr indent="0" marL="0">
              <a:lnSpc>
                <a:spcPct val="105000"/>
              </a:lnSpc>
              <a:buNone/>
            </a:pPr>
            <a:r>
              <a:rPr lang="en-US" sz="1250" dirty="0">
                <a:solidFill>
                  <a:srgbClr val="1B1B2A"/>
                </a:solidFill>
                <a:highlight>
                  <a:srgbClr val="C7DBFF"/>
                </a:highlight>
                <a:latin typeface="Consolas" pitchFamily="34" charset="0"/>
                <a:ea typeface="Consolas" pitchFamily="34" charset="-122"/>
                <a:cs typeface="Consolas" pitchFamily="34" charset="-120"/>
              </a:rPr>
              <a:t>task</a:t>
            </a:r>
            <a:pPr indent="0" marL="0">
              <a:lnSpc>
                <a:spcPct val="105000"/>
              </a:lnSpc>
              <a:buNone/>
            </a:pPr>
            <a:r>
              <a:rPr lang="en-US" sz="1250" dirty="0">
                <a:solidFill>
                  <a:srgbClr val="1B1B2A"/>
                </a:solidFill>
                <a:highlight>
                  <a:srgbClr val="C7DBFF"/>
                </a:highlight>
                <a:latin typeface="Calibri" pitchFamily="34" charset="0"/>
                <a:ea typeface="Calibri" pitchFamily="34" charset="-122"/>
                <a:cs typeface="Calibri" pitchFamily="34" charset="-120"/>
              </a:rPr>
              <a:t> table</a:t>
            </a:r>
            <a:pPr indent="0" marL="0">
              <a:lnSpc>
                <a:spcPct val="105000"/>
              </a:lnSpc>
              <a:buNone/>
            </a:pPr>
            <a:r>
              <a:rPr lang="en-US" sz="1250" dirty="0">
                <a:solidFill>
                  <a:srgbClr val="5B6472"/>
                </a:solidFill>
                <a:latin typeface="Calibri" pitchFamily="34" charset="0"/>
                <a:ea typeface="Calibri" pitchFamily="34" charset="-122"/>
                <a:cs typeface="Calibri" pitchFamily="34" charset="-120"/>
              </a:rPr>
              <a:t> so current rows don't break. </a:t>
            </a:r>
            <a:pPr indent="0" marL="0">
              <a:lnSpc>
                <a:spcPct val="105000"/>
              </a:lnSpc>
              <a:buNone/>
            </a:pPr>
            <a:r>
              <a:rPr lang="en-US" sz="1250" dirty="0">
                <a:solidFill>
                  <a:srgbClr val="5B6472"/>
                </a:solidFill>
                <a:latin typeface="Consolas" pitchFamily="34" charset="0"/>
                <a:ea typeface="Consolas" pitchFamily="34" charset="-122"/>
                <a:cs typeface="Consolas" pitchFamily="34" charset="-120"/>
              </a:rPr>
              <a:t>taskboard.db</a:t>
            </a:r>
            <a:pPr indent="0" marL="0">
              <a:lnSpc>
                <a:spcPct val="105000"/>
              </a:lnSpc>
              <a:buNone/>
            </a:pPr>
            <a:r>
              <a:rPr lang="en-US" sz="1250" dirty="0">
                <a:solidFill>
                  <a:srgbClr val="5B6472"/>
                </a:solidFill>
                <a:latin typeface="Calibri" pitchFamily="34" charset="0"/>
                <a:ea typeface="Calibri" pitchFamily="34" charset="-122"/>
                <a:cs typeface="Calibri" pitchFamily="34" charset="-120"/>
              </a:rPr>
              <a:t> already exists, so </a:t>
            </a:r>
            <a:pPr indent="0" marL="0">
              <a:lnSpc>
                <a:spcPct val="105000"/>
              </a:lnSpc>
              <a:buNone/>
            </a:pPr>
            <a:r>
              <a:rPr lang="en-US" sz="1250" dirty="0">
                <a:solidFill>
                  <a:srgbClr val="5B6472"/>
                </a:solidFill>
                <a:latin typeface="Consolas" pitchFamily="34" charset="0"/>
                <a:ea typeface="Consolas" pitchFamily="34" charset="-122"/>
                <a:cs typeface="Consolas" pitchFamily="34" charset="-120"/>
              </a:rPr>
              <a:t>init_db()</a:t>
            </a:r>
            <a:pPr indent="0" marL="0">
              <a:lnSpc>
                <a:spcPct val="105000"/>
              </a:lnSpc>
              <a:buNone/>
            </a:pPr>
            <a:r>
              <a:rPr lang="en-US" sz="1250" dirty="0">
                <a:solidFill>
                  <a:srgbClr val="5B6472"/>
                </a:solidFill>
                <a:latin typeface="Calibri" pitchFamily="34" charset="0"/>
                <a:ea typeface="Calibri" pitchFamily="34" charset="-122"/>
                <a:cs typeface="Calibri" pitchFamily="34" charset="-120"/>
              </a:rPr>
              <a:t> must also add the column to existing databases: if </a:t>
            </a:r>
            <a:pPr indent="0" marL="0">
              <a:lnSpc>
                <a:spcPct val="105000"/>
              </a:lnSpc>
              <a:buNone/>
            </a:pPr>
            <a:r>
              <a:rPr lang="en-US" sz="1250" dirty="0">
                <a:solidFill>
                  <a:srgbClr val="5B6472"/>
                </a:solidFill>
                <a:latin typeface="Consolas" pitchFamily="34" charset="0"/>
                <a:ea typeface="Consolas" pitchFamily="34" charset="-122"/>
                <a:cs typeface="Consolas" pitchFamily="34" charset="-120"/>
              </a:rPr>
              <a:t>task</a:t>
            </a:r>
            <a:pPr indent="0" marL="0">
              <a:lnSpc>
                <a:spcPct val="105000"/>
              </a:lnSpc>
              <a:buNone/>
            </a:pPr>
            <a:r>
              <a:rPr lang="en-US" sz="1250" dirty="0">
                <a:solidFill>
                  <a:srgbClr val="5B6472"/>
                </a:solidFill>
                <a:latin typeface="Calibri" pitchFamily="34" charset="0"/>
                <a:ea typeface="Calibri" pitchFamily="34" charset="-122"/>
                <a:cs typeface="Calibri" pitchFamily="34" charset="-120"/>
              </a:rPr>
              <a:t> has no </a:t>
            </a:r>
            <a:pPr indent="0" marL="0">
              <a:lnSpc>
                <a:spcPct val="105000"/>
              </a:lnSpc>
              <a:buNone/>
            </a:pPr>
            <a:r>
              <a:rPr lang="en-US" sz="1250" dirty="0">
                <a:solidFill>
                  <a:srgbClr val="5B6472"/>
                </a:solidFill>
                <a:latin typeface="Consolas" pitchFamily="34" charset="0"/>
                <a:ea typeface="Consolas" pitchFamily="34" charset="-122"/>
                <a:cs typeface="Consolas" pitchFamily="34" charset="-120"/>
              </a:rPr>
              <a:t>workspace_id</a:t>
            </a:r>
            <a:pPr indent="0" marL="0">
              <a:lnSpc>
                <a:spcPct val="105000"/>
              </a:lnSpc>
              <a:buNone/>
            </a:pPr>
            <a:r>
              <a:rPr lang="en-US" sz="1250" dirty="0">
                <a:solidFill>
                  <a:srgbClr val="5B6472"/>
                </a:solidFill>
                <a:latin typeface="Calibri" pitchFamily="34" charset="0"/>
                <a:ea typeface="Calibri" pitchFamily="34" charset="-122"/>
                <a:cs typeface="Calibri" pitchFamily="34" charset="-120"/>
              </a:rPr>
              <a:t> column, run </a:t>
            </a:r>
            <a:pPr indent="0" marL="0">
              <a:lnSpc>
                <a:spcPct val="105000"/>
              </a:lnSpc>
              <a:buNone/>
            </a:pPr>
            <a:r>
              <a:rPr lang="en-US" sz="1250" dirty="0">
                <a:solidFill>
                  <a:srgbClr val="5B6472"/>
                </a:solidFill>
                <a:latin typeface="Consolas" pitchFamily="34" charset="0"/>
                <a:ea typeface="Consolas" pitchFamily="34" charset="-122"/>
                <a:cs typeface="Consolas" pitchFamily="34" charset="-120"/>
              </a:rPr>
              <a:t>ALTER TABLE task ADD COLUMN workspace_id INTEGER</a:t>
            </a:r>
            <a:pPr indent="0" marL="0">
              <a:lnSpc>
                <a:spcPct val="105000"/>
              </a:lnSpc>
              <a:buNone/>
            </a:pPr>
            <a:r>
              <a:rPr lang="en-US" sz="1250" dirty="0">
                <a:solidFill>
                  <a:srgbClr val="5B6472"/>
                </a:solidFill>
                <a:latin typeface="Calibri" pitchFamily="34" charset="0"/>
                <a:ea typeface="Calibri" pitchFamily="34" charset="-122"/>
                <a:cs typeface="Calibri" pitchFamily="34" charset="-120"/>
              </a:rPr>
              <a:t>. Add accessor functions: </a:t>
            </a:r>
            <a:pPr indent="0" marL="0">
              <a:lnSpc>
                <a:spcPct val="105000"/>
              </a:lnSpc>
              <a:buNone/>
            </a:pPr>
            <a:r>
              <a:rPr lang="en-US" sz="1250" dirty="0">
                <a:solidFill>
                  <a:srgbClr val="1B1B2A"/>
                </a:solidFill>
                <a:highlight>
                  <a:srgbClr val="C7DBFF"/>
                </a:highlight>
                <a:latin typeface="Consolas" pitchFamily="34" charset="0"/>
                <a:ea typeface="Consolas" pitchFamily="34" charset="-122"/>
                <a:cs typeface="Consolas" pitchFamily="34" charset="-120"/>
              </a:rPr>
              <a:t>create_workspace(name)</a:t>
            </a:r>
            <a:pPr indent="0" marL="0">
              <a:lnSpc>
                <a:spcPct val="105000"/>
              </a:lnSpc>
              <a:buNone/>
            </a:pPr>
            <a:r>
              <a:rPr lang="en-US" sz="1250" dirty="0">
                <a:solidFill>
                  <a:srgbClr val="5B6472"/>
                </a:solidFill>
                <a:latin typeface="Calibri" pitchFamily="34" charset="0"/>
                <a:ea typeface="Calibri" pitchFamily="34" charset="-122"/>
                <a:cs typeface="Calibri" pitchFamily="34" charset="-120"/>
              </a:rPr>
              <a:t>, </a:t>
            </a:r>
            <a:pPr indent="0" marL="0">
              <a:lnSpc>
                <a:spcPct val="105000"/>
              </a:lnSpc>
              <a:buNone/>
            </a:pPr>
            <a:r>
              <a:rPr lang="en-US" sz="1250" dirty="0">
                <a:solidFill>
                  <a:srgbClr val="1B1B2A"/>
                </a:solidFill>
                <a:highlight>
                  <a:srgbClr val="BFEFE6"/>
                </a:highlight>
                <a:latin typeface="Consolas" pitchFamily="34" charset="0"/>
                <a:ea typeface="Consolas" pitchFamily="34" charset="-122"/>
                <a:cs typeface="Consolas" pitchFamily="34" charset="-120"/>
              </a:rPr>
              <a:t>add_member(workspace_id, user_id, role)</a:t>
            </a:r>
            <a:pPr indent="0" marL="0">
              <a:lnSpc>
                <a:spcPct val="105000"/>
              </a:lnSpc>
              <a:buNone/>
            </a:pPr>
            <a:r>
              <a:rPr lang="en-US" sz="1250" dirty="0">
                <a:solidFill>
                  <a:srgbClr val="5B6472"/>
                </a:solidFill>
                <a:latin typeface="Calibri" pitchFamily="34" charset="0"/>
                <a:ea typeface="Calibri" pitchFamily="34" charset="-122"/>
                <a:cs typeface="Calibri" pitchFamily="34" charset="-120"/>
              </a:rPr>
              <a:t>, </a:t>
            </a:r>
            <a:pPr indent="0" marL="0">
              <a:lnSpc>
                <a:spcPct val="105000"/>
              </a:lnSpc>
              <a:buNone/>
            </a:pPr>
            <a:r>
              <a:rPr lang="en-US" sz="1250" dirty="0">
                <a:solidFill>
                  <a:srgbClr val="1B1B2A"/>
                </a:solidFill>
                <a:highlight>
                  <a:srgbClr val="BFEFE6"/>
                </a:highlight>
                <a:latin typeface="Consolas" pitchFamily="34" charset="0"/>
                <a:ea typeface="Consolas" pitchFamily="34" charset="-122"/>
                <a:cs typeface="Consolas" pitchFamily="34" charset="-120"/>
              </a:rPr>
              <a:t>list_workspaces_for_user(user_id)</a:t>
            </a:r>
            <a:pPr indent="0" marL="0">
              <a:lnSpc>
                <a:spcPct val="105000"/>
              </a:lnSpc>
              <a:buNone/>
            </a:pPr>
            <a:r>
              <a:rPr lang="en-US" sz="1250" dirty="0">
                <a:solidFill>
                  <a:srgbClr val="5B6472"/>
                </a:solidFill>
                <a:latin typeface="Calibri" pitchFamily="34" charset="0"/>
                <a:ea typeface="Calibri" pitchFamily="34" charset="-122"/>
                <a:cs typeface="Calibri" pitchFamily="34" charset="-120"/>
              </a:rPr>
              <a:t>, </a:t>
            </a:r>
            <a:pPr indent="0" marL="0">
              <a:lnSpc>
                <a:spcPct val="105000"/>
              </a:lnSpc>
              <a:buNone/>
            </a:pPr>
            <a:r>
              <a:rPr lang="en-US" sz="1250" dirty="0">
                <a:solidFill>
                  <a:srgbClr val="1B1B2A"/>
                </a:solidFill>
                <a:highlight>
                  <a:srgbClr val="E6D3FF"/>
                </a:highlight>
                <a:latin typeface="Consolas" pitchFamily="34" charset="0"/>
                <a:ea typeface="Consolas" pitchFamily="34" charset="-122"/>
                <a:cs typeface="Consolas" pitchFamily="34" charset="-120"/>
              </a:rPr>
              <a:t>get_member_role(workspace_id, user_id)</a:t>
            </a:r>
            <a:pPr indent="0" marL="0">
              <a:lnSpc>
                <a:spcPct val="105000"/>
              </a:lnSpc>
              <a:buNone/>
            </a:pPr>
            <a:r>
              <a:rPr lang="en-US" sz="1250" dirty="0">
                <a:solidFill>
                  <a:srgbClr val="5B6472"/>
                </a:solidFill>
                <a:latin typeface="Calibri" pitchFamily="34" charset="0"/>
                <a:ea typeface="Calibri" pitchFamily="34" charset="-122"/>
                <a:cs typeface="Calibri" pitchFamily="34" charset="-120"/>
              </a:rPr>
              <a:t>.</a:t>
            </a:r>
            <a:endParaRPr lang="en-US" sz="1250" dirty="0"/>
          </a:p>
        </p:txBody>
      </p:sp>
      <p:sp>
        <p:nvSpPr>
          <p:cNvPr id="12" name="Text 10"/>
          <p:cNvSpPr txBox="1"/>
          <p:nvPr/>
        </p:nvSpPr>
        <p:spPr>
          <a:xfrm>
            <a:off x="6473952" y="6108192"/>
            <a:ext cx="5166360" cy="365760"/>
          </a:xfrm>
          <a:prstGeom prst="rect">
            <a:avLst/>
          </a:prstGeom>
          <a:noFill/>
          <a:ln/>
        </p:spPr>
        <p:txBody>
          <a:bodyPr wrap="square" lIns="0" tIns="0" rIns="0" bIns="0" rtlCol="0" anchor="t"/>
          <a:lstStyle/>
          <a:p>
            <a:pPr indent="0" marL="0">
              <a:buNone/>
            </a:pPr>
            <a:r>
              <a:rPr lang="en-US" sz="1250" b="1" dirty="0">
                <a:solidFill>
                  <a:srgbClr val="5B6472"/>
                </a:solidFill>
                <a:latin typeface="Calibri" pitchFamily="34" charset="0"/>
                <a:ea typeface="Calibri" pitchFamily="34" charset="-122"/>
                <a:cs typeface="Calibri" pitchFamily="34" charset="-120"/>
              </a:rPr>
              <a:t>Not highlighted: </a:t>
            </a:r>
            <a:pPr indent="0" marL="0">
              <a:buNone/>
            </a:pPr>
            <a:r>
              <a:rPr lang="en-US" sz="1250" dirty="0">
                <a:solidFill>
                  <a:srgbClr val="5B6472"/>
                </a:solidFill>
                <a:latin typeface="Calibri" pitchFamily="34" charset="0"/>
                <a:ea typeface="Calibri" pitchFamily="34" charset="-122"/>
                <a:cs typeface="Calibri" pitchFamily="34" charset="-120"/>
              </a:rPr>
              <a:t>not in the request. It comes from reading the codebase.</a:t>
            </a:r>
            <a:endParaRPr lang="en-US" sz="12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365760"/>
          </a:xfrm>
          <a:prstGeom prst="rect">
            <a:avLst/>
          </a:prstGeom>
          <a:noFill/>
          <a:ln/>
        </p:spPr>
        <p:txBody>
          <a:bodyPr wrap="square" lIns="0" tIns="0" rIns="0" bIns="0" rtlCol="0" anchor="ctr"/>
          <a:lstStyle/>
          <a:p>
            <a:pPr indent="0" marL="0">
              <a:buNone/>
            </a:pPr>
            <a:r>
              <a:rPr lang="en-US" sz="1200" b="1" spc="200" kern="0" dirty="0">
                <a:solidFill>
                  <a:srgbClr val="1E2761"/>
                </a:solidFill>
                <a:latin typeface="Calibri" pitchFamily="34" charset="0"/>
                <a:ea typeface="Calibri" pitchFamily="34" charset="-122"/>
                <a:cs typeface="Calibri" pitchFamily="34" charset="-120"/>
              </a:rPr>
              <a:t>MODULE 1 — WORKED EXAMPLE</a:t>
            </a:r>
            <a:endParaRPr lang="en-US" sz="1200" dirty="0"/>
          </a:p>
        </p:txBody>
      </p:sp>
      <p:sp>
        <p:nvSpPr>
          <p:cNvPr id="3" name="Text 1"/>
          <p:cNvSpPr txBox="1"/>
          <p:nvPr/>
        </p:nvSpPr>
        <p:spPr>
          <a:xfrm>
            <a:off x="548640" y="685800"/>
            <a:ext cx="10972800" cy="640080"/>
          </a:xfrm>
          <a:prstGeom prst="rect">
            <a:avLst/>
          </a:prstGeom>
          <a:noFill/>
          <a:ln/>
        </p:spPr>
        <p:txBody>
          <a:bodyPr wrap="square" lIns="0" tIns="0" rIns="0" bIns="0" rtlCol="0" anchor="ctr"/>
          <a:lstStyle/>
          <a:p>
            <a:pPr indent="0" marL="0">
              <a:buNone/>
            </a:pPr>
            <a:r>
              <a:rPr lang="en-US" sz="3000" b="1" dirty="0">
                <a:solidFill>
                  <a:srgbClr val="1B1B2A"/>
                </a:solidFill>
                <a:latin typeface="Cambria" pitchFamily="34" charset="0"/>
                <a:ea typeface="Cambria" pitchFamily="34" charset="-122"/>
                <a:cs typeface="Cambria" pitchFamily="34" charset="-120"/>
              </a:rPr>
              <a:t>Unit 1: From Description to Acceptance Criteria</a:t>
            </a:r>
            <a:endParaRPr lang="en-US" sz="3000" dirty="0"/>
          </a:p>
        </p:txBody>
      </p:sp>
      <p:sp>
        <p:nvSpPr>
          <p:cNvPr id="4" name="Text 2"/>
          <p:cNvSpPr txBox="1"/>
          <p:nvPr/>
        </p:nvSpPr>
        <p:spPr>
          <a:xfrm>
            <a:off x="548640" y="1325880"/>
            <a:ext cx="10972800" cy="457200"/>
          </a:xfrm>
          <a:prstGeom prst="rect">
            <a:avLst/>
          </a:prstGeom>
          <a:noFill/>
          <a:ln/>
        </p:spPr>
        <p:txBody>
          <a:bodyPr wrap="square" lIns="0" tIns="0" rIns="0" bIns="0" rtlCol="0" anchor="ctr"/>
          <a:lstStyle/>
          <a:p>
            <a:pPr indent="0" marL="0">
              <a:buNone/>
            </a:pPr>
            <a:r>
              <a:rPr lang="en-US" sz="1600" i="1" dirty="0">
                <a:solidFill>
                  <a:srgbClr val="5B6472"/>
                </a:solidFill>
                <a:latin typeface="Calibri" pitchFamily="34" charset="0"/>
                <a:ea typeface="Calibri" pitchFamily="34" charset="-122"/>
                <a:cs typeface="Calibri" pitchFamily="34" charset="-120"/>
              </a:rPr>
              <a:t>For each piece of the description, ask how you would check it without reading the diff.</a:t>
            </a:r>
            <a:endParaRPr lang="en-US" sz="1600" dirty="0"/>
          </a:p>
        </p:txBody>
      </p:sp>
      <p:sp>
        <p:nvSpPr>
          <p:cNvPr id="5" name="Text 3"/>
          <p:cNvSpPr txBox="1"/>
          <p:nvPr/>
        </p:nvSpPr>
        <p:spPr>
          <a:xfrm>
            <a:off x="548640" y="1847088"/>
            <a:ext cx="3108960" cy="274320"/>
          </a:xfrm>
          <a:prstGeom prst="rect">
            <a:avLst/>
          </a:prstGeom>
          <a:noFill/>
          <a:ln/>
        </p:spPr>
        <p:txBody>
          <a:bodyPr wrap="square" lIns="0" tIns="0" rIns="0" bIns="0" rtlCol="0" anchor="ctr"/>
          <a:lstStyle/>
          <a:p>
            <a:pPr indent="0" marL="0">
              <a:buNone/>
            </a:pPr>
            <a:r>
              <a:rPr lang="en-US" sz="1100" b="1" spc="200" kern="0" dirty="0">
                <a:solidFill>
                  <a:srgbClr val="1E2761"/>
                </a:solidFill>
                <a:latin typeface="Calibri" pitchFamily="34" charset="0"/>
                <a:ea typeface="Calibri" pitchFamily="34" charset="-122"/>
                <a:cs typeface="Calibri" pitchFamily="34" charset="-120"/>
              </a:rPr>
              <a:t>THE DESCRIPTION SAYS</a:t>
            </a:r>
            <a:endParaRPr lang="en-US" sz="1100" dirty="0"/>
          </a:p>
        </p:txBody>
      </p:sp>
      <p:sp>
        <p:nvSpPr>
          <p:cNvPr id="6" name="Text 4"/>
          <p:cNvSpPr txBox="1"/>
          <p:nvPr/>
        </p:nvSpPr>
        <p:spPr>
          <a:xfrm>
            <a:off x="3886200" y="1847088"/>
            <a:ext cx="2377440" cy="274320"/>
          </a:xfrm>
          <a:prstGeom prst="rect">
            <a:avLst/>
          </a:prstGeom>
          <a:noFill/>
          <a:ln/>
        </p:spPr>
        <p:txBody>
          <a:bodyPr wrap="square" lIns="0" tIns="0" rIns="0" bIns="0" rtlCol="0" anchor="ctr"/>
          <a:lstStyle/>
          <a:p>
            <a:pPr indent="0" marL="0">
              <a:buNone/>
            </a:pPr>
            <a:r>
              <a:rPr lang="en-US" sz="1100" b="1" spc="200" kern="0" dirty="0">
                <a:solidFill>
                  <a:srgbClr val="1E2761"/>
                </a:solidFill>
                <a:latin typeface="Calibri" pitchFamily="34" charset="0"/>
                <a:ea typeface="Calibri" pitchFamily="34" charset="-122"/>
                <a:cs typeface="Calibri" pitchFamily="34" charset="-120"/>
              </a:rPr>
              <a:t>ASK</a:t>
            </a:r>
            <a:endParaRPr lang="en-US" sz="1100" dirty="0"/>
          </a:p>
        </p:txBody>
      </p:sp>
      <p:sp>
        <p:nvSpPr>
          <p:cNvPr id="7" name="Text 5"/>
          <p:cNvSpPr txBox="1"/>
          <p:nvPr/>
        </p:nvSpPr>
        <p:spPr>
          <a:xfrm>
            <a:off x="6492240" y="1847088"/>
            <a:ext cx="4572000" cy="274320"/>
          </a:xfrm>
          <a:prstGeom prst="rect">
            <a:avLst/>
          </a:prstGeom>
          <a:noFill/>
          <a:ln/>
        </p:spPr>
        <p:txBody>
          <a:bodyPr wrap="square" lIns="0" tIns="0" rIns="0" bIns="0" rtlCol="0" anchor="ctr"/>
          <a:lstStyle/>
          <a:p>
            <a:pPr indent="0" marL="0">
              <a:buNone/>
            </a:pPr>
            <a:r>
              <a:rPr lang="en-US" sz="1100" b="1" spc="200" kern="0" dirty="0">
                <a:solidFill>
                  <a:srgbClr val="1E2761"/>
                </a:solidFill>
                <a:latin typeface="Calibri" pitchFamily="34" charset="0"/>
                <a:ea typeface="Calibri" pitchFamily="34" charset="-122"/>
                <a:cs typeface="Calibri" pitchFamily="34" charset="-120"/>
              </a:rPr>
              <a:t>ACCEPTANCE CRITERION</a:t>
            </a:r>
            <a:endParaRPr lang="en-US" sz="1100" dirty="0"/>
          </a:p>
        </p:txBody>
      </p:sp>
      <p:sp>
        <p:nvSpPr>
          <p:cNvPr id="8" name="Shape 6"/>
          <p:cNvSpPr/>
          <p:nvPr/>
        </p:nvSpPr>
        <p:spPr>
          <a:xfrm>
            <a:off x="548640" y="2176272"/>
            <a:ext cx="3154680" cy="640080"/>
          </a:xfrm>
          <a:prstGeom prst="roundRect">
            <a:avLst>
              <a:gd name="adj" fmla="val 8571"/>
            </a:avLst>
          </a:prstGeom>
          <a:solidFill>
            <a:srgbClr val="F4F6FB"/>
          </a:solidFill>
          <a:ln w="12700">
            <a:solidFill>
              <a:srgbClr val="F4F6FB"/>
            </a:solidFill>
            <a:prstDash val="solid"/>
          </a:ln>
        </p:spPr>
      </p:sp>
      <p:sp>
        <p:nvSpPr>
          <p:cNvPr id="9" name="Text 7"/>
          <p:cNvSpPr txBox="1"/>
          <p:nvPr/>
        </p:nvSpPr>
        <p:spPr>
          <a:xfrm>
            <a:off x="713232" y="2176272"/>
            <a:ext cx="2880360" cy="640080"/>
          </a:xfrm>
          <a:prstGeom prst="rect">
            <a:avLst/>
          </a:prstGeom>
          <a:noFill/>
          <a:ln/>
        </p:spPr>
        <p:txBody>
          <a:bodyPr wrap="square" lIns="0" tIns="0" rIns="0" bIns="0" rtlCol="0" anchor="ctr"/>
          <a:lstStyle/>
          <a:p>
            <a:pPr indent="0" marL="0">
              <a:buNone/>
            </a:pPr>
            <a:r>
              <a:rPr lang="en-US" sz="1250" i="1" dirty="0">
                <a:solidFill>
                  <a:srgbClr val="5B6472"/>
                </a:solidFill>
                <a:latin typeface="Calibri" pitchFamily="34" charset="0"/>
                <a:ea typeface="Calibri" pitchFamily="34" charset="-122"/>
                <a:cs typeface="Calibri" pitchFamily="34" charset="-120"/>
              </a:rPr>
              <a:t>add a </a:t>
            </a:r>
            <a:pPr indent="0" marL="0">
              <a:buNone/>
            </a:pPr>
            <a:r>
              <a:rPr lang="en-US" sz="1250" dirty="0">
                <a:solidFill>
                  <a:srgbClr val="5B6472"/>
                </a:solidFill>
                <a:latin typeface="Consolas" pitchFamily="34" charset="0"/>
                <a:ea typeface="Consolas" pitchFamily="34" charset="-122"/>
                <a:cs typeface="Consolas" pitchFamily="34" charset="-120"/>
              </a:rPr>
              <a:t>workspace</a:t>
            </a:r>
            <a:pPr indent="0" marL="0">
              <a:buNone/>
            </a:pPr>
            <a:r>
              <a:rPr lang="en-US" sz="1250" i="1" dirty="0">
                <a:solidFill>
                  <a:srgbClr val="5B6472"/>
                </a:solidFill>
                <a:latin typeface="Calibri" pitchFamily="34" charset="0"/>
                <a:ea typeface="Calibri" pitchFamily="34" charset="-122"/>
                <a:cs typeface="Calibri" pitchFamily="34" charset="-120"/>
              </a:rPr>
              <a:t> table… a </a:t>
            </a:r>
            <a:pPr indent="0" marL="0">
              <a:buNone/>
            </a:pPr>
            <a:r>
              <a:rPr lang="en-US" sz="1250" dirty="0">
                <a:solidFill>
                  <a:srgbClr val="5B6472"/>
                </a:solidFill>
                <a:latin typeface="Consolas" pitchFamily="34" charset="0"/>
                <a:ea typeface="Consolas" pitchFamily="34" charset="-122"/>
                <a:cs typeface="Consolas" pitchFamily="34" charset="-120"/>
              </a:rPr>
              <a:t>workspace_member</a:t>
            </a:r>
            <a:pPr indent="0" marL="0">
              <a:buNone/>
            </a:pPr>
            <a:r>
              <a:rPr lang="en-US" sz="1250" i="1" dirty="0">
                <a:solidFill>
                  <a:srgbClr val="5B6472"/>
                </a:solidFill>
                <a:latin typeface="Calibri" pitchFamily="34" charset="0"/>
                <a:ea typeface="Calibri" pitchFamily="34" charset="-122"/>
                <a:cs typeface="Calibri" pitchFamily="34" charset="-120"/>
              </a:rPr>
              <a:t> join table… a nullable </a:t>
            </a:r>
            <a:pPr indent="0" marL="0">
              <a:buNone/>
            </a:pPr>
            <a:r>
              <a:rPr lang="en-US" sz="1250" dirty="0">
                <a:solidFill>
                  <a:srgbClr val="5B6472"/>
                </a:solidFill>
                <a:latin typeface="Consolas" pitchFamily="34" charset="0"/>
                <a:ea typeface="Consolas" pitchFamily="34" charset="-122"/>
                <a:cs typeface="Consolas" pitchFamily="34" charset="-120"/>
              </a:rPr>
              <a:t>workspace_id</a:t>
            </a:r>
            <a:pPr indent="0" marL="0">
              <a:buNone/>
            </a:pPr>
            <a:r>
              <a:rPr lang="en-US" sz="1250" i="1" dirty="0">
                <a:solidFill>
                  <a:srgbClr val="5B6472"/>
                </a:solidFill>
                <a:latin typeface="Calibri" pitchFamily="34" charset="0"/>
                <a:ea typeface="Calibri" pitchFamily="34" charset="-122"/>
                <a:cs typeface="Calibri" pitchFamily="34" charset="-120"/>
              </a:rPr>
              <a:t> column</a:t>
            </a:r>
            <a:endParaRPr lang="en-US" sz="1250" dirty="0"/>
          </a:p>
        </p:txBody>
      </p:sp>
      <p:sp>
        <p:nvSpPr>
          <p:cNvPr id="10" name="Shape 8"/>
          <p:cNvSpPr/>
          <p:nvPr/>
        </p:nvSpPr>
        <p:spPr>
          <a:xfrm>
            <a:off x="3730752" y="2496312"/>
            <a:ext cx="109728" cy="0"/>
          </a:xfrm>
          <a:prstGeom prst="line">
            <a:avLst/>
          </a:prstGeom>
          <a:noFill/>
          <a:ln w="15875">
            <a:solidFill>
              <a:srgbClr val="5B6472"/>
            </a:solidFill>
            <a:prstDash val="solid"/>
            <a:tailEnd type="triangle"/>
          </a:ln>
        </p:spPr>
      </p:sp>
      <p:sp>
        <p:nvSpPr>
          <p:cNvPr id="11" name="Text 9"/>
          <p:cNvSpPr txBox="1"/>
          <p:nvPr/>
        </p:nvSpPr>
        <p:spPr>
          <a:xfrm>
            <a:off x="3886200" y="2176272"/>
            <a:ext cx="2395728" cy="64008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Is everything I described actually in the schema?</a:t>
            </a:r>
            <a:endParaRPr lang="en-US" sz="1300" dirty="0"/>
          </a:p>
        </p:txBody>
      </p:sp>
      <p:sp>
        <p:nvSpPr>
          <p:cNvPr id="12" name="Shape 10"/>
          <p:cNvSpPr/>
          <p:nvPr/>
        </p:nvSpPr>
        <p:spPr>
          <a:xfrm>
            <a:off x="6309360" y="2496312"/>
            <a:ext cx="137160" cy="0"/>
          </a:xfrm>
          <a:prstGeom prst="line">
            <a:avLst/>
          </a:prstGeom>
          <a:noFill/>
          <a:ln w="15875">
            <a:solidFill>
              <a:srgbClr val="5B6472"/>
            </a:solidFill>
            <a:prstDash val="solid"/>
            <a:tailEnd type="triangle"/>
          </a:ln>
        </p:spPr>
      </p:sp>
      <p:sp>
        <p:nvSpPr>
          <p:cNvPr id="13" name="Shape 11"/>
          <p:cNvSpPr/>
          <p:nvPr/>
        </p:nvSpPr>
        <p:spPr>
          <a:xfrm>
            <a:off x="6492240" y="2176272"/>
            <a:ext cx="5148072" cy="640080"/>
          </a:xfrm>
          <a:prstGeom prst="roundRect">
            <a:avLst>
              <a:gd name="adj" fmla="val 8571"/>
            </a:avLst>
          </a:prstGeom>
          <a:solidFill>
            <a:srgbClr val="1E2761"/>
          </a:solidFill>
          <a:ln w="12700">
            <a:solidFill>
              <a:srgbClr val="1E2761"/>
            </a:solidFill>
            <a:prstDash val="solid"/>
          </a:ln>
        </p:spPr>
      </p:sp>
      <p:sp>
        <p:nvSpPr>
          <p:cNvPr id="14" name="Text 12"/>
          <p:cNvSpPr txBox="1"/>
          <p:nvPr/>
        </p:nvSpPr>
        <p:spPr>
          <a:xfrm>
            <a:off x="6656832" y="2176272"/>
            <a:ext cx="4846320" cy="640080"/>
          </a:xfrm>
          <a:prstGeom prst="rect">
            <a:avLst/>
          </a:prstGeom>
          <a:noFill/>
          <a:ln/>
        </p:spPr>
        <p:txBody>
          <a:bodyPr wrap="square" lIns="0" tIns="0" rIns="0" bIns="0" rtlCol="0" anchor="ctr"/>
          <a:lstStyle/>
          <a:p>
            <a:pPr indent="0" marL="0">
              <a:buNone/>
            </a:pPr>
            <a:r>
              <a:rPr lang="en-US" sz="1200" dirty="0">
                <a:solidFill>
                  <a:srgbClr val="FFFFFF"/>
                </a:solidFill>
                <a:latin typeface="Consolas" pitchFamily="34" charset="0"/>
                <a:ea typeface="Consolas" pitchFamily="34" charset="-122"/>
                <a:cs typeface="Consolas" pitchFamily="34" charset="-120"/>
              </a:rPr>
              <a:t>SCHEMA</a:t>
            </a:r>
            <a:pPr indent="0" marL="0">
              <a:buNone/>
            </a:pPr>
            <a:r>
              <a:rPr lang="en-US" sz="1200" dirty="0">
                <a:solidFill>
                  <a:srgbClr val="FFFFFF"/>
                </a:solidFill>
                <a:latin typeface="Calibri" pitchFamily="34" charset="0"/>
                <a:ea typeface="Calibri" pitchFamily="34" charset="-122"/>
                <a:cs typeface="Calibri" pitchFamily="34" charset="-120"/>
              </a:rPr>
              <a:t> defines </a:t>
            </a:r>
            <a:pPr indent="0" marL="0">
              <a:buNone/>
            </a:pPr>
            <a:r>
              <a:rPr lang="en-US" sz="1200" dirty="0">
                <a:solidFill>
                  <a:srgbClr val="FFFFFF"/>
                </a:solidFill>
                <a:latin typeface="Consolas" pitchFamily="34" charset="0"/>
                <a:ea typeface="Consolas" pitchFamily="34" charset="-122"/>
                <a:cs typeface="Consolas" pitchFamily="34" charset="-120"/>
              </a:rPr>
              <a:t>workspace</a:t>
            </a:r>
            <a:pPr indent="0" marL="0">
              <a:buNone/>
            </a:pPr>
            <a:r>
              <a:rPr lang="en-US" sz="1200" dirty="0">
                <a:solidFill>
                  <a:srgbClr val="FFFFFF"/>
                </a:solidFill>
                <a:latin typeface="Calibri" pitchFamily="34" charset="0"/>
                <a:ea typeface="Calibri" pitchFamily="34" charset="-122"/>
                <a:cs typeface="Calibri" pitchFamily="34" charset="-120"/>
              </a:rPr>
              <a:t> and </a:t>
            </a:r>
            <a:pPr indent="0" marL="0">
              <a:buNone/>
            </a:pPr>
            <a:r>
              <a:rPr lang="en-US" sz="1200" dirty="0">
                <a:solidFill>
                  <a:srgbClr val="FFFFFF"/>
                </a:solidFill>
                <a:latin typeface="Consolas" pitchFamily="34" charset="0"/>
                <a:ea typeface="Consolas" pitchFamily="34" charset="-122"/>
                <a:cs typeface="Consolas" pitchFamily="34" charset="-120"/>
              </a:rPr>
              <a:t>workspace_member</a:t>
            </a:r>
            <a:pPr indent="0" marL="0">
              <a:buNone/>
            </a:pPr>
            <a:r>
              <a:rPr lang="en-US" sz="1200" dirty="0">
                <a:solidFill>
                  <a:srgbClr val="FFFFFF"/>
                </a:solidFill>
                <a:latin typeface="Calibri" pitchFamily="34" charset="0"/>
                <a:ea typeface="Calibri" pitchFamily="34" charset="-122"/>
                <a:cs typeface="Calibri" pitchFamily="34" charset="-120"/>
              </a:rPr>
              <a:t>, and </a:t>
            </a:r>
            <a:pPr indent="0" marL="0">
              <a:buNone/>
            </a:pPr>
            <a:r>
              <a:rPr lang="en-US" sz="1200" dirty="0">
                <a:solidFill>
                  <a:srgbClr val="FFFFFF"/>
                </a:solidFill>
                <a:latin typeface="Consolas" pitchFamily="34" charset="0"/>
                <a:ea typeface="Consolas" pitchFamily="34" charset="-122"/>
                <a:cs typeface="Consolas" pitchFamily="34" charset="-120"/>
              </a:rPr>
              <a:t>task</a:t>
            </a:r>
            <a:pPr indent="0" marL="0">
              <a:buNone/>
            </a:pPr>
            <a:r>
              <a:rPr lang="en-US" sz="1200" dirty="0">
                <a:solidFill>
                  <a:srgbClr val="FFFFFF"/>
                </a:solidFill>
                <a:latin typeface="Calibri" pitchFamily="34" charset="0"/>
                <a:ea typeface="Calibri" pitchFamily="34" charset="-122"/>
                <a:cs typeface="Calibri" pitchFamily="34" charset="-120"/>
              </a:rPr>
              <a:t> gains a nullable </a:t>
            </a:r>
            <a:pPr indent="0" marL="0">
              <a:buNone/>
            </a:pPr>
            <a:r>
              <a:rPr lang="en-US" sz="1200" dirty="0">
                <a:solidFill>
                  <a:srgbClr val="FFFFFF"/>
                </a:solidFill>
                <a:latin typeface="Consolas" pitchFamily="34" charset="0"/>
                <a:ea typeface="Consolas" pitchFamily="34" charset="-122"/>
                <a:cs typeface="Consolas" pitchFamily="34" charset="-120"/>
              </a:rPr>
              <a:t>workspace_id</a:t>
            </a:r>
            <a:pPr indent="0" marL="0">
              <a:buNone/>
            </a:pPr>
            <a:r>
              <a:rPr lang="en-US" sz="1200" dirty="0">
                <a:solidFill>
                  <a:srgbClr val="FFFFFF"/>
                </a:solidFill>
                <a:latin typeface="Calibri" pitchFamily="34" charset="0"/>
                <a:ea typeface="Calibri" pitchFamily="34" charset="-122"/>
                <a:cs typeface="Calibri" pitchFamily="34" charset="-120"/>
              </a:rPr>
              <a:t> column.</a:t>
            </a:r>
            <a:endParaRPr lang="en-US" sz="1200" dirty="0"/>
          </a:p>
        </p:txBody>
      </p:sp>
      <p:sp>
        <p:nvSpPr>
          <p:cNvPr id="15" name="Shape 13"/>
          <p:cNvSpPr/>
          <p:nvPr/>
        </p:nvSpPr>
        <p:spPr>
          <a:xfrm>
            <a:off x="548640" y="2880360"/>
            <a:ext cx="3154680" cy="640080"/>
          </a:xfrm>
          <a:prstGeom prst="roundRect">
            <a:avLst>
              <a:gd name="adj" fmla="val 8571"/>
            </a:avLst>
          </a:prstGeom>
          <a:solidFill>
            <a:srgbClr val="F4F6FB"/>
          </a:solidFill>
          <a:ln w="12700">
            <a:solidFill>
              <a:srgbClr val="F4F6FB"/>
            </a:solidFill>
            <a:prstDash val="solid"/>
          </a:ln>
        </p:spPr>
      </p:sp>
      <p:sp>
        <p:nvSpPr>
          <p:cNvPr id="16" name="Text 14"/>
          <p:cNvSpPr txBox="1"/>
          <p:nvPr/>
        </p:nvSpPr>
        <p:spPr>
          <a:xfrm>
            <a:off x="713232" y="2880360"/>
            <a:ext cx="2880360" cy="640080"/>
          </a:xfrm>
          <a:prstGeom prst="rect">
            <a:avLst/>
          </a:prstGeom>
          <a:noFill/>
          <a:ln/>
        </p:spPr>
        <p:txBody>
          <a:bodyPr wrap="square" lIns="0" tIns="0" rIns="0" bIns="0" rtlCol="0" anchor="ctr"/>
          <a:lstStyle/>
          <a:p>
            <a:pPr indent="0" marL="0">
              <a:buNone/>
            </a:pPr>
            <a:r>
              <a:rPr lang="en-US" sz="1250" i="1" dirty="0">
                <a:solidFill>
                  <a:srgbClr val="5B6472"/>
                </a:solidFill>
                <a:latin typeface="Calibri" pitchFamily="34" charset="0"/>
                <a:ea typeface="Calibri" pitchFamily="34" charset="-122"/>
                <a:cs typeface="Calibri" pitchFamily="34" charset="-120"/>
              </a:rPr>
              <a:t>so current rows don't break</a:t>
            </a:r>
            <a:endParaRPr lang="en-US" sz="1250" dirty="0"/>
          </a:p>
        </p:txBody>
      </p:sp>
      <p:sp>
        <p:nvSpPr>
          <p:cNvPr id="17" name="Shape 15"/>
          <p:cNvSpPr/>
          <p:nvPr/>
        </p:nvSpPr>
        <p:spPr>
          <a:xfrm>
            <a:off x="3730752" y="3200400"/>
            <a:ext cx="109728" cy="0"/>
          </a:xfrm>
          <a:prstGeom prst="line">
            <a:avLst/>
          </a:prstGeom>
          <a:noFill/>
          <a:ln w="15875">
            <a:solidFill>
              <a:srgbClr val="5B6472"/>
            </a:solidFill>
            <a:prstDash val="solid"/>
            <a:tailEnd type="triangle"/>
          </a:ln>
        </p:spPr>
      </p:sp>
      <p:sp>
        <p:nvSpPr>
          <p:cNvPr id="18" name="Text 16"/>
          <p:cNvSpPr txBox="1"/>
          <p:nvPr/>
        </p:nvSpPr>
        <p:spPr>
          <a:xfrm>
            <a:off x="3886200" y="2880360"/>
            <a:ext cx="2395728" cy="64008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What works today that must keep working?</a:t>
            </a:r>
            <a:endParaRPr lang="en-US" sz="1300" dirty="0"/>
          </a:p>
        </p:txBody>
      </p:sp>
      <p:sp>
        <p:nvSpPr>
          <p:cNvPr id="19" name="Shape 17"/>
          <p:cNvSpPr/>
          <p:nvPr/>
        </p:nvSpPr>
        <p:spPr>
          <a:xfrm>
            <a:off x="6309360" y="3200400"/>
            <a:ext cx="137160" cy="0"/>
          </a:xfrm>
          <a:prstGeom prst="line">
            <a:avLst/>
          </a:prstGeom>
          <a:noFill/>
          <a:ln w="15875">
            <a:solidFill>
              <a:srgbClr val="5B6472"/>
            </a:solidFill>
            <a:prstDash val="solid"/>
            <a:tailEnd type="triangle"/>
          </a:ln>
        </p:spPr>
      </p:sp>
      <p:sp>
        <p:nvSpPr>
          <p:cNvPr id="20" name="Shape 18"/>
          <p:cNvSpPr/>
          <p:nvPr/>
        </p:nvSpPr>
        <p:spPr>
          <a:xfrm>
            <a:off x="6492240" y="2880360"/>
            <a:ext cx="5148072" cy="640080"/>
          </a:xfrm>
          <a:prstGeom prst="roundRect">
            <a:avLst>
              <a:gd name="adj" fmla="val 8571"/>
            </a:avLst>
          </a:prstGeom>
          <a:solidFill>
            <a:srgbClr val="1E2761"/>
          </a:solidFill>
          <a:ln w="12700">
            <a:solidFill>
              <a:srgbClr val="1E2761"/>
            </a:solidFill>
            <a:prstDash val="solid"/>
          </a:ln>
        </p:spPr>
      </p:sp>
      <p:sp>
        <p:nvSpPr>
          <p:cNvPr id="21" name="Text 19"/>
          <p:cNvSpPr txBox="1"/>
          <p:nvPr/>
        </p:nvSpPr>
        <p:spPr>
          <a:xfrm>
            <a:off x="6656832" y="2880360"/>
            <a:ext cx="4846320" cy="64008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All four existing tests in </a:t>
            </a:r>
            <a:pPr indent="0" marL="0">
              <a:buNone/>
            </a:pPr>
            <a:r>
              <a:rPr lang="en-US" sz="1200" dirty="0">
                <a:solidFill>
                  <a:srgbClr val="FFFFFF"/>
                </a:solidFill>
                <a:latin typeface="Consolas" pitchFamily="34" charset="0"/>
                <a:ea typeface="Consolas" pitchFamily="34" charset="-122"/>
                <a:cs typeface="Consolas" pitchFamily="34" charset="-120"/>
              </a:rPr>
              <a:t>tests/test_tasks.py</a:t>
            </a:r>
            <a:pPr indent="0" marL="0">
              <a:buNone/>
            </a:pPr>
            <a:r>
              <a:rPr lang="en-US" sz="1200" dirty="0">
                <a:solidFill>
                  <a:srgbClr val="FFFFFF"/>
                </a:solidFill>
                <a:latin typeface="Calibri" pitchFamily="34" charset="0"/>
                <a:ea typeface="Calibri" pitchFamily="34" charset="-122"/>
                <a:cs typeface="Calibri" pitchFamily="34" charset="-120"/>
              </a:rPr>
              <a:t> still pass unmodified.</a:t>
            </a:r>
            <a:endParaRPr lang="en-US" sz="1200" dirty="0"/>
          </a:p>
        </p:txBody>
      </p:sp>
      <p:sp>
        <p:nvSpPr>
          <p:cNvPr id="22" name="Shape 20"/>
          <p:cNvSpPr/>
          <p:nvPr/>
        </p:nvSpPr>
        <p:spPr>
          <a:xfrm>
            <a:off x="548640" y="3584448"/>
            <a:ext cx="3154680" cy="640080"/>
          </a:xfrm>
          <a:prstGeom prst="roundRect">
            <a:avLst>
              <a:gd name="adj" fmla="val 8571"/>
            </a:avLst>
          </a:prstGeom>
          <a:solidFill>
            <a:srgbClr val="F4F6FB"/>
          </a:solidFill>
          <a:ln w="12700">
            <a:solidFill>
              <a:srgbClr val="F4F6FB"/>
            </a:solidFill>
            <a:prstDash val="solid"/>
          </a:ln>
        </p:spPr>
      </p:sp>
      <p:sp>
        <p:nvSpPr>
          <p:cNvPr id="23" name="Text 21"/>
          <p:cNvSpPr txBox="1"/>
          <p:nvPr/>
        </p:nvSpPr>
        <p:spPr>
          <a:xfrm>
            <a:off x="713232" y="3584448"/>
            <a:ext cx="2880360" cy="640080"/>
          </a:xfrm>
          <a:prstGeom prst="rect">
            <a:avLst/>
          </a:prstGeom>
          <a:noFill/>
          <a:ln/>
        </p:spPr>
        <p:txBody>
          <a:bodyPr wrap="square" lIns="0" tIns="0" rIns="0" bIns="0" rtlCol="0" anchor="ctr"/>
          <a:lstStyle/>
          <a:p>
            <a:pPr indent="0" marL="0">
              <a:buNone/>
            </a:pPr>
            <a:r>
              <a:rPr lang="en-US" sz="1250" i="1" dirty="0">
                <a:solidFill>
                  <a:srgbClr val="5B6472"/>
                </a:solidFill>
                <a:latin typeface="Calibri" pitchFamily="34" charset="0"/>
                <a:ea typeface="Calibri" pitchFamily="34" charset="-122"/>
                <a:cs typeface="Calibri" pitchFamily="34" charset="-120"/>
              </a:rPr>
              <a:t>Add accessor functions: </a:t>
            </a:r>
            <a:pPr indent="0" marL="0">
              <a:buNone/>
            </a:pPr>
            <a:r>
              <a:rPr lang="en-US" sz="1250" dirty="0">
                <a:solidFill>
                  <a:srgbClr val="5B6472"/>
                </a:solidFill>
                <a:latin typeface="Consolas" pitchFamily="34" charset="0"/>
                <a:ea typeface="Consolas" pitchFamily="34" charset="-122"/>
                <a:cs typeface="Consolas" pitchFamily="34" charset="-120"/>
              </a:rPr>
              <a:t>create_workspace</a:t>
            </a:r>
            <a:pPr indent="0" marL="0">
              <a:buNone/>
            </a:pPr>
            <a:r>
              <a:rPr lang="en-US" sz="1250" i="1" dirty="0">
                <a:solidFill>
                  <a:srgbClr val="5B6472"/>
                </a:solidFill>
                <a:latin typeface="Calibri" pitchFamily="34" charset="0"/>
                <a:ea typeface="Calibri" pitchFamily="34" charset="-122"/>
                <a:cs typeface="Calibri" pitchFamily="34" charset="-120"/>
              </a:rPr>
              <a:t>… </a:t>
            </a:r>
            <a:pPr indent="0" marL="0">
              <a:buNone/>
            </a:pPr>
            <a:r>
              <a:rPr lang="en-US" sz="1250" dirty="0">
                <a:solidFill>
                  <a:srgbClr val="5B6472"/>
                </a:solidFill>
                <a:latin typeface="Consolas" pitchFamily="34" charset="0"/>
                <a:ea typeface="Consolas" pitchFamily="34" charset="-122"/>
                <a:cs typeface="Consolas" pitchFamily="34" charset="-120"/>
              </a:rPr>
              <a:t>get_member_role</a:t>
            </a:r>
            <a:endParaRPr lang="en-US" sz="1250" dirty="0"/>
          </a:p>
        </p:txBody>
      </p:sp>
      <p:sp>
        <p:nvSpPr>
          <p:cNvPr id="24" name="Shape 22"/>
          <p:cNvSpPr/>
          <p:nvPr/>
        </p:nvSpPr>
        <p:spPr>
          <a:xfrm>
            <a:off x="3730752" y="3904488"/>
            <a:ext cx="109728" cy="0"/>
          </a:xfrm>
          <a:prstGeom prst="line">
            <a:avLst/>
          </a:prstGeom>
          <a:noFill/>
          <a:ln w="15875">
            <a:solidFill>
              <a:srgbClr val="5B6472"/>
            </a:solidFill>
            <a:prstDash val="solid"/>
            <a:tailEnd type="triangle"/>
          </a:ln>
        </p:spPr>
      </p:sp>
      <p:sp>
        <p:nvSpPr>
          <p:cNvPr id="25" name="Text 23"/>
          <p:cNvSpPr txBox="1"/>
          <p:nvPr/>
        </p:nvSpPr>
        <p:spPr>
          <a:xfrm>
            <a:off x="3886200" y="3584448"/>
            <a:ext cx="2395728" cy="64008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Does each named function exist, and what is its trickiest case?</a:t>
            </a:r>
            <a:endParaRPr lang="en-US" sz="1300" dirty="0"/>
          </a:p>
        </p:txBody>
      </p:sp>
      <p:sp>
        <p:nvSpPr>
          <p:cNvPr id="26" name="Shape 24"/>
          <p:cNvSpPr/>
          <p:nvPr/>
        </p:nvSpPr>
        <p:spPr>
          <a:xfrm>
            <a:off x="6309360" y="3904488"/>
            <a:ext cx="137160" cy="0"/>
          </a:xfrm>
          <a:prstGeom prst="line">
            <a:avLst/>
          </a:prstGeom>
          <a:noFill/>
          <a:ln w="15875">
            <a:solidFill>
              <a:srgbClr val="5B6472"/>
            </a:solidFill>
            <a:prstDash val="solid"/>
            <a:tailEnd type="triangle"/>
          </a:ln>
        </p:spPr>
      </p:sp>
      <p:sp>
        <p:nvSpPr>
          <p:cNvPr id="27" name="Shape 25"/>
          <p:cNvSpPr/>
          <p:nvPr/>
        </p:nvSpPr>
        <p:spPr>
          <a:xfrm>
            <a:off x="6492240" y="3584448"/>
            <a:ext cx="5148072" cy="640080"/>
          </a:xfrm>
          <a:prstGeom prst="roundRect">
            <a:avLst>
              <a:gd name="adj" fmla="val 8571"/>
            </a:avLst>
          </a:prstGeom>
          <a:solidFill>
            <a:srgbClr val="1E2761"/>
          </a:solidFill>
          <a:ln w="12700">
            <a:solidFill>
              <a:srgbClr val="1E2761"/>
            </a:solidFill>
            <a:prstDash val="solid"/>
          </a:ln>
        </p:spPr>
      </p:sp>
      <p:sp>
        <p:nvSpPr>
          <p:cNvPr id="28" name="Text 26"/>
          <p:cNvSpPr txBox="1"/>
          <p:nvPr/>
        </p:nvSpPr>
        <p:spPr>
          <a:xfrm>
            <a:off x="6656832" y="3584448"/>
            <a:ext cx="4846320" cy="640080"/>
          </a:xfrm>
          <a:prstGeom prst="rect">
            <a:avLst/>
          </a:prstGeom>
          <a:noFill/>
          <a:ln/>
        </p:spPr>
        <p:txBody>
          <a:bodyPr wrap="square" lIns="0" tIns="0" rIns="0" bIns="0" rtlCol="0" anchor="ctr"/>
          <a:lstStyle/>
          <a:p>
            <a:pPr indent="0" marL="0">
              <a:buNone/>
            </a:pPr>
            <a:r>
              <a:rPr lang="en-US" sz="1200" dirty="0">
                <a:solidFill>
                  <a:srgbClr val="FFFFFF"/>
                </a:solidFill>
                <a:latin typeface="Consolas" pitchFamily="34" charset="0"/>
                <a:ea typeface="Consolas" pitchFamily="34" charset="-122"/>
                <a:cs typeface="Consolas" pitchFamily="34" charset="-120"/>
              </a:rPr>
              <a:t>create_workspace</a:t>
            </a:r>
            <a:pPr indent="0" marL="0">
              <a:buNone/>
            </a:pPr>
            <a:r>
              <a:rPr lang="en-US" sz="1200" dirty="0">
                <a:solidFill>
                  <a:srgbClr val="FFFFFF"/>
                </a:solidFill>
                <a:latin typeface="Calibri" pitchFamily="34" charset="0"/>
                <a:ea typeface="Calibri" pitchFamily="34" charset="-122"/>
                <a:cs typeface="Calibri" pitchFamily="34" charset="-120"/>
              </a:rPr>
              <a:t>, </a:t>
            </a:r>
            <a:pPr indent="0" marL="0">
              <a:buNone/>
            </a:pPr>
            <a:r>
              <a:rPr lang="en-US" sz="1200" dirty="0">
                <a:solidFill>
                  <a:srgbClr val="FFFFFF"/>
                </a:solidFill>
                <a:latin typeface="Consolas" pitchFamily="34" charset="0"/>
                <a:ea typeface="Consolas" pitchFamily="34" charset="-122"/>
                <a:cs typeface="Consolas" pitchFamily="34" charset="-120"/>
              </a:rPr>
              <a:t>add_member</a:t>
            </a:r>
            <a:pPr indent="0" marL="0">
              <a:buNone/>
            </a:pPr>
            <a:r>
              <a:rPr lang="en-US" sz="1200" dirty="0">
                <a:solidFill>
                  <a:srgbClr val="FFFFFF"/>
                </a:solidFill>
                <a:latin typeface="Calibri" pitchFamily="34" charset="0"/>
                <a:ea typeface="Calibri" pitchFamily="34" charset="-122"/>
                <a:cs typeface="Calibri" pitchFamily="34" charset="-120"/>
              </a:rPr>
              <a:t>, </a:t>
            </a:r>
            <a:pPr indent="0" marL="0">
              <a:buNone/>
            </a:pPr>
            <a:r>
              <a:rPr lang="en-US" sz="1200" dirty="0">
                <a:solidFill>
                  <a:srgbClr val="FFFFFF"/>
                </a:solidFill>
                <a:latin typeface="Consolas" pitchFamily="34" charset="0"/>
                <a:ea typeface="Consolas" pitchFamily="34" charset="-122"/>
                <a:cs typeface="Consolas" pitchFamily="34" charset="-120"/>
              </a:rPr>
              <a:t>list_workspaces_for_user</a:t>
            </a:r>
            <a:pPr indent="0" marL="0">
              <a:buNone/>
            </a:pPr>
            <a:r>
              <a:rPr lang="en-US" sz="1200" dirty="0">
                <a:solidFill>
                  <a:srgbClr val="FFFFFF"/>
                </a:solidFill>
                <a:latin typeface="Calibri" pitchFamily="34" charset="0"/>
                <a:ea typeface="Calibri" pitchFamily="34" charset="-122"/>
                <a:cs typeface="Calibri" pitchFamily="34" charset="-120"/>
              </a:rPr>
              <a:t>, and </a:t>
            </a:r>
            <a:pPr indent="0" marL="0">
              <a:buNone/>
            </a:pPr>
            <a:r>
              <a:rPr lang="en-US" sz="1200" dirty="0">
                <a:solidFill>
                  <a:srgbClr val="FFFFFF"/>
                </a:solidFill>
                <a:latin typeface="Consolas" pitchFamily="34" charset="0"/>
                <a:ea typeface="Consolas" pitchFamily="34" charset="-122"/>
                <a:cs typeface="Consolas" pitchFamily="34" charset="-120"/>
              </a:rPr>
              <a:t>get_member_role</a:t>
            </a:r>
            <a:pPr indent="0" marL="0">
              <a:buNone/>
            </a:pPr>
            <a:r>
              <a:rPr lang="en-US" sz="1200" dirty="0">
                <a:solidFill>
                  <a:srgbClr val="FFFFFF"/>
                </a:solidFill>
                <a:latin typeface="Calibri" pitchFamily="34" charset="0"/>
                <a:ea typeface="Calibri" pitchFamily="34" charset="-122"/>
                <a:cs typeface="Calibri" pitchFamily="34" charset="-120"/>
              </a:rPr>
              <a:t> all exist and behave as named (e.g. </a:t>
            </a:r>
            <a:pPr indent="0" marL="0">
              <a:buNone/>
            </a:pPr>
            <a:r>
              <a:rPr lang="en-US" sz="1200" dirty="0">
                <a:solidFill>
                  <a:srgbClr val="FFFFFF"/>
                </a:solidFill>
                <a:latin typeface="Consolas" pitchFamily="34" charset="0"/>
                <a:ea typeface="Consolas" pitchFamily="34" charset="-122"/>
                <a:cs typeface="Consolas" pitchFamily="34" charset="-120"/>
              </a:rPr>
              <a:t>get_member_role</a:t>
            </a:r>
            <a:pPr indent="0" marL="0">
              <a:buNone/>
            </a:pPr>
            <a:r>
              <a:rPr lang="en-US" sz="1200" dirty="0">
                <a:solidFill>
                  <a:srgbClr val="FFFFFF"/>
                </a:solidFill>
                <a:latin typeface="Calibri" pitchFamily="34" charset="0"/>
                <a:ea typeface="Calibri" pitchFamily="34" charset="-122"/>
                <a:cs typeface="Calibri" pitchFamily="34" charset="-120"/>
              </a:rPr>
              <a:t> returns </a:t>
            </a:r>
            <a:pPr indent="0" marL="0">
              <a:buNone/>
            </a:pPr>
            <a:r>
              <a:rPr lang="en-US" sz="1200" dirty="0">
                <a:solidFill>
                  <a:srgbClr val="FFFFFF"/>
                </a:solidFill>
                <a:latin typeface="Consolas" pitchFamily="34" charset="0"/>
                <a:ea typeface="Consolas" pitchFamily="34" charset="-122"/>
                <a:cs typeface="Consolas" pitchFamily="34" charset="-120"/>
              </a:rPr>
              <a:t>None</a:t>
            </a:r>
            <a:pPr indent="0" marL="0">
              <a:buNone/>
            </a:pPr>
            <a:r>
              <a:rPr lang="en-US" sz="1200" dirty="0">
                <a:solidFill>
                  <a:srgbClr val="FFFFFF"/>
                </a:solidFill>
                <a:latin typeface="Calibri" pitchFamily="34" charset="0"/>
                <a:ea typeface="Calibri" pitchFamily="34" charset="-122"/>
                <a:cs typeface="Calibri" pitchFamily="34" charset="-120"/>
              </a:rPr>
              <a:t> for a non-member rather than raising).</a:t>
            </a:r>
            <a:endParaRPr lang="en-US" sz="1200" dirty="0"/>
          </a:p>
        </p:txBody>
      </p:sp>
      <p:sp>
        <p:nvSpPr>
          <p:cNvPr id="29" name="Shape 27"/>
          <p:cNvSpPr/>
          <p:nvPr/>
        </p:nvSpPr>
        <p:spPr>
          <a:xfrm>
            <a:off x="548640" y="4288536"/>
            <a:ext cx="3154680" cy="640080"/>
          </a:xfrm>
          <a:prstGeom prst="roundRect">
            <a:avLst>
              <a:gd name="adj" fmla="val 8571"/>
            </a:avLst>
          </a:prstGeom>
          <a:solidFill>
            <a:srgbClr val="F4F6FB"/>
          </a:solidFill>
          <a:ln w="12700">
            <a:solidFill>
              <a:srgbClr val="F4F6FB"/>
            </a:solidFill>
            <a:prstDash val="solid"/>
          </a:ln>
        </p:spPr>
      </p:sp>
      <p:sp>
        <p:nvSpPr>
          <p:cNvPr id="30" name="Text 28"/>
          <p:cNvSpPr txBox="1"/>
          <p:nvPr/>
        </p:nvSpPr>
        <p:spPr>
          <a:xfrm>
            <a:off x="713232" y="4288536"/>
            <a:ext cx="2880360" cy="640080"/>
          </a:xfrm>
          <a:prstGeom prst="rect">
            <a:avLst/>
          </a:prstGeom>
          <a:noFill/>
          <a:ln/>
        </p:spPr>
        <p:txBody>
          <a:bodyPr wrap="square" lIns="0" tIns="0" rIns="0" bIns="0" rtlCol="0" anchor="ctr"/>
          <a:lstStyle/>
          <a:p>
            <a:pPr indent="0" marL="0">
              <a:buNone/>
            </a:pPr>
            <a:r>
              <a:rPr lang="en-US" sz="1250" dirty="0">
                <a:solidFill>
                  <a:srgbClr val="5B6472"/>
                </a:solidFill>
                <a:latin typeface="Consolas" pitchFamily="34" charset="0"/>
                <a:ea typeface="Consolas" pitchFamily="34" charset="-122"/>
                <a:cs typeface="Consolas" pitchFamily="34" charset="-120"/>
              </a:rPr>
              <a:t>list_workspaces_for_user</a:t>
            </a:r>
            <a:pPr indent="0" marL="0">
              <a:buNone/>
            </a:pPr>
            <a:r>
              <a:rPr lang="en-US" sz="1250" i="1" dirty="0">
                <a:solidFill>
                  <a:srgbClr val="5B6472"/>
                </a:solidFill>
                <a:latin typeface="Calibri" pitchFamily="34" charset="0"/>
                <a:ea typeface="Calibri" pitchFamily="34" charset="-122"/>
                <a:cs typeface="Calibri" pitchFamily="34" charset="-120"/>
              </a:rPr>
              <a:t>… </a:t>
            </a:r>
            <a:pPr indent="0" marL="0">
              <a:buNone/>
            </a:pPr>
            <a:r>
              <a:rPr lang="en-US" sz="1250" dirty="0">
                <a:solidFill>
                  <a:srgbClr val="5B6472"/>
                </a:solidFill>
                <a:latin typeface="Consolas" pitchFamily="34" charset="0"/>
                <a:ea typeface="Consolas" pitchFamily="34" charset="-122"/>
                <a:cs typeface="Consolas" pitchFamily="34" charset="-120"/>
              </a:rPr>
              <a:t>role</a:t>
            </a:r>
            <a:pPr indent="0" marL="0">
              <a:buNone/>
            </a:pPr>
            <a:r>
              <a:rPr lang="en-US" sz="1250" i="1" dirty="0">
                <a:solidFill>
                  <a:srgbClr val="5B6472"/>
                </a:solidFill>
                <a:latin typeface="Calibri" pitchFamily="34" charset="0"/>
                <a:ea typeface="Calibri" pitchFamily="34" charset="-122"/>
                <a:cs typeface="Calibri" pitchFamily="34" charset="-120"/>
              </a:rPr>
              <a:t>, where </a:t>
            </a:r>
            <a:pPr indent="0" marL="0">
              <a:buNone/>
            </a:pPr>
            <a:r>
              <a:rPr lang="en-US" sz="1250" dirty="0">
                <a:solidFill>
                  <a:srgbClr val="5B6472"/>
                </a:solidFill>
                <a:latin typeface="Consolas" pitchFamily="34" charset="0"/>
                <a:ea typeface="Consolas" pitchFamily="34" charset="-122"/>
                <a:cs typeface="Consolas" pitchFamily="34" charset="-120"/>
              </a:rPr>
              <a:t>role</a:t>
            </a:r>
            <a:pPr indent="0" marL="0">
              <a:buNone/>
            </a:pPr>
            <a:r>
              <a:rPr lang="en-US" sz="1250" i="1" dirty="0">
                <a:solidFill>
                  <a:srgbClr val="5B6472"/>
                </a:solidFill>
                <a:latin typeface="Calibri" pitchFamily="34" charset="0"/>
                <a:ea typeface="Calibri" pitchFamily="34" charset="-122"/>
                <a:cs typeface="Calibri" pitchFamily="34" charset="-120"/>
              </a:rPr>
              <a:t> is </a:t>
            </a:r>
            <a:pPr indent="0" marL="0">
              <a:buNone/>
            </a:pPr>
            <a:r>
              <a:rPr lang="en-US" sz="1250" dirty="0">
                <a:solidFill>
                  <a:srgbClr val="5B6472"/>
                </a:solidFill>
                <a:latin typeface="Consolas" pitchFamily="34" charset="0"/>
                <a:ea typeface="Consolas" pitchFamily="34" charset="-122"/>
                <a:cs typeface="Consolas" pitchFamily="34" charset="-120"/>
              </a:rPr>
              <a:t>admin</a:t>
            </a:r>
            <a:pPr indent="0" marL="0">
              <a:buNone/>
            </a:pPr>
            <a:r>
              <a:rPr lang="en-US" sz="1250" i="1" dirty="0">
                <a:solidFill>
                  <a:srgbClr val="5B6472"/>
                </a:solidFill>
                <a:latin typeface="Calibri" pitchFamily="34" charset="0"/>
                <a:ea typeface="Calibri" pitchFamily="34" charset="-122"/>
                <a:cs typeface="Calibri" pitchFamily="34" charset="-120"/>
              </a:rPr>
              <a:t> or </a:t>
            </a:r>
            <a:pPr indent="0" marL="0">
              <a:buNone/>
            </a:pPr>
            <a:r>
              <a:rPr lang="en-US" sz="1250" dirty="0">
                <a:solidFill>
                  <a:srgbClr val="5B6472"/>
                </a:solidFill>
                <a:latin typeface="Consolas" pitchFamily="34" charset="0"/>
                <a:ea typeface="Consolas" pitchFamily="34" charset="-122"/>
                <a:cs typeface="Consolas" pitchFamily="34" charset="-120"/>
              </a:rPr>
              <a:t>member</a:t>
            </a:r>
            <a:endParaRPr lang="en-US" sz="1250" dirty="0"/>
          </a:p>
        </p:txBody>
      </p:sp>
      <p:sp>
        <p:nvSpPr>
          <p:cNvPr id="31" name="Shape 29"/>
          <p:cNvSpPr/>
          <p:nvPr/>
        </p:nvSpPr>
        <p:spPr>
          <a:xfrm>
            <a:off x="3730752" y="4608576"/>
            <a:ext cx="109728" cy="0"/>
          </a:xfrm>
          <a:prstGeom prst="line">
            <a:avLst/>
          </a:prstGeom>
          <a:noFill/>
          <a:ln w="15875">
            <a:solidFill>
              <a:srgbClr val="5B6472"/>
            </a:solidFill>
            <a:prstDash val="solid"/>
            <a:tailEnd type="triangle"/>
          </a:ln>
        </p:spPr>
      </p:sp>
      <p:sp>
        <p:nvSpPr>
          <p:cNvPr id="32" name="Text 30"/>
          <p:cNvSpPr txBox="1"/>
          <p:nvPr/>
        </p:nvSpPr>
        <p:spPr>
          <a:xfrm>
            <a:off x="3886200" y="4288536"/>
            <a:ext cx="2395728" cy="64008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Which behaviors need a test to prove them?</a:t>
            </a:r>
            <a:endParaRPr lang="en-US" sz="1300" dirty="0"/>
          </a:p>
        </p:txBody>
      </p:sp>
      <p:sp>
        <p:nvSpPr>
          <p:cNvPr id="33" name="Shape 31"/>
          <p:cNvSpPr/>
          <p:nvPr/>
        </p:nvSpPr>
        <p:spPr>
          <a:xfrm>
            <a:off x="6309360" y="4608576"/>
            <a:ext cx="137160" cy="0"/>
          </a:xfrm>
          <a:prstGeom prst="line">
            <a:avLst/>
          </a:prstGeom>
          <a:noFill/>
          <a:ln w="15875">
            <a:solidFill>
              <a:srgbClr val="5B6472"/>
            </a:solidFill>
            <a:prstDash val="solid"/>
            <a:tailEnd type="triangle"/>
          </a:ln>
        </p:spPr>
      </p:sp>
      <p:sp>
        <p:nvSpPr>
          <p:cNvPr id="34" name="Shape 32"/>
          <p:cNvSpPr/>
          <p:nvPr/>
        </p:nvSpPr>
        <p:spPr>
          <a:xfrm>
            <a:off x="6492240" y="4288536"/>
            <a:ext cx="5148072" cy="640080"/>
          </a:xfrm>
          <a:prstGeom prst="roundRect">
            <a:avLst>
              <a:gd name="adj" fmla="val 8571"/>
            </a:avLst>
          </a:prstGeom>
          <a:solidFill>
            <a:srgbClr val="1E2761"/>
          </a:solidFill>
          <a:ln w="12700">
            <a:solidFill>
              <a:srgbClr val="1E2761"/>
            </a:solidFill>
            <a:prstDash val="solid"/>
          </a:ln>
        </p:spPr>
      </p:sp>
      <p:sp>
        <p:nvSpPr>
          <p:cNvPr id="35" name="Text 33"/>
          <p:cNvSpPr txBox="1"/>
          <p:nvPr/>
        </p:nvSpPr>
        <p:spPr>
          <a:xfrm>
            <a:off x="6656832" y="4288536"/>
            <a:ext cx="4846320" cy="64008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A new </a:t>
            </a:r>
            <a:pPr indent="0" marL="0">
              <a:buNone/>
            </a:pPr>
            <a:r>
              <a:rPr lang="en-US" sz="1200" dirty="0">
                <a:solidFill>
                  <a:srgbClr val="FFFFFF"/>
                </a:solidFill>
                <a:latin typeface="Consolas" pitchFamily="34" charset="0"/>
                <a:ea typeface="Consolas" pitchFamily="34" charset="-122"/>
                <a:cs typeface="Consolas" pitchFamily="34" charset="-120"/>
              </a:rPr>
              <a:t>tests/test_workspaces.py</a:t>
            </a:r>
            <a:pPr indent="0" marL="0">
              <a:buNone/>
            </a:pPr>
            <a:r>
              <a:rPr lang="en-US" sz="1200" dirty="0">
                <a:solidFill>
                  <a:srgbClr val="FFFFFF"/>
                </a:solidFill>
                <a:latin typeface="Calibri" pitchFamily="34" charset="0"/>
                <a:ea typeface="Calibri" pitchFamily="34" charset="-122"/>
                <a:cs typeface="Calibri" pitchFamily="34" charset="-120"/>
              </a:rPr>
              <a:t> covers: creating a workspace, adding a member with a role, listing workspaces for a user who belongs to several, and confirming a non-member gets no role back.</a:t>
            </a:r>
            <a:endParaRPr lang="en-US" sz="1200" dirty="0"/>
          </a:p>
        </p:txBody>
      </p:sp>
      <p:sp>
        <p:nvSpPr>
          <p:cNvPr id="36" name="Shape 34"/>
          <p:cNvSpPr/>
          <p:nvPr/>
        </p:nvSpPr>
        <p:spPr>
          <a:xfrm>
            <a:off x="548640" y="4992624"/>
            <a:ext cx="3154680" cy="640080"/>
          </a:xfrm>
          <a:prstGeom prst="roundRect">
            <a:avLst>
              <a:gd name="adj" fmla="val 8571"/>
            </a:avLst>
          </a:prstGeom>
          <a:solidFill>
            <a:srgbClr val="F4F6FB"/>
          </a:solidFill>
          <a:ln w="12700">
            <a:solidFill>
              <a:srgbClr val="F4F6FB"/>
            </a:solidFill>
            <a:prstDash val="solid"/>
          </a:ln>
        </p:spPr>
      </p:sp>
      <p:sp>
        <p:nvSpPr>
          <p:cNvPr id="37" name="Text 35"/>
          <p:cNvSpPr txBox="1"/>
          <p:nvPr/>
        </p:nvSpPr>
        <p:spPr>
          <a:xfrm>
            <a:off x="713232" y="4992624"/>
            <a:ext cx="2880360" cy="640080"/>
          </a:xfrm>
          <a:prstGeom prst="rect">
            <a:avLst/>
          </a:prstGeom>
          <a:noFill/>
          <a:ln/>
        </p:spPr>
        <p:txBody>
          <a:bodyPr wrap="square" lIns="0" tIns="0" rIns="0" bIns="0" rtlCol="0" anchor="ctr"/>
          <a:lstStyle/>
          <a:p>
            <a:pPr indent="0" marL="0">
              <a:buNone/>
            </a:pPr>
            <a:r>
              <a:rPr lang="en-US" sz="1250" i="1" dirty="0">
                <a:solidFill>
                  <a:srgbClr val="5B6472"/>
                </a:solidFill>
                <a:latin typeface="Calibri" pitchFamily="34" charset="0"/>
                <a:ea typeface="Calibri" pitchFamily="34" charset="-122"/>
                <a:cs typeface="Calibri" pitchFamily="34" charset="-120"/>
              </a:rPr>
              <a:t>In </a:t>
            </a:r>
            <a:pPr indent="0" marL="0">
              <a:buNone/>
            </a:pPr>
            <a:r>
              <a:rPr lang="en-US" sz="1250" dirty="0">
                <a:solidFill>
                  <a:srgbClr val="5B6472"/>
                </a:solidFill>
                <a:latin typeface="Consolas" pitchFamily="34" charset="0"/>
                <a:ea typeface="Consolas" pitchFamily="34" charset="-122"/>
                <a:cs typeface="Consolas" pitchFamily="34" charset="-120"/>
              </a:rPr>
              <a:t>app/db.py</a:t>
            </a:r>
            <a:pPr indent="0" marL="0">
              <a:buNone/>
            </a:pPr>
            <a:r>
              <a:rPr lang="en-US" sz="1250" i="1" dirty="0">
                <a:solidFill>
                  <a:srgbClr val="5B6472"/>
                </a:solidFill>
                <a:latin typeface="Calibri" pitchFamily="34" charset="0"/>
                <a:ea typeface="Calibri" pitchFamily="34" charset="-122"/>
                <a:cs typeface="Calibri" pitchFamily="34" charset="-120"/>
              </a:rPr>
              <a:t>… following the existing style</a:t>
            </a:r>
            <a:endParaRPr lang="en-US" sz="1250" dirty="0"/>
          </a:p>
        </p:txBody>
      </p:sp>
      <p:sp>
        <p:nvSpPr>
          <p:cNvPr id="38" name="Shape 36"/>
          <p:cNvSpPr/>
          <p:nvPr/>
        </p:nvSpPr>
        <p:spPr>
          <a:xfrm>
            <a:off x="3730752" y="5312664"/>
            <a:ext cx="109728" cy="0"/>
          </a:xfrm>
          <a:prstGeom prst="line">
            <a:avLst/>
          </a:prstGeom>
          <a:noFill/>
          <a:ln w="15875">
            <a:solidFill>
              <a:srgbClr val="5B6472"/>
            </a:solidFill>
            <a:prstDash val="solid"/>
            <a:tailEnd type="triangle"/>
          </a:ln>
        </p:spPr>
      </p:sp>
      <p:sp>
        <p:nvSpPr>
          <p:cNvPr id="39" name="Text 37"/>
          <p:cNvSpPr txBox="1"/>
          <p:nvPr/>
        </p:nvSpPr>
        <p:spPr>
          <a:xfrm>
            <a:off x="3886200" y="4992624"/>
            <a:ext cx="2395728" cy="64008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What should this unit not touch?</a:t>
            </a:r>
            <a:endParaRPr lang="en-US" sz="1300" dirty="0"/>
          </a:p>
        </p:txBody>
      </p:sp>
      <p:sp>
        <p:nvSpPr>
          <p:cNvPr id="40" name="Shape 38"/>
          <p:cNvSpPr/>
          <p:nvPr/>
        </p:nvSpPr>
        <p:spPr>
          <a:xfrm>
            <a:off x="6309360" y="5312664"/>
            <a:ext cx="137160" cy="0"/>
          </a:xfrm>
          <a:prstGeom prst="line">
            <a:avLst/>
          </a:prstGeom>
          <a:noFill/>
          <a:ln w="15875">
            <a:solidFill>
              <a:srgbClr val="5B6472"/>
            </a:solidFill>
            <a:prstDash val="solid"/>
            <a:tailEnd type="triangle"/>
          </a:ln>
        </p:spPr>
      </p:sp>
      <p:sp>
        <p:nvSpPr>
          <p:cNvPr id="41" name="Shape 39"/>
          <p:cNvSpPr/>
          <p:nvPr/>
        </p:nvSpPr>
        <p:spPr>
          <a:xfrm>
            <a:off x="6492240" y="4992624"/>
            <a:ext cx="5148072" cy="640080"/>
          </a:xfrm>
          <a:prstGeom prst="roundRect">
            <a:avLst>
              <a:gd name="adj" fmla="val 8571"/>
            </a:avLst>
          </a:prstGeom>
          <a:solidFill>
            <a:srgbClr val="1E2761"/>
          </a:solidFill>
          <a:ln w="12700">
            <a:solidFill>
              <a:srgbClr val="1E2761"/>
            </a:solidFill>
            <a:prstDash val="solid"/>
          </a:ln>
        </p:spPr>
      </p:sp>
      <p:sp>
        <p:nvSpPr>
          <p:cNvPr id="42" name="Text 40"/>
          <p:cNvSpPr txBox="1"/>
          <p:nvPr/>
        </p:nvSpPr>
        <p:spPr>
          <a:xfrm>
            <a:off x="6656832" y="4992624"/>
            <a:ext cx="4846320" cy="64008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No changes to </a:t>
            </a:r>
            <a:pPr indent="0" marL="0">
              <a:buNone/>
            </a:pPr>
            <a:r>
              <a:rPr lang="en-US" sz="1200" dirty="0">
                <a:solidFill>
                  <a:srgbClr val="FFFFFF"/>
                </a:solidFill>
                <a:latin typeface="Consolas" pitchFamily="34" charset="0"/>
                <a:ea typeface="Consolas" pitchFamily="34" charset="-122"/>
                <a:cs typeface="Consolas" pitchFamily="34" charset="-120"/>
              </a:rPr>
              <a:t>app/routes.py</a:t>
            </a:r>
            <a:pPr indent="0" marL="0">
              <a:buNone/>
            </a:pPr>
            <a:r>
              <a:rPr lang="en-US" sz="1200" dirty="0">
                <a:solidFill>
                  <a:srgbClr val="FFFFFF"/>
                </a:solidFill>
                <a:latin typeface="Calibri" pitchFamily="34" charset="0"/>
                <a:ea typeface="Calibri" pitchFamily="34" charset="-122"/>
                <a:cs typeface="Calibri" pitchFamily="34" charset="-120"/>
              </a:rPr>
              <a:t> or templates in this unit — scope stays in </a:t>
            </a:r>
            <a:pPr indent="0" marL="0">
              <a:buNone/>
            </a:pPr>
            <a:r>
              <a:rPr lang="en-US" sz="1200" dirty="0">
                <a:solidFill>
                  <a:srgbClr val="FFFFFF"/>
                </a:solidFill>
                <a:latin typeface="Consolas" pitchFamily="34" charset="0"/>
                <a:ea typeface="Consolas" pitchFamily="34" charset="-122"/>
                <a:cs typeface="Consolas" pitchFamily="34" charset="-120"/>
              </a:rPr>
              <a:t>app/db.py</a:t>
            </a:r>
            <a:pPr indent="0" marL="0">
              <a:buNone/>
            </a:pPr>
            <a:r>
              <a:rPr lang="en-US" sz="1200" dirty="0">
                <a:solidFill>
                  <a:srgbClr val="FFFFFF"/>
                </a:solidFill>
                <a:latin typeface="Calibri" pitchFamily="34" charset="0"/>
                <a:ea typeface="Calibri" pitchFamily="34" charset="-122"/>
                <a:cs typeface="Calibri" pitchFamily="34" charset="-120"/>
              </a:rPr>
              <a:t> and its test file.</a:t>
            </a:r>
            <a:endParaRPr lang="en-US" sz="1200" dirty="0"/>
          </a:p>
        </p:txBody>
      </p:sp>
      <p:sp>
        <p:nvSpPr>
          <p:cNvPr id="43" name="Shape 41"/>
          <p:cNvSpPr/>
          <p:nvPr/>
        </p:nvSpPr>
        <p:spPr>
          <a:xfrm>
            <a:off x="548640" y="5696712"/>
            <a:ext cx="3154680" cy="640080"/>
          </a:xfrm>
          <a:prstGeom prst="roundRect">
            <a:avLst>
              <a:gd name="adj" fmla="val 8571"/>
            </a:avLst>
          </a:prstGeom>
          <a:solidFill>
            <a:srgbClr val="F4F6FB"/>
          </a:solidFill>
          <a:ln w="12700">
            <a:solidFill>
              <a:srgbClr val="F4F6FB"/>
            </a:solidFill>
            <a:prstDash val="solid"/>
          </a:ln>
        </p:spPr>
      </p:sp>
      <p:sp>
        <p:nvSpPr>
          <p:cNvPr id="44" name="Text 42"/>
          <p:cNvSpPr txBox="1"/>
          <p:nvPr/>
        </p:nvSpPr>
        <p:spPr>
          <a:xfrm>
            <a:off x="713232" y="5696712"/>
            <a:ext cx="2880360" cy="640080"/>
          </a:xfrm>
          <a:prstGeom prst="rect">
            <a:avLst/>
          </a:prstGeom>
          <a:noFill/>
          <a:ln/>
        </p:spPr>
        <p:txBody>
          <a:bodyPr wrap="square" lIns="0" tIns="0" rIns="0" bIns="0" rtlCol="0" anchor="ctr"/>
          <a:lstStyle/>
          <a:p>
            <a:pPr indent="0" marL="0">
              <a:buNone/>
            </a:pPr>
            <a:r>
              <a:rPr lang="en-US" sz="1250" dirty="0">
                <a:solidFill>
                  <a:srgbClr val="5B6472"/>
                </a:solidFill>
                <a:latin typeface="Consolas" pitchFamily="34" charset="0"/>
                <a:ea typeface="Consolas" pitchFamily="34" charset="-122"/>
                <a:cs typeface="Consolas" pitchFamily="34" charset="-120"/>
              </a:rPr>
              <a:t>taskboard.db</a:t>
            </a:r>
            <a:pPr indent="0" marL="0">
              <a:buNone/>
            </a:pPr>
            <a:r>
              <a:rPr lang="en-US" sz="1250" i="1" dirty="0">
                <a:solidFill>
                  <a:srgbClr val="5B6472"/>
                </a:solidFill>
                <a:latin typeface="Calibri" pitchFamily="34" charset="0"/>
                <a:ea typeface="Calibri" pitchFamily="34" charset="-122"/>
                <a:cs typeface="Calibri" pitchFamily="34" charset="-120"/>
              </a:rPr>
              <a:t> already exists, so </a:t>
            </a:r>
            <a:pPr indent="0" marL="0">
              <a:buNone/>
            </a:pPr>
            <a:r>
              <a:rPr lang="en-US" sz="1250" dirty="0">
                <a:solidFill>
                  <a:srgbClr val="5B6472"/>
                </a:solidFill>
                <a:latin typeface="Consolas" pitchFamily="34" charset="0"/>
                <a:ea typeface="Consolas" pitchFamily="34" charset="-122"/>
                <a:cs typeface="Consolas" pitchFamily="34" charset="-120"/>
              </a:rPr>
              <a:t>init_db()</a:t>
            </a:r>
            <a:pPr indent="0" marL="0">
              <a:buNone/>
            </a:pPr>
            <a:r>
              <a:rPr lang="en-US" sz="1250" i="1" dirty="0">
                <a:solidFill>
                  <a:srgbClr val="5B6472"/>
                </a:solidFill>
                <a:latin typeface="Calibri" pitchFamily="34" charset="0"/>
                <a:ea typeface="Calibri" pitchFamily="34" charset="-122"/>
                <a:cs typeface="Calibri" pitchFamily="34" charset="-120"/>
              </a:rPr>
              <a:t> must also add the column</a:t>
            </a:r>
            <a:endParaRPr lang="en-US" sz="1250" dirty="0"/>
          </a:p>
        </p:txBody>
      </p:sp>
      <p:sp>
        <p:nvSpPr>
          <p:cNvPr id="45" name="Shape 43"/>
          <p:cNvSpPr/>
          <p:nvPr/>
        </p:nvSpPr>
        <p:spPr>
          <a:xfrm>
            <a:off x="3730752" y="6016752"/>
            <a:ext cx="109728" cy="0"/>
          </a:xfrm>
          <a:prstGeom prst="line">
            <a:avLst/>
          </a:prstGeom>
          <a:noFill/>
          <a:ln w="15875">
            <a:solidFill>
              <a:srgbClr val="5B6472"/>
            </a:solidFill>
            <a:prstDash val="solid"/>
            <a:tailEnd type="triangle"/>
          </a:ln>
        </p:spPr>
      </p:sp>
      <p:sp>
        <p:nvSpPr>
          <p:cNvPr id="46" name="Text 44"/>
          <p:cNvSpPr txBox="1"/>
          <p:nvPr/>
        </p:nvSpPr>
        <p:spPr>
          <a:xfrm>
            <a:off x="3886200" y="5696712"/>
            <a:ext cx="2395728" cy="64008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What already exists that this has to work with?</a:t>
            </a:r>
            <a:endParaRPr lang="en-US" sz="1300" dirty="0"/>
          </a:p>
        </p:txBody>
      </p:sp>
      <p:sp>
        <p:nvSpPr>
          <p:cNvPr id="47" name="Shape 45"/>
          <p:cNvSpPr/>
          <p:nvPr/>
        </p:nvSpPr>
        <p:spPr>
          <a:xfrm>
            <a:off x="6309360" y="6016752"/>
            <a:ext cx="137160" cy="0"/>
          </a:xfrm>
          <a:prstGeom prst="line">
            <a:avLst/>
          </a:prstGeom>
          <a:noFill/>
          <a:ln w="15875">
            <a:solidFill>
              <a:srgbClr val="5B6472"/>
            </a:solidFill>
            <a:prstDash val="solid"/>
            <a:tailEnd type="triangle"/>
          </a:ln>
        </p:spPr>
      </p:sp>
      <p:sp>
        <p:nvSpPr>
          <p:cNvPr id="48" name="Shape 46"/>
          <p:cNvSpPr/>
          <p:nvPr/>
        </p:nvSpPr>
        <p:spPr>
          <a:xfrm>
            <a:off x="6492240" y="5696712"/>
            <a:ext cx="5148072" cy="640080"/>
          </a:xfrm>
          <a:prstGeom prst="roundRect">
            <a:avLst>
              <a:gd name="adj" fmla="val 8571"/>
            </a:avLst>
          </a:prstGeom>
          <a:solidFill>
            <a:srgbClr val="1E2761"/>
          </a:solidFill>
          <a:ln w="12700">
            <a:solidFill>
              <a:srgbClr val="1E2761"/>
            </a:solidFill>
            <a:prstDash val="solid"/>
          </a:ln>
        </p:spPr>
      </p:sp>
      <p:sp>
        <p:nvSpPr>
          <p:cNvPr id="49" name="Text 47"/>
          <p:cNvSpPr txBox="1"/>
          <p:nvPr/>
        </p:nvSpPr>
        <p:spPr>
          <a:xfrm>
            <a:off x="6656832" y="5696712"/>
            <a:ext cx="4846320" cy="64008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Against the existing </a:t>
            </a:r>
            <a:pPr indent="0" marL="0">
              <a:buNone/>
            </a:pPr>
            <a:r>
              <a:rPr lang="en-US" sz="1200" dirty="0">
                <a:solidFill>
                  <a:srgbClr val="FFFFFF"/>
                </a:solidFill>
                <a:latin typeface="Consolas" pitchFamily="34" charset="0"/>
                <a:ea typeface="Consolas" pitchFamily="34" charset="-122"/>
                <a:cs typeface="Consolas" pitchFamily="34" charset="-120"/>
              </a:rPr>
              <a:t>taskboard.db</a:t>
            </a:r>
            <a:pPr indent="0" marL="0">
              <a:buNone/>
            </a:pPr>
            <a:r>
              <a:rPr lang="en-US" sz="1200" dirty="0">
                <a:solidFill>
                  <a:srgbClr val="FFFFFF"/>
                </a:solidFill>
                <a:latin typeface="Calibri" pitchFamily="34" charset="0"/>
                <a:ea typeface="Calibri" pitchFamily="34" charset="-122"/>
                <a:cs typeface="Calibri" pitchFamily="34" charset="-120"/>
              </a:rPr>
              <a:t> (without deleting it), existing tasks are kept, </a:t>
            </a:r>
            <a:pPr indent="0" marL="0">
              <a:buNone/>
            </a:pPr>
            <a:r>
              <a:rPr lang="en-US" sz="1200" dirty="0">
                <a:solidFill>
                  <a:srgbClr val="FFFFFF"/>
                </a:solidFill>
                <a:latin typeface="Consolas" pitchFamily="34" charset="0"/>
                <a:ea typeface="Consolas" pitchFamily="34" charset="-122"/>
                <a:cs typeface="Consolas" pitchFamily="34" charset="-120"/>
              </a:rPr>
              <a:t>task</a:t>
            </a:r>
            <a:pPr indent="0" marL="0">
              <a:buNone/>
            </a:pPr>
            <a:r>
              <a:rPr lang="en-US" sz="1200" dirty="0">
                <a:solidFill>
                  <a:srgbClr val="FFFFFF"/>
                </a:solidFill>
                <a:latin typeface="Calibri" pitchFamily="34" charset="0"/>
                <a:ea typeface="Calibri" pitchFamily="34" charset="-122"/>
                <a:cs typeface="Calibri" pitchFamily="34" charset="-120"/>
              </a:rPr>
              <a:t> has a </a:t>
            </a:r>
            <a:pPr indent="0" marL="0">
              <a:buNone/>
            </a:pPr>
            <a:r>
              <a:rPr lang="en-US" sz="1200" dirty="0">
                <a:solidFill>
                  <a:srgbClr val="FFFFFF"/>
                </a:solidFill>
                <a:latin typeface="Consolas" pitchFamily="34" charset="0"/>
                <a:ea typeface="Consolas" pitchFamily="34" charset="-122"/>
                <a:cs typeface="Consolas" pitchFamily="34" charset="-120"/>
              </a:rPr>
              <a:t>workspace_id</a:t>
            </a:r>
            <a:pPr indent="0" marL="0">
              <a:buNone/>
            </a:pPr>
            <a:r>
              <a:rPr lang="en-US" sz="1200" dirty="0">
                <a:solidFill>
                  <a:srgbClr val="FFFFFF"/>
                </a:solidFill>
                <a:latin typeface="Calibri" pitchFamily="34" charset="0"/>
                <a:ea typeface="Calibri" pitchFamily="34" charset="-122"/>
                <a:cs typeface="Calibri" pitchFamily="34" charset="-120"/>
              </a:rPr>
              <a:t> column, and </a:t>
            </a:r>
            <a:pPr indent="0" marL="0">
              <a:buNone/>
            </a:pPr>
            <a:r>
              <a:rPr lang="en-US" sz="1200" dirty="0">
                <a:solidFill>
                  <a:srgbClr val="FFFFFF"/>
                </a:solidFill>
                <a:latin typeface="Consolas" pitchFamily="34" charset="0"/>
                <a:ea typeface="Consolas" pitchFamily="34" charset="-122"/>
                <a:cs typeface="Consolas" pitchFamily="34" charset="-120"/>
              </a:rPr>
              <a:t>python seed_demo.py</a:t>
            </a:r>
            <a:pPr indent="0" marL="0">
              <a:buNone/>
            </a:pPr>
            <a:r>
              <a:rPr lang="en-US" sz="1200" dirty="0">
                <a:solidFill>
                  <a:srgbClr val="FFFFFF"/>
                </a:solidFill>
                <a:latin typeface="Calibri" pitchFamily="34" charset="0"/>
                <a:ea typeface="Calibri" pitchFamily="34" charset="-122"/>
                <a:cs typeface="Calibri" pitchFamily="34" charset="-120"/>
              </a:rPr>
              <a:t> runs cleanly and reports the Engineering and Marketing workspaces.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TotalTime>
  <Words>6781</Words>
  <Application>Microsoft Macintosh PowerPoint</Application>
  <PresentationFormat>Widescreen</PresentationFormat>
  <Paragraphs>483</Paragraphs>
  <Slides>24</Slides>
  <Notes>24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Arial</vt:lpstr>
      <vt:lpstr>Calibri</vt:lpstr>
      <vt:lpstr>Cambria</vt:lpstr>
      <vt:lpstr>Consolas</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Orchestration Fundamentals for Agentic Development</dc:title>
  <dc:subject>PptxGenJS Presentation</dc:subject>
  <dc:creator>Ben Bell</dc:creator>
  <cp:lastModifiedBy>Benjamin Bell</cp:lastModifiedBy>
  <cp:revision>7</cp:revision>
  <dcterms:created xsi:type="dcterms:W3CDTF">2026-09-10T22:49:21Z</dcterms:created>
  <dcterms:modified xsi:type="dcterms:W3CDTF">2026-10-09T13:25:16Z</dcterms:modified>
</cp:coreProperties>
</file>